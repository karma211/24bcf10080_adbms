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2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E65BC-664E-E34D-F45C-14A4BF13D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73929-257E-5331-1337-690854C40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B98FF-B4F3-038A-FAC7-DEAE2FF7E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7820C-F32E-C084-1C77-413D43CB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1C373-84F8-5958-67B3-A367D229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82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51A2-45C0-43B4-B61A-C2D8F5DB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65D00-4B37-9154-6074-F95E44F06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E4506-5725-E027-37D7-E622DCE1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27376-35ED-1F57-2FB7-85DAC361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EF576-7CD9-DBF9-9F0B-A00337DAC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313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09DB-2485-DF4C-B0F9-712471095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32F80-63A7-E18A-99FD-0A21C797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69408-B6D3-BDD6-E353-B42E3A22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9F017-D929-D146-5A46-6C5F915EE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81B08-7BCB-C9A2-21C9-E6ED3C4AC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28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597E-DE11-FEEC-E54D-7AC9DCC2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F056-ACA0-2306-53DA-40769847F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E5D65-9631-1E78-139F-79D96DBAF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B0294-FEB3-B8C9-304F-C2D1978E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2A99D-6642-8532-AEA2-B36A5DB8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FCE9B-BA02-CB42-6497-4FBCDA88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13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4FF2-326D-D9E4-9134-FD28E039C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37DB5-493E-9740-674C-BE8060A07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2D0B5-010E-7DA6-9F6E-EED190AD1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570CF-5E81-30B5-6B5F-94249F194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FCC410-6F09-0127-2105-AABCAC420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73154E-0840-EE4F-13CF-8991928D2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3E23C-C72A-C9A7-E0B1-7FB9F40E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FF275-60ED-3365-0FBB-020BAD33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90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EE1F2-95CF-B502-2CC9-6F8C62FA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DEAF13-9EDD-2751-A98E-DEAFB3ED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0684B-BA00-C518-2855-0029C3851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B6447-3DC0-291A-945A-791399735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44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EB135B-3986-3C2A-4994-09878DE4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72E4E-E343-8FDB-9A36-1614501F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0E274-0E21-AC6F-9BA9-6BF9FDCB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415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7C1E-0FD5-CC63-CDA4-E528C902B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AD4A3-1FE4-D676-1024-3FEA37A50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1B3D1-7647-CB07-EAF6-326AFEEE8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8BED2-AE58-49C8-DC6E-D4A6DFAB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7C45F-68D6-E679-C8E9-7E5E51F1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84111-C17E-2AF4-5D44-52DF82ED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8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2074-468C-4666-0FE7-EC0F6BC55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0C9A88-14DD-5898-1BD2-CADFED55A3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C354B-4D16-18BE-89B4-35ECF5C84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DCF00-AD5C-EC72-BA2E-AFCED18B8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FB795-C4E8-76CD-AC98-DEEBB8E3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4B792-E24D-859E-C7F3-A0A90518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73FAF-5FEB-FDAA-9D62-A5386E2EC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A97542-2CCC-C527-3154-120B223AC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67304-24E4-8E93-3786-250CF3C41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BAA7A-8DFA-F641-2FF9-AF5F75492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85AE6-0AD9-8697-AA67-8878CFB6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232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5DD5B-FDBF-2A7B-E3E3-91C8EBE6D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5D26F-4843-9FC9-F33E-DB1D8413A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D1E8C-24C1-CDA6-1B03-E6111572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75BB-2825-9F5E-C5F4-993C1411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F0A77-CDFE-A199-3DB4-C6A3EDA3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94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7FE081-08AB-05EE-BAD5-46E3AEF86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1C1D9-BEC0-7283-C153-F5669BDCF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309-2AE8-C605-EEA9-70C7DDCBF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05BA9-9C04-41A9-B92F-677689AD911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2CA85-D2D0-F563-91C8-40FBD1575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022E0-87AC-62A9-E01F-4B03C10F6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90F099-6047-DB39-75C5-DC0636037BF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5946" y="11272"/>
            <a:ext cx="11904453" cy="50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29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50BA-E35A-B24B-98EE-210D00FF4C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ADBMS LAB MST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C182D-C6DC-FBAE-884F-A06BCF088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 - 01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141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00EE-EA06-483E-54A4-953C82658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96" y="466687"/>
            <a:ext cx="11519808" cy="510949"/>
          </a:xfrm>
        </p:spPr>
        <p:txBody>
          <a:bodyPr>
            <a:noAutofit/>
          </a:bodyPr>
          <a:lstStyle/>
          <a:p>
            <a:r>
              <a:rPr lang="en-US" sz="3200" b="1" dirty="0"/>
              <a:t>Problem Statement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D2FB4-D4B5-CA1C-959F-323CFA6060CF}"/>
              </a:ext>
            </a:extLst>
          </p:cNvPr>
          <p:cNvSpPr txBox="1"/>
          <p:nvPr/>
        </p:nvSpPr>
        <p:spPr>
          <a:xfrm>
            <a:off x="552796" y="1203835"/>
            <a:ext cx="113031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company stores employees and their departments. Display employees whose salary is </a:t>
            </a:r>
            <a:r>
              <a:rPr lang="en-IN" b="1" dirty="0"/>
              <a:t>greater than the average salary of their own department</a:t>
            </a:r>
            <a:r>
              <a:rPr lang="en-IN" dirty="0"/>
              <a:t>, but only from departments having </a:t>
            </a:r>
            <a:r>
              <a:rPr lang="en-IN" b="1" dirty="0"/>
              <a:t>at least 3 employees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Display </a:t>
            </a:r>
            <a:r>
              <a:rPr lang="en-IN" b="1" dirty="0"/>
              <a:t>Department Name, Employee Name, and Salary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Constraint: Only a solution using JOINS and SUBQUERIES is allowed. Window Functions are not allowed.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24D300-D421-F14A-7B01-FD968808C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960584"/>
              </p:ext>
            </p:extLst>
          </p:nvPr>
        </p:nvGraphicFramePr>
        <p:xfrm>
          <a:off x="336096" y="2907362"/>
          <a:ext cx="323827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135">
                  <a:extLst>
                    <a:ext uri="{9D8B030D-6E8A-4147-A177-3AD203B41FA5}">
                      <a16:colId xmlns:a16="http://schemas.microsoft.com/office/drawing/2014/main" val="2195978730"/>
                    </a:ext>
                  </a:extLst>
                </a:gridCol>
                <a:gridCol w="1619135">
                  <a:extLst>
                    <a:ext uri="{9D8B030D-6E8A-4147-A177-3AD203B41FA5}">
                      <a16:colId xmlns:a16="http://schemas.microsoft.com/office/drawing/2014/main" val="1918768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dept_id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392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25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943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3996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8BBFD2-B21A-A59F-E0DC-E5357784D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223066"/>
              </p:ext>
            </p:extLst>
          </p:nvPr>
        </p:nvGraphicFramePr>
        <p:xfrm>
          <a:off x="3910676" y="3094270"/>
          <a:ext cx="69291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280">
                  <a:extLst>
                    <a:ext uri="{9D8B030D-6E8A-4147-A177-3AD203B41FA5}">
                      <a16:colId xmlns:a16="http://schemas.microsoft.com/office/drawing/2014/main" val="4022485211"/>
                    </a:ext>
                  </a:extLst>
                </a:gridCol>
                <a:gridCol w="1732280">
                  <a:extLst>
                    <a:ext uri="{9D8B030D-6E8A-4147-A177-3AD203B41FA5}">
                      <a16:colId xmlns:a16="http://schemas.microsoft.com/office/drawing/2014/main" val="2696293540"/>
                    </a:ext>
                  </a:extLst>
                </a:gridCol>
                <a:gridCol w="1732280">
                  <a:extLst>
                    <a:ext uri="{9D8B030D-6E8A-4147-A177-3AD203B41FA5}">
                      <a16:colId xmlns:a16="http://schemas.microsoft.com/office/drawing/2014/main" val="398752958"/>
                    </a:ext>
                  </a:extLst>
                </a:gridCol>
                <a:gridCol w="1732280">
                  <a:extLst>
                    <a:ext uri="{9D8B030D-6E8A-4147-A177-3AD203B41FA5}">
                      <a16:colId xmlns:a16="http://schemas.microsoft.com/office/drawing/2014/main" val="18454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emp_id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dept_id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162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32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407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16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55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Karan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50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597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Mohit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905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Simran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6679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CFE665A-80C7-BED4-4E03-5496D97481B1}"/>
              </a:ext>
            </a:extLst>
          </p:cNvPr>
          <p:cNvSpPr txBox="1"/>
          <p:nvPr/>
        </p:nvSpPr>
        <p:spPr>
          <a:xfrm>
            <a:off x="985059" y="4578384"/>
            <a:ext cx="1342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department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4E115-F9EA-109D-1416-7465E53D1469}"/>
              </a:ext>
            </a:extLst>
          </p:cNvPr>
          <p:cNvSpPr txBox="1"/>
          <p:nvPr/>
        </p:nvSpPr>
        <p:spPr>
          <a:xfrm>
            <a:off x="6703983" y="6475605"/>
            <a:ext cx="1342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employee</a:t>
            </a:r>
          </a:p>
        </p:txBody>
      </p:sp>
    </p:spTree>
    <p:extLst>
      <p:ext uri="{BB962C8B-B14F-4D97-AF65-F5344CB8AC3E}">
        <p14:creationId xmlns:p14="http://schemas.microsoft.com/office/powerpoint/2010/main" val="158767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0ECFCE-17B6-CC71-C836-3BA40AF42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176416"/>
              </p:ext>
            </p:extLst>
          </p:nvPr>
        </p:nvGraphicFramePr>
        <p:xfrm>
          <a:off x="585585" y="1916698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793139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002435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74182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25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0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14453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D8B42AD-5AAA-2465-2ECE-6948892AA2C3}"/>
              </a:ext>
            </a:extLst>
          </p:cNvPr>
          <p:cNvSpPr txBox="1"/>
          <p:nvPr/>
        </p:nvSpPr>
        <p:spPr>
          <a:xfrm>
            <a:off x="1679171" y="142978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68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AE733-118E-060F-1C79-ADC02C36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532014"/>
            <a:ext cx="10515600" cy="598517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10C90-747A-D73E-510D-E7808B808E87}"/>
              </a:ext>
            </a:extLst>
          </p:cNvPr>
          <p:cNvSpPr txBox="1"/>
          <p:nvPr/>
        </p:nvSpPr>
        <p:spPr>
          <a:xfrm>
            <a:off x="137160" y="1130531"/>
            <a:ext cx="115990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bank maintains customer information in </a:t>
            </a:r>
            <a:r>
              <a:rPr lang="en-IN" dirty="0" err="1">
                <a:latin typeface="+mn-lt"/>
              </a:rPr>
              <a:t>bank_customer</a:t>
            </a:r>
            <a:r>
              <a:rPr lang="en-IN" dirty="0"/>
              <a:t>. Create a PostgreSQL trigger that automatically stores a log in </a:t>
            </a:r>
            <a:r>
              <a:rPr lang="en-IN" dirty="0" err="1">
                <a:latin typeface="+mn-lt"/>
              </a:rPr>
              <a:t>customer_audit</a:t>
            </a:r>
            <a:r>
              <a:rPr lang="en-IN" dirty="0"/>
              <a:t> whenever a customer is </a:t>
            </a:r>
            <a:r>
              <a:rPr lang="en-IN" b="1" dirty="0"/>
              <a:t>inserted or deleted</a:t>
            </a:r>
            <a:r>
              <a:rPr lang="en-IN" dirty="0"/>
              <a:t>. Store Customer ID, Customer Name, action (</a:t>
            </a:r>
            <a:r>
              <a:rPr lang="en-IN" dirty="0">
                <a:latin typeface="+mn-lt"/>
              </a:rPr>
              <a:t>ADDED</a:t>
            </a:r>
            <a:r>
              <a:rPr lang="en-IN" dirty="0"/>
              <a:t>/</a:t>
            </a:r>
            <a:r>
              <a:rPr lang="en-IN" dirty="0">
                <a:latin typeface="+mn-lt"/>
              </a:rPr>
              <a:t>REMOVED</a:t>
            </a:r>
            <a:r>
              <a:rPr lang="en-IN" dirty="0"/>
              <a:t>), and current timestamp.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05E176-C949-D534-8593-E7C3C7BEF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01998"/>
              </p:ext>
            </p:extLst>
          </p:nvPr>
        </p:nvGraphicFramePr>
        <p:xfrm>
          <a:off x="137160" y="2299084"/>
          <a:ext cx="559862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207">
                  <a:extLst>
                    <a:ext uri="{9D8B030D-6E8A-4147-A177-3AD203B41FA5}">
                      <a16:colId xmlns:a16="http://schemas.microsoft.com/office/drawing/2014/main" val="3580674939"/>
                    </a:ext>
                  </a:extLst>
                </a:gridCol>
                <a:gridCol w="1866207">
                  <a:extLst>
                    <a:ext uri="{9D8B030D-6E8A-4147-A177-3AD203B41FA5}">
                      <a16:colId xmlns:a16="http://schemas.microsoft.com/office/drawing/2014/main" val="1526147100"/>
                    </a:ext>
                  </a:extLst>
                </a:gridCol>
                <a:gridCol w="1866207">
                  <a:extLst>
                    <a:ext uri="{9D8B030D-6E8A-4147-A177-3AD203B41FA5}">
                      <a16:colId xmlns:a16="http://schemas.microsoft.com/office/drawing/2014/main" val="1051185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customer_id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customer_name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balance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93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882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80208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77F9031-47EF-879E-033D-52E965B7FCB8}"/>
              </a:ext>
            </a:extLst>
          </p:cNvPr>
          <p:cNvSpPr txBox="1"/>
          <p:nvPr/>
        </p:nvSpPr>
        <p:spPr>
          <a:xfrm>
            <a:off x="137160" y="3472161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bank_customer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4D2971-FA79-BB39-E680-9C0BD358A9A3}"/>
              </a:ext>
            </a:extLst>
          </p:cNvPr>
          <p:cNvSpPr txBox="1"/>
          <p:nvPr/>
        </p:nvSpPr>
        <p:spPr>
          <a:xfrm>
            <a:off x="3049386" y="390205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Expected Audit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7FF2392-94B2-DB05-6671-2DDB9D01C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240542"/>
              </p:ext>
            </p:extLst>
          </p:nvPr>
        </p:nvGraphicFramePr>
        <p:xfrm>
          <a:off x="2843414" y="4371134"/>
          <a:ext cx="812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7920488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4240913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4058257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607605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5906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audit_id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customer_name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action_time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803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Current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65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REMOVED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Current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255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218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747B-56F1-B842-D3EB-D022C5697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531381"/>
            <a:ext cx="10515600" cy="466148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E50B1-7E90-F3A6-A836-1E8526CE097C}"/>
              </a:ext>
            </a:extLst>
          </p:cNvPr>
          <p:cNvSpPr txBox="1"/>
          <p:nvPr/>
        </p:nvSpPr>
        <p:spPr>
          <a:xfrm>
            <a:off x="363682" y="997529"/>
            <a:ext cx="114646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company wants to identify the </a:t>
            </a:r>
            <a:r>
              <a:rPr lang="en-IN" b="1" dirty="0"/>
              <a:t>second-highest distinct salary in every department</a:t>
            </a:r>
            <a:r>
              <a:rPr lang="en-IN" dirty="0"/>
              <a:t>. If multiple employees have the second-highest salary, display all of them.</a:t>
            </a:r>
          </a:p>
          <a:p>
            <a:pPr>
              <a:buNone/>
            </a:pPr>
            <a:r>
              <a:rPr lang="en-IN" dirty="0"/>
              <a:t>Display </a:t>
            </a:r>
            <a:r>
              <a:rPr lang="en-IN" b="1" dirty="0"/>
              <a:t>Department ID, Employee Name, Salary, and Salary Rank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b="1" dirty="0"/>
              <a:t>STRICT CONSTRAINT: The solution MUST use a WINDOW FUNCTION. Solutions without Window Functions are NOT allowed.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67B0A1-7C4F-1B9B-27E5-442912670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145628"/>
              </p:ext>
            </p:extLst>
          </p:nvPr>
        </p:nvGraphicFramePr>
        <p:xfrm>
          <a:off x="472440" y="2714721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084817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271641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638161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463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emp_id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dept_id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38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4001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20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612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Karan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693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09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960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Mohit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15067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5AFCEAA-319E-995B-209D-4821434B9B56}"/>
              </a:ext>
            </a:extLst>
          </p:cNvPr>
          <p:cNvSpPr txBox="1"/>
          <p:nvPr/>
        </p:nvSpPr>
        <p:spPr>
          <a:xfrm>
            <a:off x="472440" y="5921305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employee_salary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809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63DF5A-9534-E832-BFEA-7771B47ED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085609"/>
              </p:ext>
            </p:extLst>
          </p:nvPr>
        </p:nvGraphicFramePr>
        <p:xfrm>
          <a:off x="535709" y="2082953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226292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478611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671563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03460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dept_id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salary_rank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9973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119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25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69794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4238671-1CED-ADD9-8D7F-BE21180D5AEF}"/>
              </a:ext>
            </a:extLst>
          </p:cNvPr>
          <p:cNvSpPr txBox="1"/>
          <p:nvPr/>
        </p:nvSpPr>
        <p:spPr>
          <a:xfrm>
            <a:off x="535709" y="1446415"/>
            <a:ext cx="1767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Expected 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756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353</Words>
  <Application>Microsoft Office PowerPoint</Application>
  <PresentationFormat>Widescreen</PresentationFormat>
  <Paragraphs>145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ADBMS LAB MST</vt:lpstr>
      <vt:lpstr>Problem Statement</vt:lpstr>
      <vt:lpstr>PowerPoint Presentation</vt:lpstr>
      <vt:lpstr>Problem Statement</vt:lpstr>
      <vt:lpstr>Problem Statement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9</cp:revision>
  <dcterms:created xsi:type="dcterms:W3CDTF">2026-09-26T13:42:56Z</dcterms:created>
  <dcterms:modified xsi:type="dcterms:W3CDTF">2026-09-27T06:40:12Z</dcterms:modified>
</cp:coreProperties>
</file>