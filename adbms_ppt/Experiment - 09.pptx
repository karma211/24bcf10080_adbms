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8" y="10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F2E20-7324-7EDA-C246-B93DBAD194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56069A-12A4-FB46-E6CB-658BBBF85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2107DF-7CD0-2CCA-6BE9-C748E38C348A}"/>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5" name="Footer Placeholder 4">
            <a:extLst>
              <a:ext uri="{FF2B5EF4-FFF2-40B4-BE49-F238E27FC236}">
                <a16:creationId xmlns:a16="http://schemas.microsoft.com/office/drawing/2014/main" id="{443ACF46-C0FD-76F4-C000-523A34A44B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288C9A-EBB7-4F73-9789-7BD22E8A9315}"/>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4076423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080E1-5310-178C-1286-65672F4C90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F0A682-B9A4-2A07-EFDE-58EB8BAE8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8D115-C49C-2AE7-D258-FD0DD5938AB1}"/>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5" name="Footer Placeholder 4">
            <a:extLst>
              <a:ext uri="{FF2B5EF4-FFF2-40B4-BE49-F238E27FC236}">
                <a16:creationId xmlns:a16="http://schemas.microsoft.com/office/drawing/2014/main" id="{4B4D99D2-A4A3-9968-219E-FE175E20A4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5D9A25-A3D6-2957-7810-0F89A768D4BA}"/>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1027816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E8A00-8DFF-8E63-9623-7A884711EF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2FB10C-DFE4-4663-7BA7-D71EC91A6C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3AE113-98BF-962B-2C77-EEA62730813F}"/>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5" name="Footer Placeholder 4">
            <a:extLst>
              <a:ext uri="{FF2B5EF4-FFF2-40B4-BE49-F238E27FC236}">
                <a16:creationId xmlns:a16="http://schemas.microsoft.com/office/drawing/2014/main" id="{45648BFB-0AD7-8047-60CE-52D88CFEAD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3405D8-207D-749B-629A-0D75CF997F2E}"/>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3158211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7662-8F55-0A7D-E2DB-66C7C661EA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957A60-7F7B-0ED2-67F4-FA567B8480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7CEAAF-8B42-3116-489C-C365A3A558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328CF2-A0A6-0E66-03D9-5E47EF903272}"/>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6" name="Footer Placeholder 5">
            <a:extLst>
              <a:ext uri="{FF2B5EF4-FFF2-40B4-BE49-F238E27FC236}">
                <a16:creationId xmlns:a16="http://schemas.microsoft.com/office/drawing/2014/main" id="{72DDBF06-A913-BBC9-0A64-269631E901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951841-BCC7-E8AD-955C-0B9BC8570D75}"/>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3238428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DD74E-3E3E-6343-749D-E299B7DB18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79BCC7-B8E3-D6A2-8345-A2587332D5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AF23EA-B526-321D-15DD-B6B9B4EF4C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A0E442-7FCD-50A4-D719-BDF0066A40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988B5B-B4EC-F650-8133-05090793C8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A6416A-393A-FE13-3928-1FFE0A8106BE}"/>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8" name="Footer Placeholder 7">
            <a:extLst>
              <a:ext uri="{FF2B5EF4-FFF2-40B4-BE49-F238E27FC236}">
                <a16:creationId xmlns:a16="http://schemas.microsoft.com/office/drawing/2014/main" id="{8A2680E5-FE10-2AB9-0909-4F860130A7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8A69B6-76CF-5BA3-F4A6-BB8EED6DAF5A}"/>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1548248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31A52-D8F2-63F7-64CE-03DCAB8109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85D4CC2-444B-E5A4-49CC-034BB54A5ED5}"/>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4" name="Footer Placeholder 3">
            <a:extLst>
              <a:ext uri="{FF2B5EF4-FFF2-40B4-BE49-F238E27FC236}">
                <a16:creationId xmlns:a16="http://schemas.microsoft.com/office/drawing/2014/main" id="{3E7A9DA5-3EAE-48C7-D21A-03572C126A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960AB7-E499-204B-A357-3459BAE79E0F}"/>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431399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7A4BED-E956-C335-31A7-1FA30115EC20}"/>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3" name="Footer Placeholder 2">
            <a:extLst>
              <a:ext uri="{FF2B5EF4-FFF2-40B4-BE49-F238E27FC236}">
                <a16:creationId xmlns:a16="http://schemas.microsoft.com/office/drawing/2014/main" id="{1ADACE31-BE04-6AF7-B0AA-FB1C6D30CF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D10D88-E47B-8C59-681D-C113D52BEF62}"/>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51408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9EA3F-A266-04FD-2BC4-1C042886AE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C04BE8-C22B-2CE7-2652-D4D8AF9A7A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23CBC2-51B6-F286-8D97-93DBABF26E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73FEAC-5013-2014-A083-3916CCB7F850}"/>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6" name="Footer Placeholder 5">
            <a:extLst>
              <a:ext uri="{FF2B5EF4-FFF2-40B4-BE49-F238E27FC236}">
                <a16:creationId xmlns:a16="http://schemas.microsoft.com/office/drawing/2014/main" id="{88427499-E7AD-5A7E-3A45-3628C56281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2162DD-5930-CF72-FF16-EFCE78F0D907}"/>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1350833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DA74B-1A38-6836-97F9-C1E653D16C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E84978-E086-7E79-7AF2-8FAA321754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BF0631-6A2D-9B2E-0683-5CF4C1F7C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30622A-D76C-157B-7B9D-D73C02089B36}"/>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6" name="Footer Placeholder 5">
            <a:extLst>
              <a:ext uri="{FF2B5EF4-FFF2-40B4-BE49-F238E27FC236}">
                <a16:creationId xmlns:a16="http://schemas.microsoft.com/office/drawing/2014/main" id="{FA77E3B9-1587-8D40-975F-9AC12291E2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2ACA3A-B948-E82D-F54F-1A8905EF6A37}"/>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479591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0BD23-37BF-26F2-EFF3-498A042BC3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66F40D-1593-8908-7AEA-8981B3F5BD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6DF357-9045-B7DC-EE2D-6730AEDA598E}"/>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5" name="Footer Placeholder 4">
            <a:extLst>
              <a:ext uri="{FF2B5EF4-FFF2-40B4-BE49-F238E27FC236}">
                <a16:creationId xmlns:a16="http://schemas.microsoft.com/office/drawing/2014/main" id="{8E7CE0BA-BEAB-9BDA-9185-81A7EBECD6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DB9E3D-0D05-CA40-3EC6-31D487FC664A}"/>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3439810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82D43E-7906-88CD-97EA-2544AE3BCB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737D54-2E4F-E80A-594C-604C159A71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650385-D574-A898-A5DE-DFF2FAF788DF}"/>
              </a:ext>
            </a:extLst>
          </p:cNvPr>
          <p:cNvSpPr>
            <a:spLocks noGrp="1"/>
          </p:cNvSpPr>
          <p:nvPr>
            <p:ph type="dt" sz="half" idx="10"/>
          </p:nvPr>
        </p:nvSpPr>
        <p:spPr/>
        <p:txBody>
          <a:bodyPr/>
          <a:lstStyle/>
          <a:p>
            <a:fld id="{216163ED-649B-4450-9FD3-F5F06A604EA9}" type="datetimeFigureOut">
              <a:rPr lang="en-IN" smtClean="0"/>
              <a:t>11-09-2026</a:t>
            </a:fld>
            <a:endParaRPr lang="en-IN"/>
          </a:p>
        </p:txBody>
      </p:sp>
      <p:sp>
        <p:nvSpPr>
          <p:cNvPr id="5" name="Footer Placeholder 4">
            <a:extLst>
              <a:ext uri="{FF2B5EF4-FFF2-40B4-BE49-F238E27FC236}">
                <a16:creationId xmlns:a16="http://schemas.microsoft.com/office/drawing/2014/main" id="{E8B165E7-C109-CDF5-0637-36BF4C38B5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232F7-E010-1C65-E0EE-863B057D7411}"/>
              </a:ext>
            </a:extLst>
          </p:cNvPr>
          <p:cNvSpPr>
            <a:spLocks noGrp="1"/>
          </p:cNvSpPr>
          <p:nvPr>
            <p:ph type="sldNum" sz="quarter" idx="12"/>
          </p:nvPr>
        </p:nvSpPr>
        <p:spPr/>
        <p:txBody>
          <a:bodyPr/>
          <a:lstStyle/>
          <a:p>
            <a:fld id="{42EA61C6-B309-46F8-A05E-BB3A469FF339}" type="slidenum">
              <a:rPr lang="en-IN" smtClean="0"/>
              <a:t>‹#›</a:t>
            </a:fld>
            <a:endParaRPr lang="en-IN"/>
          </a:p>
        </p:txBody>
      </p:sp>
    </p:spTree>
    <p:extLst>
      <p:ext uri="{BB962C8B-B14F-4D97-AF65-F5344CB8AC3E}">
        <p14:creationId xmlns:p14="http://schemas.microsoft.com/office/powerpoint/2010/main" val="201657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940E83-714C-8B83-407F-000292C501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262DF9-702C-E5AD-61CE-C6C077BB2D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F02AA5-26A7-D42A-3FE9-7F61DF2C7F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6163ED-649B-4450-9FD3-F5F06A604EA9}" type="datetimeFigureOut">
              <a:rPr lang="en-IN" smtClean="0"/>
              <a:t>11-09-2026</a:t>
            </a:fld>
            <a:endParaRPr lang="en-IN"/>
          </a:p>
        </p:txBody>
      </p:sp>
      <p:sp>
        <p:nvSpPr>
          <p:cNvPr id="5" name="Footer Placeholder 4">
            <a:extLst>
              <a:ext uri="{FF2B5EF4-FFF2-40B4-BE49-F238E27FC236}">
                <a16:creationId xmlns:a16="http://schemas.microsoft.com/office/drawing/2014/main" id="{C9E0989A-DBAD-C7CE-1633-DE23205236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909A194-34F4-D420-F783-6EF61CD415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A61C6-B309-46F8-A05E-BB3A469FF339}" type="slidenum">
              <a:rPr lang="en-IN" smtClean="0"/>
              <a:t>‹#›</a:t>
            </a:fld>
            <a:endParaRPr lang="en-IN"/>
          </a:p>
        </p:txBody>
      </p:sp>
      <p:pic>
        <p:nvPicPr>
          <p:cNvPr id="7" name="Picture 6">
            <a:extLst>
              <a:ext uri="{FF2B5EF4-FFF2-40B4-BE49-F238E27FC236}">
                <a16:creationId xmlns:a16="http://schemas.microsoft.com/office/drawing/2014/main" id="{506B2C30-07AA-CC37-32E5-7FBD76DCF11C}"/>
              </a:ext>
            </a:extLst>
          </p:cNvPr>
          <p:cNvPicPr>
            <a:picLocks noChangeAspect="1"/>
          </p:cNvPicPr>
          <p:nvPr userDrawn="1"/>
        </p:nvPicPr>
        <p:blipFill>
          <a:blip r:embed="rId13"/>
          <a:stretch>
            <a:fillRect/>
          </a:stretch>
        </p:blipFill>
        <p:spPr>
          <a:xfrm>
            <a:off x="0" y="27493"/>
            <a:ext cx="11839074" cy="540327"/>
          </a:xfrm>
          <a:prstGeom prst="rect">
            <a:avLst/>
          </a:prstGeom>
        </p:spPr>
      </p:pic>
    </p:spTree>
    <p:extLst>
      <p:ext uri="{BB962C8B-B14F-4D97-AF65-F5344CB8AC3E}">
        <p14:creationId xmlns:p14="http://schemas.microsoft.com/office/powerpoint/2010/main" val="2984345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35AAE-73E7-7828-D7C4-7643865C1F0C}"/>
              </a:ext>
            </a:extLst>
          </p:cNvPr>
          <p:cNvSpPr>
            <a:spLocks noGrp="1"/>
          </p:cNvSpPr>
          <p:nvPr>
            <p:ph type="ctrTitle"/>
          </p:nvPr>
        </p:nvSpPr>
        <p:spPr/>
        <p:txBody>
          <a:bodyPr/>
          <a:lstStyle/>
          <a:p>
            <a:r>
              <a:rPr lang="en-US" dirty="0"/>
              <a:t>Stored Procedures</a:t>
            </a:r>
            <a:br>
              <a:rPr lang="en-US" dirty="0"/>
            </a:br>
            <a:r>
              <a:rPr lang="en-US" dirty="0"/>
              <a:t>Experiment 09</a:t>
            </a:r>
            <a:endParaRPr lang="en-IN" dirty="0"/>
          </a:p>
        </p:txBody>
      </p:sp>
      <p:sp>
        <p:nvSpPr>
          <p:cNvPr id="3" name="Subtitle 2">
            <a:extLst>
              <a:ext uri="{FF2B5EF4-FFF2-40B4-BE49-F238E27FC236}">
                <a16:creationId xmlns:a16="http://schemas.microsoft.com/office/drawing/2014/main" id="{1F03E8F5-C91C-50C6-B022-1B7982F0F1BC}"/>
              </a:ext>
            </a:extLst>
          </p:cNvPr>
          <p:cNvSpPr>
            <a:spLocks noGrp="1"/>
          </p:cNvSpPr>
          <p:nvPr>
            <p:ph type="subTitle" idx="1"/>
          </p:nvPr>
        </p:nvSpPr>
        <p:spPr/>
        <p:txBody>
          <a:bodyPr/>
          <a:lstStyle/>
          <a:p>
            <a:r>
              <a:rPr lang="en-US" dirty="0"/>
              <a:t>Postgres</a:t>
            </a:r>
            <a:endParaRPr lang="en-IN" dirty="0"/>
          </a:p>
        </p:txBody>
      </p:sp>
    </p:spTree>
    <p:extLst>
      <p:ext uri="{BB962C8B-B14F-4D97-AF65-F5344CB8AC3E}">
        <p14:creationId xmlns:p14="http://schemas.microsoft.com/office/powerpoint/2010/main" val="2661495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60989-823A-12DB-CB37-7A73BBFC5190}"/>
              </a:ext>
            </a:extLst>
          </p:cNvPr>
          <p:cNvSpPr>
            <a:spLocks noGrp="1"/>
          </p:cNvSpPr>
          <p:nvPr>
            <p:ph type="title"/>
          </p:nvPr>
        </p:nvSpPr>
        <p:spPr>
          <a:xfrm>
            <a:off x="272715" y="541588"/>
            <a:ext cx="11486147" cy="549275"/>
          </a:xfrm>
        </p:spPr>
        <p:txBody>
          <a:bodyPr>
            <a:normAutofit fontScale="90000"/>
          </a:bodyPr>
          <a:lstStyle/>
          <a:p>
            <a:r>
              <a:rPr lang="en-US" dirty="0"/>
              <a:t>Problem Statement                                              [Medium]</a:t>
            </a:r>
            <a:endParaRPr lang="en-IN" dirty="0"/>
          </a:p>
        </p:txBody>
      </p:sp>
      <p:sp>
        <p:nvSpPr>
          <p:cNvPr id="3" name="Content Placeholder 2">
            <a:extLst>
              <a:ext uri="{FF2B5EF4-FFF2-40B4-BE49-F238E27FC236}">
                <a16:creationId xmlns:a16="http://schemas.microsoft.com/office/drawing/2014/main" id="{1E406DE2-7A88-9283-4C01-C66CAEF819A9}"/>
              </a:ext>
            </a:extLst>
          </p:cNvPr>
          <p:cNvSpPr>
            <a:spLocks noGrp="1"/>
          </p:cNvSpPr>
          <p:nvPr>
            <p:ph idx="1"/>
          </p:nvPr>
        </p:nvSpPr>
        <p:spPr>
          <a:xfrm>
            <a:off x="272715" y="1283368"/>
            <a:ext cx="11486147" cy="5309937"/>
          </a:xfrm>
        </p:spPr>
        <p:txBody>
          <a:bodyPr/>
          <a:lstStyle/>
          <a:p>
            <a:r>
              <a:rPr lang="en-IN" dirty="0"/>
              <a:t>An organization stores employee details in the </a:t>
            </a:r>
            <a:r>
              <a:rPr lang="en-IN" dirty="0" err="1"/>
              <a:t>employee_info</a:t>
            </a:r>
            <a:r>
              <a:rPr lang="en-IN" dirty="0"/>
              <a:t> table. Create a PostgreSQL stored procedure that accepts an employee's </a:t>
            </a:r>
            <a:r>
              <a:rPr lang="en-IN" b="1" dirty="0"/>
              <a:t>gender as an input parameter</a:t>
            </a:r>
            <a:r>
              <a:rPr lang="en-IN" dirty="0"/>
              <a:t> and calculates the </a:t>
            </a:r>
            <a:r>
              <a:rPr lang="en-IN" b="1" dirty="0"/>
              <a:t>total number of employees belonging to that gender</a:t>
            </a:r>
            <a:r>
              <a:rPr lang="en-IN" dirty="0"/>
              <a:t>. The calculated count should be returned through an </a:t>
            </a:r>
            <a:r>
              <a:rPr lang="en-IN" b="1" dirty="0"/>
              <a:t>OUT parameter</a:t>
            </a:r>
            <a:r>
              <a:rPr lang="en-IN" dirty="0"/>
              <a:t> and should also be displayed as a message using RAISE NOTICE.</a:t>
            </a:r>
          </a:p>
          <a:p>
            <a:r>
              <a:rPr lang="en-IN" dirty="0"/>
              <a:t>For example, if Male is passed to the procedure, it should count all employees whose gender is Male.</a:t>
            </a:r>
          </a:p>
        </p:txBody>
      </p:sp>
      <p:graphicFrame>
        <p:nvGraphicFramePr>
          <p:cNvPr id="4" name="Table 3">
            <a:extLst>
              <a:ext uri="{FF2B5EF4-FFF2-40B4-BE49-F238E27FC236}">
                <a16:creationId xmlns:a16="http://schemas.microsoft.com/office/drawing/2014/main" id="{675A6CF4-4AD2-8A46-44EB-6AF61BA0854B}"/>
              </a:ext>
            </a:extLst>
          </p:cNvPr>
          <p:cNvGraphicFramePr>
            <a:graphicFrameLocks noGrp="1"/>
          </p:cNvGraphicFramePr>
          <p:nvPr>
            <p:extLst>
              <p:ext uri="{D42A27DB-BD31-4B8C-83A1-F6EECF244321}">
                <p14:modId xmlns:p14="http://schemas.microsoft.com/office/powerpoint/2010/main" val="2771793359"/>
              </p:ext>
            </p:extLst>
          </p:nvPr>
        </p:nvGraphicFramePr>
        <p:xfrm>
          <a:off x="1807411" y="4368265"/>
          <a:ext cx="8127999" cy="2225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690239856"/>
                    </a:ext>
                  </a:extLst>
                </a:gridCol>
                <a:gridCol w="2709333">
                  <a:extLst>
                    <a:ext uri="{9D8B030D-6E8A-4147-A177-3AD203B41FA5}">
                      <a16:colId xmlns:a16="http://schemas.microsoft.com/office/drawing/2014/main" val="2564193212"/>
                    </a:ext>
                  </a:extLst>
                </a:gridCol>
                <a:gridCol w="2709333">
                  <a:extLst>
                    <a:ext uri="{9D8B030D-6E8A-4147-A177-3AD203B41FA5}">
                      <a16:colId xmlns:a16="http://schemas.microsoft.com/office/drawing/2014/main" val="1112538744"/>
                    </a:ext>
                  </a:extLst>
                </a:gridCol>
              </a:tblGrid>
              <a:tr h="370840">
                <a:tc>
                  <a:txBody>
                    <a:bodyPr/>
                    <a:lstStyle/>
                    <a:p>
                      <a:pPr algn="ctr">
                        <a:buNone/>
                      </a:pPr>
                      <a:r>
                        <a:rPr lang="en-IN" dirty="0"/>
                        <a:t>Column Name</a:t>
                      </a:r>
                    </a:p>
                  </a:txBody>
                  <a:tcPr anchor="ctr"/>
                </a:tc>
                <a:tc>
                  <a:txBody>
                    <a:bodyPr/>
                    <a:lstStyle/>
                    <a:p>
                      <a:pPr algn="ctr">
                        <a:buNone/>
                      </a:pPr>
                      <a:r>
                        <a:rPr lang="en-IN"/>
                        <a:t>Data Type</a:t>
                      </a:r>
                    </a:p>
                  </a:txBody>
                  <a:tcPr anchor="ctr"/>
                </a:tc>
                <a:tc>
                  <a:txBody>
                    <a:bodyPr/>
                    <a:lstStyle/>
                    <a:p>
                      <a:pPr algn="ctr">
                        <a:buNone/>
                      </a:pPr>
                      <a:r>
                        <a:rPr lang="en-IN"/>
                        <a:t>Description</a:t>
                      </a:r>
                    </a:p>
                  </a:txBody>
                  <a:tcPr anchor="ctr"/>
                </a:tc>
                <a:extLst>
                  <a:ext uri="{0D108BD9-81ED-4DB2-BD59-A6C34878D82A}">
                    <a16:rowId xmlns:a16="http://schemas.microsoft.com/office/drawing/2014/main" val="3337151311"/>
                  </a:ext>
                </a:extLst>
              </a:tr>
              <a:tr h="370840">
                <a:tc>
                  <a:txBody>
                    <a:bodyPr/>
                    <a:lstStyle/>
                    <a:p>
                      <a:pPr algn="ctr">
                        <a:buNone/>
                      </a:pPr>
                      <a:r>
                        <a:rPr lang="en-IN"/>
                        <a:t>id</a:t>
                      </a:r>
                    </a:p>
                  </a:txBody>
                  <a:tcPr anchor="ctr"/>
                </a:tc>
                <a:tc>
                  <a:txBody>
                    <a:bodyPr/>
                    <a:lstStyle/>
                    <a:p>
                      <a:pPr algn="ctr">
                        <a:buNone/>
                      </a:pPr>
                      <a:r>
                        <a:rPr lang="en-IN"/>
                        <a:t>SERIAL</a:t>
                      </a:r>
                    </a:p>
                  </a:txBody>
                  <a:tcPr anchor="ctr"/>
                </a:tc>
                <a:tc>
                  <a:txBody>
                    <a:bodyPr/>
                    <a:lstStyle/>
                    <a:p>
                      <a:pPr algn="ctr">
                        <a:buNone/>
                      </a:pPr>
                      <a:r>
                        <a:rPr lang="en-IN"/>
                        <a:t>Unique employee ID</a:t>
                      </a:r>
                    </a:p>
                  </a:txBody>
                  <a:tcPr anchor="ctr"/>
                </a:tc>
                <a:extLst>
                  <a:ext uri="{0D108BD9-81ED-4DB2-BD59-A6C34878D82A}">
                    <a16:rowId xmlns:a16="http://schemas.microsoft.com/office/drawing/2014/main" val="3568346347"/>
                  </a:ext>
                </a:extLst>
              </a:tr>
              <a:tr h="370840">
                <a:tc>
                  <a:txBody>
                    <a:bodyPr/>
                    <a:lstStyle/>
                    <a:p>
                      <a:pPr algn="ctr">
                        <a:buNone/>
                      </a:pPr>
                      <a:r>
                        <a:rPr lang="en-IN"/>
                        <a:t>name</a:t>
                      </a:r>
                    </a:p>
                  </a:txBody>
                  <a:tcPr anchor="ctr"/>
                </a:tc>
                <a:tc>
                  <a:txBody>
                    <a:bodyPr/>
                    <a:lstStyle/>
                    <a:p>
                      <a:pPr algn="ctr">
                        <a:buNone/>
                      </a:pPr>
                      <a:r>
                        <a:rPr lang="en-IN"/>
                        <a:t>VARCHAR(50)</a:t>
                      </a:r>
                    </a:p>
                  </a:txBody>
                  <a:tcPr anchor="ctr"/>
                </a:tc>
                <a:tc>
                  <a:txBody>
                    <a:bodyPr/>
                    <a:lstStyle/>
                    <a:p>
                      <a:pPr algn="ctr">
                        <a:buNone/>
                      </a:pPr>
                      <a:r>
                        <a:rPr lang="en-IN"/>
                        <a:t>Employee name</a:t>
                      </a:r>
                    </a:p>
                  </a:txBody>
                  <a:tcPr anchor="ctr"/>
                </a:tc>
                <a:extLst>
                  <a:ext uri="{0D108BD9-81ED-4DB2-BD59-A6C34878D82A}">
                    <a16:rowId xmlns:a16="http://schemas.microsoft.com/office/drawing/2014/main" val="3356831521"/>
                  </a:ext>
                </a:extLst>
              </a:tr>
              <a:tr h="370840">
                <a:tc>
                  <a:txBody>
                    <a:bodyPr/>
                    <a:lstStyle/>
                    <a:p>
                      <a:pPr algn="ctr">
                        <a:buNone/>
                      </a:pPr>
                      <a:r>
                        <a:rPr lang="en-IN"/>
                        <a:t>gender</a:t>
                      </a:r>
                    </a:p>
                  </a:txBody>
                  <a:tcPr anchor="ctr"/>
                </a:tc>
                <a:tc>
                  <a:txBody>
                    <a:bodyPr/>
                    <a:lstStyle/>
                    <a:p>
                      <a:pPr algn="ctr">
                        <a:buNone/>
                      </a:pPr>
                      <a:r>
                        <a:rPr lang="en-IN"/>
                        <a:t>VARCHAR(10)</a:t>
                      </a:r>
                    </a:p>
                  </a:txBody>
                  <a:tcPr anchor="ctr"/>
                </a:tc>
                <a:tc>
                  <a:txBody>
                    <a:bodyPr/>
                    <a:lstStyle/>
                    <a:p>
                      <a:pPr algn="ctr">
                        <a:buNone/>
                      </a:pPr>
                      <a:r>
                        <a:rPr lang="en-IN"/>
                        <a:t>Gender of employee</a:t>
                      </a:r>
                    </a:p>
                  </a:txBody>
                  <a:tcPr anchor="ctr"/>
                </a:tc>
                <a:extLst>
                  <a:ext uri="{0D108BD9-81ED-4DB2-BD59-A6C34878D82A}">
                    <a16:rowId xmlns:a16="http://schemas.microsoft.com/office/drawing/2014/main" val="2255129958"/>
                  </a:ext>
                </a:extLst>
              </a:tr>
              <a:tr h="370840">
                <a:tc>
                  <a:txBody>
                    <a:bodyPr/>
                    <a:lstStyle/>
                    <a:p>
                      <a:pPr algn="ctr">
                        <a:buNone/>
                      </a:pPr>
                      <a:r>
                        <a:rPr lang="en-IN"/>
                        <a:t>salary</a:t>
                      </a:r>
                    </a:p>
                  </a:txBody>
                  <a:tcPr anchor="ctr"/>
                </a:tc>
                <a:tc>
                  <a:txBody>
                    <a:bodyPr/>
                    <a:lstStyle/>
                    <a:p>
                      <a:pPr algn="ctr">
                        <a:buNone/>
                      </a:pPr>
                      <a:r>
                        <a:rPr lang="en-IN"/>
                        <a:t>NUMERIC(10,2)</a:t>
                      </a:r>
                    </a:p>
                  </a:txBody>
                  <a:tcPr anchor="ctr"/>
                </a:tc>
                <a:tc>
                  <a:txBody>
                    <a:bodyPr/>
                    <a:lstStyle/>
                    <a:p>
                      <a:pPr algn="ctr">
                        <a:buNone/>
                      </a:pPr>
                      <a:r>
                        <a:rPr lang="en-IN"/>
                        <a:t>Employee salary</a:t>
                      </a:r>
                    </a:p>
                  </a:txBody>
                  <a:tcPr anchor="ctr"/>
                </a:tc>
                <a:extLst>
                  <a:ext uri="{0D108BD9-81ED-4DB2-BD59-A6C34878D82A}">
                    <a16:rowId xmlns:a16="http://schemas.microsoft.com/office/drawing/2014/main" val="103862855"/>
                  </a:ext>
                </a:extLst>
              </a:tr>
              <a:tr h="370840">
                <a:tc>
                  <a:txBody>
                    <a:bodyPr/>
                    <a:lstStyle/>
                    <a:p>
                      <a:pPr algn="ctr">
                        <a:buNone/>
                      </a:pPr>
                      <a:r>
                        <a:rPr lang="en-IN"/>
                        <a:t>city</a:t>
                      </a:r>
                    </a:p>
                  </a:txBody>
                  <a:tcPr anchor="ctr"/>
                </a:tc>
                <a:tc>
                  <a:txBody>
                    <a:bodyPr/>
                    <a:lstStyle/>
                    <a:p>
                      <a:pPr algn="ctr">
                        <a:buNone/>
                      </a:pPr>
                      <a:r>
                        <a:rPr lang="en-IN"/>
                        <a:t>VARCHAR(50)</a:t>
                      </a:r>
                    </a:p>
                  </a:txBody>
                  <a:tcPr anchor="ctr"/>
                </a:tc>
                <a:tc>
                  <a:txBody>
                    <a:bodyPr/>
                    <a:lstStyle/>
                    <a:p>
                      <a:pPr algn="ctr">
                        <a:buNone/>
                      </a:pPr>
                      <a:r>
                        <a:rPr lang="en-IN" dirty="0"/>
                        <a:t>Employee city</a:t>
                      </a:r>
                    </a:p>
                  </a:txBody>
                  <a:tcPr anchor="ctr"/>
                </a:tc>
                <a:extLst>
                  <a:ext uri="{0D108BD9-81ED-4DB2-BD59-A6C34878D82A}">
                    <a16:rowId xmlns:a16="http://schemas.microsoft.com/office/drawing/2014/main" val="3340800874"/>
                  </a:ext>
                </a:extLst>
              </a:tr>
            </a:tbl>
          </a:graphicData>
        </a:graphic>
      </p:graphicFrame>
      <p:sp>
        <p:nvSpPr>
          <p:cNvPr id="6" name="TextBox 5">
            <a:extLst>
              <a:ext uri="{FF2B5EF4-FFF2-40B4-BE49-F238E27FC236}">
                <a16:creationId xmlns:a16="http://schemas.microsoft.com/office/drawing/2014/main" id="{4145429F-04F7-4112-0544-96A8197637CA}"/>
              </a:ext>
            </a:extLst>
          </p:cNvPr>
          <p:cNvSpPr txBox="1"/>
          <p:nvPr/>
        </p:nvSpPr>
        <p:spPr>
          <a:xfrm>
            <a:off x="7186864" y="3991094"/>
            <a:ext cx="3112168" cy="369332"/>
          </a:xfrm>
          <a:prstGeom prst="rect">
            <a:avLst/>
          </a:prstGeom>
          <a:noFill/>
        </p:spPr>
        <p:txBody>
          <a:bodyPr wrap="square">
            <a:spAutoFit/>
          </a:bodyPr>
          <a:lstStyle/>
          <a:p>
            <a:r>
              <a:rPr lang="en-IN" dirty="0" err="1"/>
              <a:t>employee_info</a:t>
            </a:r>
            <a:endParaRPr lang="en-IN" dirty="0"/>
          </a:p>
        </p:txBody>
      </p:sp>
    </p:spTree>
    <p:extLst>
      <p:ext uri="{BB962C8B-B14F-4D97-AF65-F5344CB8AC3E}">
        <p14:creationId xmlns:p14="http://schemas.microsoft.com/office/powerpoint/2010/main" val="2509011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E9CE3-BCEA-8428-98E4-0C32D7AF9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D2183-8D59-4704-E948-CBD86C5E2182}"/>
              </a:ext>
            </a:extLst>
          </p:cNvPr>
          <p:cNvSpPr>
            <a:spLocks noGrp="1"/>
          </p:cNvSpPr>
          <p:nvPr>
            <p:ph type="title"/>
          </p:nvPr>
        </p:nvSpPr>
        <p:spPr>
          <a:xfrm>
            <a:off x="272715" y="541588"/>
            <a:ext cx="11486147" cy="549275"/>
          </a:xfrm>
        </p:spPr>
        <p:txBody>
          <a:bodyPr>
            <a:normAutofit fontScale="90000"/>
          </a:bodyPr>
          <a:lstStyle/>
          <a:p>
            <a:r>
              <a:rPr lang="en-US" dirty="0"/>
              <a:t>Problem Statement                                                   [Hard]</a:t>
            </a:r>
            <a:endParaRPr lang="en-IN" dirty="0"/>
          </a:p>
        </p:txBody>
      </p:sp>
      <p:sp>
        <p:nvSpPr>
          <p:cNvPr id="3" name="Content Placeholder 2">
            <a:extLst>
              <a:ext uri="{FF2B5EF4-FFF2-40B4-BE49-F238E27FC236}">
                <a16:creationId xmlns:a16="http://schemas.microsoft.com/office/drawing/2014/main" id="{6302FDB3-9C38-5AFF-03BE-54AC95FC4FF2}"/>
              </a:ext>
            </a:extLst>
          </p:cNvPr>
          <p:cNvSpPr>
            <a:spLocks noGrp="1"/>
          </p:cNvSpPr>
          <p:nvPr>
            <p:ph idx="1"/>
          </p:nvPr>
        </p:nvSpPr>
        <p:spPr>
          <a:xfrm>
            <a:off x="272715" y="1283368"/>
            <a:ext cx="11486147" cy="5309937"/>
          </a:xfrm>
        </p:spPr>
        <p:txBody>
          <a:bodyPr>
            <a:normAutofit lnSpcReduction="10000"/>
          </a:bodyPr>
          <a:lstStyle/>
          <a:p>
            <a:r>
              <a:rPr lang="en-IN" dirty="0"/>
              <a:t>An e-commerce company maintains product stock information in the products table and stores completed orders in the sales table. Create a PostgreSQL stored procedure that accepts a </a:t>
            </a:r>
            <a:r>
              <a:rPr lang="en-IN" b="1" dirty="0"/>
              <a:t>product name and required quantity as input parameters</a:t>
            </a:r>
            <a:r>
              <a:rPr lang="en-IN" dirty="0"/>
              <a:t> and processes the purchase only when sufficient stock is available.</a:t>
            </a:r>
          </a:p>
          <a:p>
            <a:r>
              <a:rPr lang="en-IN" dirty="0"/>
              <a:t>The procedure should verify the available quantity of the requested product. If sufficient stock exists, it should retrieve the product code and price, calculate the total sale amount, insert a new order into the sales table, reduce the available stock, and increase the total quantity sold. If sufficient stock is not available, the procedure should not modify any data and should display an appropriate notification message.</a:t>
            </a:r>
          </a:p>
          <a:p>
            <a:r>
              <a:rPr lang="en-IN" dirty="0"/>
              <a:t>The total sale amount should be calculated as:</a:t>
            </a:r>
          </a:p>
          <a:p>
            <a:r>
              <a:rPr lang="en-IN" dirty="0"/>
              <a:t>Sale Price = Product Price × Quantity Ordered</a:t>
            </a:r>
          </a:p>
          <a:p>
            <a:endParaRPr lang="en-IN" dirty="0"/>
          </a:p>
        </p:txBody>
      </p:sp>
    </p:spTree>
    <p:extLst>
      <p:ext uri="{BB962C8B-B14F-4D97-AF65-F5344CB8AC3E}">
        <p14:creationId xmlns:p14="http://schemas.microsoft.com/office/powerpoint/2010/main" val="1009620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65F10-08A4-F1D7-219E-11624CF91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AD746-C61A-BA98-D489-57442A67DB3A}"/>
              </a:ext>
            </a:extLst>
          </p:cNvPr>
          <p:cNvSpPr>
            <a:spLocks noGrp="1"/>
          </p:cNvSpPr>
          <p:nvPr>
            <p:ph type="title"/>
          </p:nvPr>
        </p:nvSpPr>
        <p:spPr>
          <a:xfrm>
            <a:off x="272715" y="541588"/>
            <a:ext cx="11486147" cy="549275"/>
          </a:xfrm>
        </p:spPr>
        <p:txBody>
          <a:bodyPr>
            <a:normAutofit fontScale="90000"/>
          </a:bodyPr>
          <a:lstStyle/>
          <a:p>
            <a:r>
              <a:rPr lang="en-US" dirty="0"/>
              <a:t>Problem Statement                                                   [Hard]</a:t>
            </a:r>
            <a:endParaRPr lang="en-IN" dirty="0"/>
          </a:p>
        </p:txBody>
      </p:sp>
      <p:sp>
        <p:nvSpPr>
          <p:cNvPr id="5" name="TextBox 4">
            <a:extLst>
              <a:ext uri="{FF2B5EF4-FFF2-40B4-BE49-F238E27FC236}">
                <a16:creationId xmlns:a16="http://schemas.microsoft.com/office/drawing/2014/main" id="{1B3806C3-4DA4-2FC2-F7CE-C1A88543C456}"/>
              </a:ext>
            </a:extLst>
          </p:cNvPr>
          <p:cNvSpPr txBox="1"/>
          <p:nvPr/>
        </p:nvSpPr>
        <p:spPr>
          <a:xfrm>
            <a:off x="272715" y="1090863"/>
            <a:ext cx="6096000" cy="5632311"/>
          </a:xfrm>
          <a:prstGeom prst="rect">
            <a:avLst/>
          </a:prstGeom>
          <a:noFill/>
        </p:spPr>
        <p:txBody>
          <a:bodyPr wrap="square">
            <a:spAutoFit/>
          </a:bodyPr>
          <a:lstStyle/>
          <a:p>
            <a:pPr>
              <a:buNone/>
            </a:pPr>
            <a:r>
              <a:rPr lang="en-IN" sz="2000" dirty="0"/>
              <a:t>Create a stored procedure named:</a:t>
            </a:r>
          </a:p>
          <a:p>
            <a:pPr rtl="0">
              <a:buNone/>
            </a:pPr>
            <a:r>
              <a:rPr lang="en-IN" sz="2000" dirty="0" err="1">
                <a:latin typeface="+mn-lt"/>
              </a:rPr>
              <a:t>pr_buy_products</a:t>
            </a:r>
            <a:endParaRPr lang="en-IN" sz="2000" dirty="0">
              <a:latin typeface="+mn-lt"/>
            </a:endParaRPr>
          </a:p>
          <a:p>
            <a:pPr>
              <a:buNone/>
            </a:pPr>
            <a:r>
              <a:rPr lang="en-IN" sz="2000" dirty="0"/>
              <a:t>The procedure should perform the following operations:</a:t>
            </a:r>
          </a:p>
          <a:p>
            <a:pPr marL="342900" lvl="0" indent="-342900">
              <a:buFont typeface="+mj-lt"/>
              <a:buAutoNum type="arabicPeriod"/>
            </a:pPr>
            <a:r>
              <a:rPr lang="en-IN" sz="2000" dirty="0"/>
              <a:t>Accept </a:t>
            </a:r>
            <a:r>
              <a:rPr lang="en-IN" sz="2000" dirty="0" err="1">
                <a:latin typeface="+mn-lt"/>
              </a:rPr>
              <a:t>product_name</a:t>
            </a:r>
            <a:r>
              <a:rPr lang="en-IN" sz="2000" dirty="0"/>
              <a:t> and </a:t>
            </a:r>
            <a:r>
              <a:rPr lang="en-IN" sz="2000" dirty="0">
                <a:latin typeface="+mn-lt"/>
              </a:rPr>
              <a:t>quantity</a:t>
            </a:r>
            <a:r>
              <a:rPr lang="en-IN" sz="2000" dirty="0"/>
              <a:t> as input parameters. </a:t>
            </a:r>
          </a:p>
          <a:p>
            <a:pPr marL="342900" lvl="0" indent="-342900">
              <a:buFont typeface="+mj-lt"/>
              <a:buAutoNum type="arabicPeriod"/>
            </a:pPr>
            <a:r>
              <a:rPr lang="en-IN" sz="2000" dirty="0"/>
              <a:t>Check whether the requested product exists and has sufficient stock. </a:t>
            </a:r>
          </a:p>
          <a:p>
            <a:pPr marL="342900" lvl="0" indent="-342900">
              <a:buFont typeface="+mj-lt"/>
              <a:buAutoNum type="arabicPeriod"/>
            </a:pPr>
            <a:r>
              <a:rPr lang="en-IN" sz="2000" dirty="0"/>
              <a:t>If sufficient stock is available: </a:t>
            </a:r>
          </a:p>
          <a:p>
            <a:pPr marL="742950" lvl="1" indent="-285750">
              <a:buFont typeface="+mj-lt"/>
              <a:buAutoNum type="arabicPeriod"/>
            </a:pPr>
            <a:r>
              <a:rPr lang="en-IN" sz="2000" dirty="0"/>
              <a:t>Retrieve its product code and price. </a:t>
            </a:r>
          </a:p>
          <a:p>
            <a:pPr marL="742950" lvl="1" indent="-285750">
              <a:buFont typeface="+mj-lt"/>
              <a:buAutoNum type="arabicPeriod"/>
            </a:pPr>
            <a:r>
              <a:rPr lang="en-IN" sz="2000" dirty="0"/>
              <a:t>Calculate the total sale amount. </a:t>
            </a:r>
          </a:p>
          <a:p>
            <a:pPr marL="742950" lvl="1" indent="-285750">
              <a:buFont typeface="+mj-lt"/>
              <a:buAutoNum type="arabicPeriod"/>
            </a:pPr>
            <a:r>
              <a:rPr lang="en-IN" sz="2000" dirty="0"/>
              <a:t>Insert a new record into the </a:t>
            </a:r>
            <a:r>
              <a:rPr lang="en-IN" sz="2000" dirty="0">
                <a:latin typeface="+mn-lt"/>
              </a:rPr>
              <a:t>sales</a:t>
            </a:r>
            <a:r>
              <a:rPr lang="en-IN" sz="2000" dirty="0"/>
              <a:t> table. </a:t>
            </a:r>
          </a:p>
          <a:p>
            <a:pPr marL="742950" lvl="1" indent="-285750">
              <a:buFont typeface="+mj-lt"/>
              <a:buAutoNum type="arabicPeriod"/>
            </a:pPr>
            <a:r>
              <a:rPr lang="en-IN" sz="2000" dirty="0"/>
              <a:t>Reduce </a:t>
            </a:r>
            <a:r>
              <a:rPr lang="en-IN" sz="2000" dirty="0" err="1">
                <a:latin typeface="+mn-lt"/>
              </a:rPr>
              <a:t>quantity_remaining</a:t>
            </a:r>
            <a:r>
              <a:rPr lang="en-IN" sz="2000" dirty="0"/>
              <a:t> by the purchased quantity. </a:t>
            </a:r>
          </a:p>
          <a:p>
            <a:pPr marL="742950" lvl="1" indent="-285750">
              <a:buFont typeface="+mj-lt"/>
              <a:buAutoNum type="arabicPeriod"/>
            </a:pPr>
            <a:r>
              <a:rPr lang="en-IN" sz="2000" dirty="0"/>
              <a:t>Increase </a:t>
            </a:r>
            <a:r>
              <a:rPr lang="en-IN" sz="2000" dirty="0" err="1">
                <a:latin typeface="+mn-lt"/>
              </a:rPr>
              <a:t>quantity_sold</a:t>
            </a:r>
            <a:r>
              <a:rPr lang="en-IN" sz="2000" dirty="0"/>
              <a:t> by the purchased quantity. </a:t>
            </a:r>
          </a:p>
          <a:p>
            <a:pPr marL="742950" lvl="1" indent="-285750">
              <a:buFont typeface="+mj-lt"/>
              <a:buAutoNum type="arabicPeriod"/>
            </a:pPr>
            <a:r>
              <a:rPr lang="en-IN" sz="2000" dirty="0"/>
              <a:t>Display a success message. </a:t>
            </a:r>
          </a:p>
          <a:p>
            <a:pPr marL="342900" lvl="0" indent="-342900">
              <a:buFont typeface="+mj-lt"/>
              <a:buAutoNum type="arabicPeriod"/>
            </a:pPr>
            <a:r>
              <a:rPr lang="en-IN" sz="2000" dirty="0"/>
              <a:t>If sufficient stock is not available: </a:t>
            </a:r>
          </a:p>
          <a:p>
            <a:pPr marL="742950" lvl="1" indent="-285750">
              <a:buFont typeface="+mj-lt"/>
              <a:buAutoNum type="arabicPeriod"/>
            </a:pPr>
            <a:r>
              <a:rPr lang="en-IN" sz="2000" dirty="0"/>
              <a:t>Do not insert or update any record. </a:t>
            </a:r>
          </a:p>
          <a:p>
            <a:pPr marL="742950" lvl="1" indent="-285750">
              <a:buFont typeface="+mj-lt"/>
              <a:buAutoNum type="arabicPeriod"/>
            </a:pPr>
            <a:r>
              <a:rPr lang="en-IN" sz="2000" dirty="0"/>
              <a:t>Display an insufficient quantity message.</a:t>
            </a:r>
          </a:p>
        </p:txBody>
      </p:sp>
    </p:spTree>
    <p:extLst>
      <p:ext uri="{BB962C8B-B14F-4D97-AF65-F5344CB8AC3E}">
        <p14:creationId xmlns:p14="http://schemas.microsoft.com/office/powerpoint/2010/main" val="2173439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9B805-8B91-913F-9EEC-329A6BDAB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51C24-8881-B9BE-E9D5-E7B4A7D776A4}"/>
              </a:ext>
            </a:extLst>
          </p:cNvPr>
          <p:cNvSpPr>
            <a:spLocks noGrp="1"/>
          </p:cNvSpPr>
          <p:nvPr>
            <p:ph type="title"/>
          </p:nvPr>
        </p:nvSpPr>
        <p:spPr>
          <a:xfrm>
            <a:off x="272715" y="541588"/>
            <a:ext cx="11486147" cy="549275"/>
          </a:xfrm>
        </p:spPr>
        <p:txBody>
          <a:bodyPr>
            <a:normAutofit fontScale="90000"/>
          </a:bodyPr>
          <a:lstStyle/>
          <a:p>
            <a:r>
              <a:rPr lang="en-US" dirty="0"/>
              <a:t>Problem Statement                                                   [Hard]</a:t>
            </a:r>
            <a:endParaRPr lang="en-IN" dirty="0"/>
          </a:p>
        </p:txBody>
      </p:sp>
      <p:graphicFrame>
        <p:nvGraphicFramePr>
          <p:cNvPr id="6" name="Table 5">
            <a:extLst>
              <a:ext uri="{FF2B5EF4-FFF2-40B4-BE49-F238E27FC236}">
                <a16:creationId xmlns:a16="http://schemas.microsoft.com/office/drawing/2014/main" id="{E5255038-91A0-727D-ADE3-B97F041D10B0}"/>
              </a:ext>
            </a:extLst>
          </p:cNvPr>
          <p:cNvGraphicFramePr>
            <a:graphicFrameLocks noGrp="1"/>
          </p:cNvGraphicFramePr>
          <p:nvPr>
            <p:extLst>
              <p:ext uri="{D42A27DB-BD31-4B8C-83A1-F6EECF244321}">
                <p14:modId xmlns:p14="http://schemas.microsoft.com/office/powerpoint/2010/main" val="115403181"/>
              </p:ext>
            </p:extLst>
          </p:nvPr>
        </p:nvGraphicFramePr>
        <p:xfrm>
          <a:off x="272716" y="1553855"/>
          <a:ext cx="6272463" cy="2763520"/>
        </p:xfrm>
        <a:graphic>
          <a:graphicData uri="http://schemas.openxmlformats.org/drawingml/2006/table">
            <a:tbl>
              <a:tblPr firstRow="1" bandRow="1">
                <a:tableStyleId>{5C22544A-7EE6-4342-B048-85BDC9FD1C3A}</a:tableStyleId>
              </a:tblPr>
              <a:tblGrid>
                <a:gridCol w="2090821">
                  <a:extLst>
                    <a:ext uri="{9D8B030D-6E8A-4147-A177-3AD203B41FA5}">
                      <a16:colId xmlns:a16="http://schemas.microsoft.com/office/drawing/2014/main" val="648025251"/>
                    </a:ext>
                  </a:extLst>
                </a:gridCol>
                <a:gridCol w="2090821">
                  <a:extLst>
                    <a:ext uri="{9D8B030D-6E8A-4147-A177-3AD203B41FA5}">
                      <a16:colId xmlns:a16="http://schemas.microsoft.com/office/drawing/2014/main" val="1824021443"/>
                    </a:ext>
                  </a:extLst>
                </a:gridCol>
                <a:gridCol w="2090821">
                  <a:extLst>
                    <a:ext uri="{9D8B030D-6E8A-4147-A177-3AD203B41FA5}">
                      <a16:colId xmlns:a16="http://schemas.microsoft.com/office/drawing/2014/main" val="1674365133"/>
                    </a:ext>
                  </a:extLst>
                </a:gridCol>
              </a:tblGrid>
              <a:tr h="370840">
                <a:tc>
                  <a:txBody>
                    <a:bodyPr/>
                    <a:lstStyle/>
                    <a:p>
                      <a:pPr algn="ctr">
                        <a:buNone/>
                      </a:pPr>
                      <a:r>
                        <a:rPr lang="en-IN" dirty="0"/>
                        <a:t>Column Name</a:t>
                      </a:r>
                    </a:p>
                  </a:txBody>
                  <a:tcPr anchor="ctr"/>
                </a:tc>
                <a:tc>
                  <a:txBody>
                    <a:bodyPr/>
                    <a:lstStyle/>
                    <a:p>
                      <a:pPr algn="ctr">
                        <a:buNone/>
                      </a:pPr>
                      <a:r>
                        <a:rPr lang="en-IN"/>
                        <a:t>Data Type</a:t>
                      </a:r>
                    </a:p>
                  </a:txBody>
                  <a:tcPr anchor="ctr"/>
                </a:tc>
                <a:tc>
                  <a:txBody>
                    <a:bodyPr/>
                    <a:lstStyle/>
                    <a:p>
                      <a:pPr algn="ctr">
                        <a:buNone/>
                      </a:pPr>
                      <a:r>
                        <a:rPr lang="en-IN"/>
                        <a:t>Description</a:t>
                      </a:r>
                    </a:p>
                  </a:txBody>
                  <a:tcPr anchor="ctr"/>
                </a:tc>
                <a:extLst>
                  <a:ext uri="{0D108BD9-81ED-4DB2-BD59-A6C34878D82A}">
                    <a16:rowId xmlns:a16="http://schemas.microsoft.com/office/drawing/2014/main" val="214018777"/>
                  </a:ext>
                </a:extLst>
              </a:tr>
              <a:tr h="370840">
                <a:tc>
                  <a:txBody>
                    <a:bodyPr/>
                    <a:lstStyle/>
                    <a:p>
                      <a:pPr algn="ctr">
                        <a:buNone/>
                      </a:pPr>
                      <a:r>
                        <a:rPr lang="en-IN"/>
                        <a:t>product_code</a:t>
                      </a:r>
                    </a:p>
                  </a:txBody>
                  <a:tcPr anchor="ctr"/>
                </a:tc>
                <a:tc>
                  <a:txBody>
                    <a:bodyPr/>
                    <a:lstStyle/>
                    <a:p>
                      <a:pPr algn="ctr">
                        <a:buNone/>
                      </a:pPr>
                      <a:r>
                        <a:rPr lang="en-IN"/>
                        <a:t>VARCHAR(10)</a:t>
                      </a:r>
                    </a:p>
                  </a:txBody>
                  <a:tcPr anchor="ctr"/>
                </a:tc>
                <a:tc>
                  <a:txBody>
                    <a:bodyPr/>
                    <a:lstStyle/>
                    <a:p>
                      <a:pPr algn="ctr">
                        <a:buNone/>
                      </a:pPr>
                      <a:r>
                        <a:rPr lang="en-IN"/>
                        <a:t>Unique product code</a:t>
                      </a:r>
                    </a:p>
                  </a:txBody>
                  <a:tcPr anchor="ctr"/>
                </a:tc>
                <a:extLst>
                  <a:ext uri="{0D108BD9-81ED-4DB2-BD59-A6C34878D82A}">
                    <a16:rowId xmlns:a16="http://schemas.microsoft.com/office/drawing/2014/main" val="1424295524"/>
                  </a:ext>
                </a:extLst>
              </a:tr>
              <a:tr h="370840">
                <a:tc>
                  <a:txBody>
                    <a:bodyPr/>
                    <a:lstStyle/>
                    <a:p>
                      <a:pPr algn="ctr">
                        <a:buNone/>
                      </a:pPr>
                      <a:r>
                        <a:rPr lang="en-IN"/>
                        <a:t>product_name</a:t>
                      </a:r>
                    </a:p>
                  </a:txBody>
                  <a:tcPr anchor="ctr"/>
                </a:tc>
                <a:tc>
                  <a:txBody>
                    <a:bodyPr/>
                    <a:lstStyle/>
                    <a:p>
                      <a:pPr algn="ctr">
                        <a:buNone/>
                      </a:pPr>
                      <a:r>
                        <a:rPr lang="en-IN"/>
                        <a:t>VARCHAR(100)</a:t>
                      </a:r>
                    </a:p>
                  </a:txBody>
                  <a:tcPr anchor="ctr"/>
                </a:tc>
                <a:tc>
                  <a:txBody>
                    <a:bodyPr/>
                    <a:lstStyle/>
                    <a:p>
                      <a:pPr algn="ctr">
                        <a:buNone/>
                      </a:pPr>
                      <a:r>
                        <a:rPr lang="en-IN"/>
                        <a:t>Product name</a:t>
                      </a:r>
                    </a:p>
                  </a:txBody>
                  <a:tcPr anchor="ctr"/>
                </a:tc>
                <a:extLst>
                  <a:ext uri="{0D108BD9-81ED-4DB2-BD59-A6C34878D82A}">
                    <a16:rowId xmlns:a16="http://schemas.microsoft.com/office/drawing/2014/main" val="52050445"/>
                  </a:ext>
                </a:extLst>
              </a:tr>
              <a:tr h="370840">
                <a:tc>
                  <a:txBody>
                    <a:bodyPr/>
                    <a:lstStyle/>
                    <a:p>
                      <a:pPr algn="ctr">
                        <a:buNone/>
                      </a:pPr>
                      <a:r>
                        <a:rPr lang="en-IN"/>
                        <a:t>price</a:t>
                      </a:r>
                    </a:p>
                  </a:txBody>
                  <a:tcPr anchor="ctr"/>
                </a:tc>
                <a:tc>
                  <a:txBody>
                    <a:bodyPr/>
                    <a:lstStyle/>
                    <a:p>
                      <a:pPr algn="ctr">
                        <a:buNone/>
                      </a:pPr>
                      <a:r>
                        <a:rPr lang="en-IN"/>
                        <a:t>NUMERIC(10,2)</a:t>
                      </a:r>
                    </a:p>
                  </a:txBody>
                  <a:tcPr anchor="ctr"/>
                </a:tc>
                <a:tc>
                  <a:txBody>
                    <a:bodyPr/>
                    <a:lstStyle/>
                    <a:p>
                      <a:pPr algn="ctr">
                        <a:buNone/>
                      </a:pPr>
                      <a:r>
                        <a:rPr lang="en-IN"/>
                        <a:t>Price of one unit</a:t>
                      </a:r>
                    </a:p>
                  </a:txBody>
                  <a:tcPr anchor="ctr"/>
                </a:tc>
                <a:extLst>
                  <a:ext uri="{0D108BD9-81ED-4DB2-BD59-A6C34878D82A}">
                    <a16:rowId xmlns:a16="http://schemas.microsoft.com/office/drawing/2014/main" val="1598565571"/>
                  </a:ext>
                </a:extLst>
              </a:tr>
              <a:tr h="370840">
                <a:tc>
                  <a:txBody>
                    <a:bodyPr/>
                    <a:lstStyle/>
                    <a:p>
                      <a:pPr algn="ctr">
                        <a:buNone/>
                      </a:pPr>
                      <a:r>
                        <a:rPr lang="en-IN"/>
                        <a:t>quantity_remaining</a:t>
                      </a:r>
                    </a:p>
                  </a:txBody>
                  <a:tcPr anchor="ctr"/>
                </a:tc>
                <a:tc>
                  <a:txBody>
                    <a:bodyPr/>
                    <a:lstStyle/>
                    <a:p>
                      <a:pPr algn="ctr">
                        <a:buNone/>
                      </a:pPr>
                      <a:r>
                        <a:rPr lang="en-IN"/>
                        <a:t>INT</a:t>
                      </a:r>
                    </a:p>
                  </a:txBody>
                  <a:tcPr anchor="ctr"/>
                </a:tc>
                <a:tc>
                  <a:txBody>
                    <a:bodyPr/>
                    <a:lstStyle/>
                    <a:p>
                      <a:pPr algn="ctr">
                        <a:buNone/>
                      </a:pPr>
                      <a:r>
                        <a:rPr lang="en-IN"/>
                        <a:t>Current available stock</a:t>
                      </a:r>
                    </a:p>
                  </a:txBody>
                  <a:tcPr anchor="ctr"/>
                </a:tc>
                <a:extLst>
                  <a:ext uri="{0D108BD9-81ED-4DB2-BD59-A6C34878D82A}">
                    <a16:rowId xmlns:a16="http://schemas.microsoft.com/office/drawing/2014/main" val="3744839248"/>
                  </a:ext>
                </a:extLst>
              </a:tr>
              <a:tr h="370840">
                <a:tc>
                  <a:txBody>
                    <a:bodyPr/>
                    <a:lstStyle/>
                    <a:p>
                      <a:pPr algn="ctr">
                        <a:buNone/>
                      </a:pPr>
                      <a:r>
                        <a:rPr lang="en-IN" dirty="0" err="1"/>
                        <a:t>quantity_sold</a:t>
                      </a:r>
                      <a:endParaRPr lang="en-IN" dirty="0"/>
                    </a:p>
                  </a:txBody>
                  <a:tcPr anchor="ctr"/>
                </a:tc>
                <a:tc>
                  <a:txBody>
                    <a:bodyPr/>
                    <a:lstStyle/>
                    <a:p>
                      <a:pPr algn="ctr">
                        <a:buNone/>
                      </a:pPr>
                      <a:r>
                        <a:rPr lang="en-IN"/>
                        <a:t>INT</a:t>
                      </a:r>
                    </a:p>
                  </a:txBody>
                  <a:tcPr anchor="ctr"/>
                </a:tc>
                <a:tc>
                  <a:txBody>
                    <a:bodyPr/>
                    <a:lstStyle/>
                    <a:p>
                      <a:pPr algn="ctr">
                        <a:buNone/>
                      </a:pPr>
                      <a:r>
                        <a:rPr lang="en-IN" dirty="0"/>
                        <a:t>Total quantity sold</a:t>
                      </a:r>
                    </a:p>
                  </a:txBody>
                  <a:tcPr anchor="ctr"/>
                </a:tc>
                <a:extLst>
                  <a:ext uri="{0D108BD9-81ED-4DB2-BD59-A6C34878D82A}">
                    <a16:rowId xmlns:a16="http://schemas.microsoft.com/office/drawing/2014/main" val="3434401555"/>
                  </a:ext>
                </a:extLst>
              </a:tr>
            </a:tbl>
          </a:graphicData>
        </a:graphic>
      </p:graphicFrame>
      <p:sp>
        <p:nvSpPr>
          <p:cNvPr id="8" name="TextBox 7">
            <a:extLst>
              <a:ext uri="{FF2B5EF4-FFF2-40B4-BE49-F238E27FC236}">
                <a16:creationId xmlns:a16="http://schemas.microsoft.com/office/drawing/2014/main" id="{A76ECCE3-9CA4-B142-8FA1-9BB88926EFA0}"/>
              </a:ext>
            </a:extLst>
          </p:cNvPr>
          <p:cNvSpPr txBox="1"/>
          <p:nvPr/>
        </p:nvSpPr>
        <p:spPr>
          <a:xfrm>
            <a:off x="577515" y="1184523"/>
            <a:ext cx="1138989" cy="369332"/>
          </a:xfrm>
          <a:prstGeom prst="rect">
            <a:avLst/>
          </a:prstGeom>
          <a:noFill/>
        </p:spPr>
        <p:txBody>
          <a:bodyPr wrap="square">
            <a:spAutoFit/>
          </a:bodyPr>
          <a:lstStyle/>
          <a:p>
            <a:r>
              <a:rPr lang="en-IN" dirty="0"/>
              <a:t>products</a:t>
            </a:r>
          </a:p>
        </p:txBody>
      </p:sp>
      <p:graphicFrame>
        <p:nvGraphicFramePr>
          <p:cNvPr id="10" name="Table 9">
            <a:extLst>
              <a:ext uri="{FF2B5EF4-FFF2-40B4-BE49-F238E27FC236}">
                <a16:creationId xmlns:a16="http://schemas.microsoft.com/office/drawing/2014/main" id="{23892F6D-1A67-EA75-0F99-C872F847D16A}"/>
              </a:ext>
            </a:extLst>
          </p:cNvPr>
          <p:cNvGraphicFramePr>
            <a:graphicFrameLocks noGrp="1"/>
          </p:cNvGraphicFramePr>
          <p:nvPr>
            <p:extLst>
              <p:ext uri="{D42A27DB-BD31-4B8C-83A1-F6EECF244321}">
                <p14:modId xmlns:p14="http://schemas.microsoft.com/office/powerpoint/2010/main" val="928435008"/>
              </p:ext>
            </p:extLst>
          </p:nvPr>
        </p:nvGraphicFramePr>
        <p:xfrm>
          <a:off x="6817895" y="1955633"/>
          <a:ext cx="4764504" cy="3845560"/>
        </p:xfrm>
        <a:graphic>
          <a:graphicData uri="http://schemas.openxmlformats.org/drawingml/2006/table">
            <a:tbl>
              <a:tblPr firstRow="1" bandRow="1">
                <a:tableStyleId>{5C22544A-7EE6-4342-B048-85BDC9FD1C3A}</a:tableStyleId>
              </a:tblPr>
              <a:tblGrid>
                <a:gridCol w="1588168">
                  <a:extLst>
                    <a:ext uri="{9D8B030D-6E8A-4147-A177-3AD203B41FA5}">
                      <a16:colId xmlns:a16="http://schemas.microsoft.com/office/drawing/2014/main" val="648025251"/>
                    </a:ext>
                  </a:extLst>
                </a:gridCol>
                <a:gridCol w="1588168">
                  <a:extLst>
                    <a:ext uri="{9D8B030D-6E8A-4147-A177-3AD203B41FA5}">
                      <a16:colId xmlns:a16="http://schemas.microsoft.com/office/drawing/2014/main" val="1824021443"/>
                    </a:ext>
                  </a:extLst>
                </a:gridCol>
                <a:gridCol w="1588168">
                  <a:extLst>
                    <a:ext uri="{9D8B030D-6E8A-4147-A177-3AD203B41FA5}">
                      <a16:colId xmlns:a16="http://schemas.microsoft.com/office/drawing/2014/main" val="1674365133"/>
                    </a:ext>
                  </a:extLst>
                </a:gridCol>
              </a:tblGrid>
              <a:tr h="370840">
                <a:tc>
                  <a:txBody>
                    <a:bodyPr/>
                    <a:lstStyle/>
                    <a:p>
                      <a:pPr algn="ctr">
                        <a:buNone/>
                      </a:pPr>
                      <a:r>
                        <a:rPr lang="en-IN" dirty="0"/>
                        <a:t>Column Name</a:t>
                      </a:r>
                    </a:p>
                  </a:txBody>
                  <a:tcPr anchor="ctr"/>
                </a:tc>
                <a:tc>
                  <a:txBody>
                    <a:bodyPr/>
                    <a:lstStyle/>
                    <a:p>
                      <a:pPr algn="ctr">
                        <a:buNone/>
                      </a:pPr>
                      <a:r>
                        <a:rPr lang="en-IN"/>
                        <a:t>Data Type</a:t>
                      </a:r>
                    </a:p>
                  </a:txBody>
                  <a:tcPr anchor="ctr"/>
                </a:tc>
                <a:tc>
                  <a:txBody>
                    <a:bodyPr/>
                    <a:lstStyle/>
                    <a:p>
                      <a:pPr algn="ctr">
                        <a:buNone/>
                      </a:pPr>
                      <a:r>
                        <a:rPr lang="en-IN"/>
                        <a:t>Description</a:t>
                      </a:r>
                    </a:p>
                  </a:txBody>
                  <a:tcPr anchor="ctr"/>
                </a:tc>
                <a:extLst>
                  <a:ext uri="{0D108BD9-81ED-4DB2-BD59-A6C34878D82A}">
                    <a16:rowId xmlns:a16="http://schemas.microsoft.com/office/drawing/2014/main" val="214018777"/>
                  </a:ext>
                </a:extLst>
              </a:tr>
              <a:tr h="370840">
                <a:tc>
                  <a:txBody>
                    <a:bodyPr/>
                    <a:lstStyle/>
                    <a:p>
                      <a:pPr algn="ctr">
                        <a:buNone/>
                      </a:pPr>
                      <a:r>
                        <a:rPr lang="en-IN"/>
                        <a:t>order_id</a:t>
                      </a:r>
                    </a:p>
                  </a:txBody>
                  <a:tcPr anchor="ctr"/>
                </a:tc>
                <a:tc>
                  <a:txBody>
                    <a:bodyPr/>
                    <a:lstStyle/>
                    <a:p>
                      <a:pPr algn="ctr">
                        <a:buNone/>
                      </a:pPr>
                      <a:r>
                        <a:rPr lang="en-IN"/>
                        <a:t>SERIAL</a:t>
                      </a:r>
                    </a:p>
                  </a:txBody>
                  <a:tcPr anchor="ctr"/>
                </a:tc>
                <a:tc>
                  <a:txBody>
                    <a:bodyPr/>
                    <a:lstStyle/>
                    <a:p>
                      <a:pPr algn="ctr">
                        <a:buNone/>
                      </a:pPr>
                      <a:r>
                        <a:rPr lang="en-IN"/>
                        <a:t>Unique order ID</a:t>
                      </a:r>
                    </a:p>
                  </a:txBody>
                  <a:tcPr anchor="ctr"/>
                </a:tc>
                <a:extLst>
                  <a:ext uri="{0D108BD9-81ED-4DB2-BD59-A6C34878D82A}">
                    <a16:rowId xmlns:a16="http://schemas.microsoft.com/office/drawing/2014/main" val="1424295524"/>
                  </a:ext>
                </a:extLst>
              </a:tr>
              <a:tr h="370840">
                <a:tc>
                  <a:txBody>
                    <a:bodyPr/>
                    <a:lstStyle/>
                    <a:p>
                      <a:pPr algn="ctr">
                        <a:buNone/>
                      </a:pPr>
                      <a:r>
                        <a:rPr lang="en-IN"/>
                        <a:t>order_date</a:t>
                      </a:r>
                    </a:p>
                  </a:txBody>
                  <a:tcPr anchor="ctr"/>
                </a:tc>
                <a:tc>
                  <a:txBody>
                    <a:bodyPr/>
                    <a:lstStyle/>
                    <a:p>
                      <a:pPr algn="ctr">
                        <a:buNone/>
                      </a:pPr>
                      <a:r>
                        <a:rPr lang="en-IN" dirty="0"/>
                        <a:t>DATE</a:t>
                      </a:r>
                    </a:p>
                  </a:txBody>
                  <a:tcPr anchor="ctr"/>
                </a:tc>
                <a:tc>
                  <a:txBody>
                    <a:bodyPr/>
                    <a:lstStyle/>
                    <a:p>
                      <a:pPr algn="ctr">
                        <a:buNone/>
                      </a:pPr>
                      <a:r>
                        <a:rPr lang="en-IN"/>
                        <a:t>Date on which order was placed</a:t>
                      </a:r>
                    </a:p>
                  </a:txBody>
                  <a:tcPr anchor="ctr"/>
                </a:tc>
                <a:extLst>
                  <a:ext uri="{0D108BD9-81ED-4DB2-BD59-A6C34878D82A}">
                    <a16:rowId xmlns:a16="http://schemas.microsoft.com/office/drawing/2014/main" val="52050445"/>
                  </a:ext>
                </a:extLst>
              </a:tr>
              <a:tr h="370840">
                <a:tc>
                  <a:txBody>
                    <a:bodyPr/>
                    <a:lstStyle/>
                    <a:p>
                      <a:pPr algn="ctr">
                        <a:buNone/>
                      </a:pPr>
                      <a:r>
                        <a:rPr lang="en-IN"/>
                        <a:t>product_code</a:t>
                      </a:r>
                    </a:p>
                  </a:txBody>
                  <a:tcPr anchor="ctr"/>
                </a:tc>
                <a:tc>
                  <a:txBody>
                    <a:bodyPr/>
                    <a:lstStyle/>
                    <a:p>
                      <a:pPr algn="ctr">
                        <a:buNone/>
                      </a:pPr>
                      <a:r>
                        <a:rPr lang="en-IN"/>
                        <a:t>VARCHAR(10)</a:t>
                      </a:r>
                    </a:p>
                  </a:txBody>
                  <a:tcPr anchor="ctr"/>
                </a:tc>
                <a:tc>
                  <a:txBody>
                    <a:bodyPr/>
                    <a:lstStyle/>
                    <a:p>
                      <a:pPr algn="ctr">
                        <a:buNone/>
                      </a:pPr>
                      <a:r>
                        <a:rPr lang="en-IN"/>
                        <a:t>Product purchased</a:t>
                      </a:r>
                    </a:p>
                  </a:txBody>
                  <a:tcPr anchor="ctr"/>
                </a:tc>
                <a:extLst>
                  <a:ext uri="{0D108BD9-81ED-4DB2-BD59-A6C34878D82A}">
                    <a16:rowId xmlns:a16="http://schemas.microsoft.com/office/drawing/2014/main" val="1598565571"/>
                  </a:ext>
                </a:extLst>
              </a:tr>
              <a:tr h="370840">
                <a:tc>
                  <a:txBody>
                    <a:bodyPr/>
                    <a:lstStyle/>
                    <a:p>
                      <a:pPr algn="ctr">
                        <a:buNone/>
                      </a:pPr>
                      <a:r>
                        <a:rPr lang="en-IN"/>
                        <a:t>quantity_ordered</a:t>
                      </a:r>
                    </a:p>
                  </a:txBody>
                  <a:tcPr anchor="ctr"/>
                </a:tc>
                <a:tc>
                  <a:txBody>
                    <a:bodyPr/>
                    <a:lstStyle/>
                    <a:p>
                      <a:pPr algn="ctr">
                        <a:buNone/>
                      </a:pPr>
                      <a:r>
                        <a:rPr lang="en-IN"/>
                        <a:t>INT</a:t>
                      </a:r>
                    </a:p>
                  </a:txBody>
                  <a:tcPr anchor="ctr"/>
                </a:tc>
                <a:tc>
                  <a:txBody>
                    <a:bodyPr/>
                    <a:lstStyle/>
                    <a:p>
                      <a:pPr algn="ctr">
                        <a:buNone/>
                      </a:pPr>
                      <a:r>
                        <a:rPr lang="en-IN"/>
                        <a:t>Quantity purchased</a:t>
                      </a:r>
                    </a:p>
                  </a:txBody>
                  <a:tcPr anchor="ctr"/>
                </a:tc>
                <a:extLst>
                  <a:ext uri="{0D108BD9-81ED-4DB2-BD59-A6C34878D82A}">
                    <a16:rowId xmlns:a16="http://schemas.microsoft.com/office/drawing/2014/main" val="3744839248"/>
                  </a:ext>
                </a:extLst>
              </a:tr>
              <a:tr h="370840">
                <a:tc>
                  <a:txBody>
                    <a:bodyPr/>
                    <a:lstStyle/>
                    <a:p>
                      <a:pPr algn="ctr">
                        <a:buNone/>
                      </a:pPr>
                      <a:r>
                        <a:rPr lang="en-IN"/>
                        <a:t>sale_price</a:t>
                      </a:r>
                    </a:p>
                  </a:txBody>
                  <a:tcPr anchor="ctr"/>
                </a:tc>
                <a:tc>
                  <a:txBody>
                    <a:bodyPr/>
                    <a:lstStyle/>
                    <a:p>
                      <a:pPr algn="ctr">
                        <a:buNone/>
                      </a:pPr>
                      <a:r>
                        <a:rPr lang="en-IN"/>
                        <a:t>NUMERIC(10,2)</a:t>
                      </a:r>
                    </a:p>
                  </a:txBody>
                  <a:tcPr anchor="ctr"/>
                </a:tc>
                <a:tc>
                  <a:txBody>
                    <a:bodyPr/>
                    <a:lstStyle/>
                    <a:p>
                      <a:pPr algn="ctr">
                        <a:buNone/>
                      </a:pPr>
                      <a:r>
                        <a:rPr lang="en-IN" dirty="0"/>
                        <a:t>Total order amount</a:t>
                      </a:r>
                    </a:p>
                  </a:txBody>
                  <a:tcPr anchor="ctr"/>
                </a:tc>
                <a:extLst>
                  <a:ext uri="{0D108BD9-81ED-4DB2-BD59-A6C34878D82A}">
                    <a16:rowId xmlns:a16="http://schemas.microsoft.com/office/drawing/2014/main" val="3434401555"/>
                  </a:ext>
                </a:extLst>
              </a:tr>
            </a:tbl>
          </a:graphicData>
        </a:graphic>
      </p:graphicFrame>
      <p:sp>
        <p:nvSpPr>
          <p:cNvPr id="12" name="TextBox 11">
            <a:extLst>
              <a:ext uri="{FF2B5EF4-FFF2-40B4-BE49-F238E27FC236}">
                <a16:creationId xmlns:a16="http://schemas.microsoft.com/office/drawing/2014/main" id="{3510755F-22DC-4BA8-B513-3693A0A9A670}"/>
              </a:ext>
            </a:extLst>
          </p:cNvPr>
          <p:cNvSpPr txBox="1"/>
          <p:nvPr/>
        </p:nvSpPr>
        <p:spPr>
          <a:xfrm>
            <a:off x="7106653" y="1369189"/>
            <a:ext cx="770020" cy="369332"/>
          </a:xfrm>
          <a:prstGeom prst="rect">
            <a:avLst/>
          </a:prstGeom>
          <a:noFill/>
        </p:spPr>
        <p:txBody>
          <a:bodyPr wrap="square">
            <a:spAutoFit/>
          </a:bodyPr>
          <a:lstStyle/>
          <a:p>
            <a:r>
              <a:rPr lang="en-IN" dirty="0"/>
              <a:t>sales</a:t>
            </a:r>
          </a:p>
        </p:txBody>
      </p:sp>
    </p:spTree>
    <p:extLst>
      <p:ext uri="{BB962C8B-B14F-4D97-AF65-F5344CB8AC3E}">
        <p14:creationId xmlns:p14="http://schemas.microsoft.com/office/powerpoint/2010/main" val="16283200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496</Words>
  <Application>Microsoft Office PowerPoint</Application>
  <PresentationFormat>Widescreen</PresentationFormat>
  <Paragraphs>84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Stored Procedures Experiment 09</vt:lpstr>
      <vt:lpstr>Problem Statement                                              [Medium]</vt:lpstr>
      <vt:lpstr>Problem Statement                                                   [Hard]</vt:lpstr>
      <vt:lpstr>Problem Statement                                                   [Hard]</vt:lpstr>
      <vt:lpstr>Problem Statement                                                   [Hard]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9</cp:revision>
  <dcterms:created xsi:type="dcterms:W3CDTF">2026-07-02T16:54:48Z</dcterms:created>
  <dcterms:modified xsi:type="dcterms:W3CDTF">2026-09-11T14:36:24Z</dcterms:modified>
</cp:coreProperties>
</file>