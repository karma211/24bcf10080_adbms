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715EB-7828-D091-5E18-78CF487E87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85EAB2-3A0D-C2AA-42BF-F5E07BBF4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8479F0A-9CC2-5217-8A2E-18AA564C4743}"/>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2EC0D776-915B-73AD-1742-39FD865EAF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BA10C8-9D1C-5474-325B-D11B0CDC8E5F}"/>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270580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F86F-872A-3036-A2FE-0DE4D8B7F3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708B29-6B4C-E754-C096-500248BAEB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6B0EE-7D7F-AB74-9BEB-1065CDC2A211}"/>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6D09BAEF-575D-782C-567E-0271FCB60C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185A1A-05FA-B02D-3558-DA64B8B9B54B}"/>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1158487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0194-789F-9026-FDAF-4893E3A21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0E4994-8030-F269-A2B6-6E325DB59A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409C15-D87E-1AAD-D27E-A34D4F8D7E0D}"/>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1CC2FFCD-4080-2AF3-E441-AE7D4D1BF1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21ECC5-9968-BE5A-53B0-C347B4532542}"/>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1775663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D95D-0EF5-F1C8-E457-F1233F18BEB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3CA55A-DEF0-FEF8-6BDB-8175AE345D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A3E378-A904-5D5B-42D9-83A778E4F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1472CC-02AF-CBA7-9562-CE89EDBE0A27}"/>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6" name="Footer Placeholder 5">
            <a:extLst>
              <a:ext uri="{FF2B5EF4-FFF2-40B4-BE49-F238E27FC236}">
                <a16:creationId xmlns:a16="http://schemas.microsoft.com/office/drawing/2014/main" id="{48ACE164-A30D-E842-8112-CE13278C75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1C358D-56E4-6EC0-FC9E-298B3D7958DB}"/>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362737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8C665-31B9-B715-DE20-0C41F7C2D17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22A01B-0782-BF62-E934-1A7A0CEFA8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5BFEA0-48E9-E9C6-768B-1C8A03B3F5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615B83-BBFA-0122-E209-E00D339D7E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D137A-D672-45F6-8C8B-F606DEBA8E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AB8B32F-067E-ED6A-1AF3-0FCAB19F9C72}"/>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8" name="Footer Placeholder 7">
            <a:extLst>
              <a:ext uri="{FF2B5EF4-FFF2-40B4-BE49-F238E27FC236}">
                <a16:creationId xmlns:a16="http://schemas.microsoft.com/office/drawing/2014/main" id="{FBA42227-5B34-48A9-B2BE-5C26F3079B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A24A82-AEC5-826A-3710-EAE905F05108}"/>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3311095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0FA27-5793-74BE-2DAA-ABDDAA143EB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E619756-FD1E-615A-8C82-0AF66D9FECBC}"/>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4" name="Footer Placeholder 3">
            <a:extLst>
              <a:ext uri="{FF2B5EF4-FFF2-40B4-BE49-F238E27FC236}">
                <a16:creationId xmlns:a16="http://schemas.microsoft.com/office/drawing/2014/main" id="{364CBBB7-846F-EF20-925A-6B3D951369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B85B492-F051-F12B-51E5-309C92D9DEFC}"/>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1728789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BA97A8-60DB-535F-4FCF-000A4ED30ED0}"/>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3" name="Footer Placeholder 2">
            <a:extLst>
              <a:ext uri="{FF2B5EF4-FFF2-40B4-BE49-F238E27FC236}">
                <a16:creationId xmlns:a16="http://schemas.microsoft.com/office/drawing/2014/main" id="{FD5019DF-ED92-5146-2EBA-EE60397111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CFC33F-5ABA-4D7D-17B3-6D75B296FE7D}"/>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274143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FBB09-7E78-E7C7-C607-253DFB2BB9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52C19A3-CFC6-AF69-BE3A-AB545D4516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98F01E-E8B9-13DD-701B-FC9DF97438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62DAB7-C44F-0046-433D-5F35F1328C35}"/>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6" name="Footer Placeholder 5">
            <a:extLst>
              <a:ext uri="{FF2B5EF4-FFF2-40B4-BE49-F238E27FC236}">
                <a16:creationId xmlns:a16="http://schemas.microsoft.com/office/drawing/2014/main" id="{06E6657E-7579-7C98-5AE6-C48858A86C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DBD1DF-C8B6-841F-9FC1-184509176742}"/>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1882202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E924-288F-E77B-B6C4-26AE1F0720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99A8F0-01BF-319D-7B7C-D0CDA738D2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2DC96D-CD21-0593-309F-697CC81F56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290E8-9CF4-4CFA-1F49-90A5D4E1B628}"/>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6" name="Footer Placeholder 5">
            <a:extLst>
              <a:ext uri="{FF2B5EF4-FFF2-40B4-BE49-F238E27FC236}">
                <a16:creationId xmlns:a16="http://schemas.microsoft.com/office/drawing/2014/main" id="{F1C4F2DE-0E57-B12D-7CC5-8FE23EC9C7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4D29719-E954-D1DC-3B42-C1B5842FAD55}"/>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705770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79209-245A-224B-2B22-F6101EF188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743661-D309-3359-5E4D-4AAB7F4334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9915FB-D785-45BE-ED43-3E03AB847BC4}"/>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755C2CC7-93A1-56AD-E5A5-99B61F0334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286506-9B19-4E42-AE0C-66B948267440}"/>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55910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AC993-CC3A-7E2A-06F5-22514F06B5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44F27B-6B26-BFC5-47A2-0367D2D610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DA8FC9-76F4-5536-8DE1-5ED447920D3C}"/>
              </a:ext>
            </a:extLst>
          </p:cNvPr>
          <p:cNvSpPr>
            <a:spLocks noGrp="1"/>
          </p:cNvSpPr>
          <p:nvPr>
            <p:ph type="dt" sz="half" idx="10"/>
          </p:nvPr>
        </p:nvSpPr>
        <p:spPr/>
        <p:txBody>
          <a:body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E53B0D7D-2EC0-D93E-CAED-B1E5C751CF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44E252-CC1F-A228-6041-7F17A08BA669}"/>
              </a:ext>
            </a:extLst>
          </p:cNvPr>
          <p:cNvSpPr>
            <a:spLocks noGrp="1"/>
          </p:cNvSpPr>
          <p:nvPr>
            <p:ph type="sldNum" sz="quarter" idx="12"/>
          </p:nvPr>
        </p:nvSpPr>
        <p:spPr/>
        <p:txBody>
          <a:bodyPr/>
          <a:lstStyle/>
          <a:p>
            <a:fld id="{641D2DB9-9E59-4912-907D-7952AC2836CC}" type="slidenum">
              <a:rPr lang="en-IN" smtClean="0"/>
              <a:t>‹#›</a:t>
            </a:fld>
            <a:endParaRPr lang="en-IN"/>
          </a:p>
        </p:txBody>
      </p:sp>
    </p:spTree>
    <p:extLst>
      <p:ext uri="{BB962C8B-B14F-4D97-AF65-F5344CB8AC3E}">
        <p14:creationId xmlns:p14="http://schemas.microsoft.com/office/powerpoint/2010/main" val="217051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7F3B32-1BE9-D958-DB61-339C9244DE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F1301B-E5C4-DE38-9177-F1F242133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005C54-DB6A-3092-D08A-E3E052B2D0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BC633-0CFD-4996-992F-58888DFC6CE6}" type="datetimeFigureOut">
              <a:rPr lang="en-IN" smtClean="0"/>
              <a:t>12-07-2026</a:t>
            </a:fld>
            <a:endParaRPr lang="en-IN"/>
          </a:p>
        </p:txBody>
      </p:sp>
      <p:sp>
        <p:nvSpPr>
          <p:cNvPr id="5" name="Footer Placeholder 4">
            <a:extLst>
              <a:ext uri="{FF2B5EF4-FFF2-40B4-BE49-F238E27FC236}">
                <a16:creationId xmlns:a16="http://schemas.microsoft.com/office/drawing/2014/main" id="{379E791B-56D3-55A7-4548-7798D1DD4F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4DB6F2-F76B-A389-9123-BE569FFDE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1D2DB9-9E59-4912-907D-7952AC2836CC}" type="slidenum">
              <a:rPr lang="en-IN" smtClean="0"/>
              <a:t>‹#›</a:t>
            </a:fld>
            <a:endParaRPr lang="en-IN"/>
          </a:p>
        </p:txBody>
      </p:sp>
      <p:pic>
        <p:nvPicPr>
          <p:cNvPr id="7" name="Picture 6">
            <a:extLst>
              <a:ext uri="{FF2B5EF4-FFF2-40B4-BE49-F238E27FC236}">
                <a16:creationId xmlns:a16="http://schemas.microsoft.com/office/drawing/2014/main" id="{E7412AAD-F361-A9EA-53A6-D69CA02FAC06}"/>
              </a:ext>
            </a:extLst>
          </p:cNvPr>
          <p:cNvPicPr>
            <a:picLocks noChangeAspect="1"/>
          </p:cNvPicPr>
          <p:nvPr userDrawn="1"/>
        </p:nvPicPr>
        <p:blipFill>
          <a:blip r:embed="rId13"/>
          <a:stretch>
            <a:fillRect/>
          </a:stretch>
        </p:blipFill>
        <p:spPr>
          <a:xfrm>
            <a:off x="0" y="27493"/>
            <a:ext cx="11839074" cy="540327"/>
          </a:xfrm>
          <a:prstGeom prst="rect">
            <a:avLst/>
          </a:prstGeom>
        </p:spPr>
      </p:pic>
      <p:pic>
        <p:nvPicPr>
          <p:cNvPr id="9" name="Picture 8">
            <a:extLst>
              <a:ext uri="{FF2B5EF4-FFF2-40B4-BE49-F238E27FC236}">
                <a16:creationId xmlns:a16="http://schemas.microsoft.com/office/drawing/2014/main" id="{E3CDEF34-E021-3B8C-7331-0BA6A92F3063}"/>
              </a:ext>
            </a:extLst>
          </p:cNvPr>
          <p:cNvPicPr>
            <a:picLocks noChangeAspect="1"/>
          </p:cNvPicPr>
          <p:nvPr userDrawn="1"/>
        </p:nvPicPr>
        <p:blipFill>
          <a:blip r:embed="rId14"/>
          <a:stretch>
            <a:fillRect/>
          </a:stretch>
        </p:blipFill>
        <p:spPr>
          <a:xfrm>
            <a:off x="75946" y="11272"/>
            <a:ext cx="11904453" cy="500332"/>
          </a:xfrm>
          <a:prstGeom prst="rect">
            <a:avLst/>
          </a:prstGeom>
        </p:spPr>
      </p:pic>
    </p:spTree>
    <p:extLst>
      <p:ext uri="{BB962C8B-B14F-4D97-AF65-F5344CB8AC3E}">
        <p14:creationId xmlns:p14="http://schemas.microsoft.com/office/powerpoint/2010/main" val="2077120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CE5B2-002D-E671-82F3-7143749C6FDF}"/>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sp>
        <p:nvSpPr>
          <p:cNvPr id="3" name="Content Placeholder 2">
            <a:extLst>
              <a:ext uri="{FF2B5EF4-FFF2-40B4-BE49-F238E27FC236}">
                <a16:creationId xmlns:a16="http://schemas.microsoft.com/office/drawing/2014/main" id="{64C43470-4C52-4C5B-E043-AE02697836A7}"/>
              </a:ext>
            </a:extLst>
          </p:cNvPr>
          <p:cNvSpPr>
            <a:spLocks noGrp="1"/>
          </p:cNvSpPr>
          <p:nvPr>
            <p:ph idx="1"/>
          </p:nvPr>
        </p:nvSpPr>
        <p:spPr>
          <a:xfrm>
            <a:off x="838200" y="1203159"/>
            <a:ext cx="10515600" cy="4973804"/>
          </a:xfrm>
        </p:spPr>
        <p:txBody>
          <a:bodyPr/>
          <a:lstStyle/>
          <a:p>
            <a:r>
              <a:rPr lang="en-IN" dirty="0"/>
              <a:t> </a:t>
            </a:r>
            <a:r>
              <a:rPr lang="en-IN" b="1" dirty="0"/>
              <a:t>(A)</a:t>
            </a:r>
            <a:br>
              <a:rPr lang="en-IN" b="1" dirty="0"/>
            </a:br>
            <a:r>
              <a:rPr lang="en-IN" sz="2600" dirty="0"/>
              <a:t>A university administration requires an analytical performance report for each academic unit. Write a PostgreSQL solution to calculate the average marks scored by students grouped by their respective departments. The solution must join the student profile, course subjects, and grade marks tables, returning a breakdown sorted by the highest average marks down to the lowest</a:t>
            </a:r>
            <a:r>
              <a:rPr lang="en-IN" dirty="0"/>
              <a:t>.</a:t>
            </a:r>
          </a:p>
          <a:p>
            <a:pPr marL="0" indent="0">
              <a:buNone/>
            </a:pPr>
            <a:br>
              <a:rPr lang="en-IN" dirty="0"/>
            </a:br>
            <a:endParaRPr lang="en-IN" dirty="0"/>
          </a:p>
        </p:txBody>
      </p:sp>
      <p:graphicFrame>
        <p:nvGraphicFramePr>
          <p:cNvPr id="5" name="Table 4">
            <a:extLst>
              <a:ext uri="{FF2B5EF4-FFF2-40B4-BE49-F238E27FC236}">
                <a16:creationId xmlns:a16="http://schemas.microsoft.com/office/drawing/2014/main" id="{10B10608-F68E-30D5-4C91-7D71966E82C2}"/>
              </a:ext>
            </a:extLst>
          </p:cNvPr>
          <p:cNvGraphicFramePr>
            <a:graphicFrameLocks noGrp="1"/>
          </p:cNvGraphicFramePr>
          <p:nvPr>
            <p:extLst>
              <p:ext uri="{D42A27DB-BD31-4B8C-83A1-F6EECF244321}">
                <p14:modId xmlns:p14="http://schemas.microsoft.com/office/powerpoint/2010/main" val="10856216"/>
              </p:ext>
            </p:extLst>
          </p:nvPr>
        </p:nvGraphicFramePr>
        <p:xfrm>
          <a:off x="998728" y="5337386"/>
          <a:ext cx="4999736" cy="1112520"/>
        </p:xfrm>
        <a:graphic>
          <a:graphicData uri="http://schemas.openxmlformats.org/drawingml/2006/table">
            <a:tbl>
              <a:tblPr firstRow="1" bandRow="1">
                <a:tableStyleId>{5C22544A-7EE6-4342-B048-85BDC9FD1C3A}</a:tableStyleId>
              </a:tblPr>
              <a:tblGrid>
                <a:gridCol w="2499868">
                  <a:extLst>
                    <a:ext uri="{9D8B030D-6E8A-4147-A177-3AD203B41FA5}">
                      <a16:colId xmlns:a16="http://schemas.microsoft.com/office/drawing/2014/main" val="4232138731"/>
                    </a:ext>
                  </a:extLst>
                </a:gridCol>
                <a:gridCol w="2499868">
                  <a:extLst>
                    <a:ext uri="{9D8B030D-6E8A-4147-A177-3AD203B41FA5}">
                      <a16:colId xmlns:a16="http://schemas.microsoft.com/office/drawing/2014/main" val="2536515056"/>
                    </a:ext>
                  </a:extLst>
                </a:gridCol>
              </a:tblGrid>
              <a:tr h="370840">
                <a:tc>
                  <a:txBody>
                    <a:bodyPr/>
                    <a:lstStyle/>
                    <a:p>
                      <a:pPr>
                        <a:buNone/>
                      </a:pPr>
                      <a:r>
                        <a:rPr lang="en-IN" dirty="0"/>
                        <a:t>Department</a:t>
                      </a:r>
                    </a:p>
                  </a:txBody>
                  <a:tcPr anchor="ctr"/>
                </a:tc>
                <a:tc>
                  <a:txBody>
                    <a:bodyPr/>
                    <a:lstStyle/>
                    <a:p>
                      <a:pPr>
                        <a:buNone/>
                      </a:pPr>
                      <a:r>
                        <a:rPr lang="en-IN"/>
                        <a:t>Average Marks</a:t>
                      </a:r>
                    </a:p>
                  </a:txBody>
                  <a:tcPr anchor="ctr"/>
                </a:tc>
                <a:extLst>
                  <a:ext uri="{0D108BD9-81ED-4DB2-BD59-A6C34878D82A}">
                    <a16:rowId xmlns:a16="http://schemas.microsoft.com/office/drawing/2014/main" val="4238593205"/>
                  </a:ext>
                </a:extLst>
              </a:tr>
              <a:tr h="370840">
                <a:tc>
                  <a:txBody>
                    <a:bodyPr/>
                    <a:lstStyle/>
                    <a:p>
                      <a:pPr>
                        <a:buNone/>
                      </a:pPr>
                      <a:r>
                        <a:rPr lang="en-IN"/>
                        <a:t>Mathematics</a:t>
                      </a:r>
                    </a:p>
                  </a:txBody>
                  <a:tcPr anchor="ctr"/>
                </a:tc>
                <a:tc>
                  <a:txBody>
                    <a:bodyPr/>
                    <a:lstStyle/>
                    <a:p>
                      <a:pPr>
                        <a:buNone/>
                      </a:pPr>
                      <a:r>
                        <a:rPr lang="en-IN"/>
                        <a:t>95.00</a:t>
                      </a:r>
                    </a:p>
                  </a:txBody>
                  <a:tcPr anchor="ctr"/>
                </a:tc>
                <a:extLst>
                  <a:ext uri="{0D108BD9-81ED-4DB2-BD59-A6C34878D82A}">
                    <a16:rowId xmlns:a16="http://schemas.microsoft.com/office/drawing/2014/main" val="897908766"/>
                  </a:ext>
                </a:extLst>
              </a:tr>
              <a:tr h="370840">
                <a:tc>
                  <a:txBody>
                    <a:bodyPr/>
                    <a:lstStyle/>
                    <a:p>
                      <a:pPr>
                        <a:buNone/>
                      </a:pPr>
                      <a:r>
                        <a:rPr lang="en-IN"/>
                        <a:t>Computer Science</a:t>
                      </a:r>
                    </a:p>
                  </a:txBody>
                  <a:tcPr anchor="ctr"/>
                </a:tc>
                <a:tc>
                  <a:txBody>
                    <a:bodyPr/>
                    <a:lstStyle/>
                    <a:p>
                      <a:pPr>
                        <a:buNone/>
                      </a:pPr>
                      <a:r>
                        <a:rPr lang="en-IN" dirty="0"/>
                        <a:t>83.33</a:t>
                      </a:r>
                    </a:p>
                  </a:txBody>
                  <a:tcPr anchor="ctr"/>
                </a:tc>
                <a:extLst>
                  <a:ext uri="{0D108BD9-81ED-4DB2-BD59-A6C34878D82A}">
                    <a16:rowId xmlns:a16="http://schemas.microsoft.com/office/drawing/2014/main" val="3534860324"/>
                  </a:ext>
                </a:extLst>
              </a:tr>
            </a:tbl>
          </a:graphicData>
        </a:graphic>
      </p:graphicFrame>
      <p:sp>
        <p:nvSpPr>
          <p:cNvPr id="6" name="TextBox 5">
            <a:extLst>
              <a:ext uri="{FF2B5EF4-FFF2-40B4-BE49-F238E27FC236}">
                <a16:creationId xmlns:a16="http://schemas.microsoft.com/office/drawing/2014/main" id="{C33F26F8-AE82-2775-3F3F-8DB2FBFC1514}"/>
              </a:ext>
            </a:extLst>
          </p:cNvPr>
          <p:cNvSpPr txBox="1"/>
          <p:nvPr/>
        </p:nvSpPr>
        <p:spPr>
          <a:xfrm>
            <a:off x="1124712" y="4581144"/>
            <a:ext cx="2624328" cy="369332"/>
          </a:xfrm>
          <a:prstGeom prst="rect">
            <a:avLst/>
          </a:prstGeom>
          <a:noFill/>
        </p:spPr>
        <p:txBody>
          <a:bodyPr wrap="square" rtlCol="0">
            <a:spAutoFit/>
          </a:bodyPr>
          <a:lstStyle/>
          <a:p>
            <a:r>
              <a:rPr lang="en-US" dirty="0"/>
              <a:t>Output</a:t>
            </a:r>
            <a:endParaRPr lang="en-IN" dirty="0"/>
          </a:p>
        </p:txBody>
      </p:sp>
      <p:sp>
        <p:nvSpPr>
          <p:cNvPr id="8" name="TextBox 7">
            <a:extLst>
              <a:ext uri="{FF2B5EF4-FFF2-40B4-BE49-F238E27FC236}">
                <a16:creationId xmlns:a16="http://schemas.microsoft.com/office/drawing/2014/main" id="{E7A1C1D1-C824-3547-9649-47E8A03FDED9}"/>
              </a:ext>
            </a:extLst>
          </p:cNvPr>
          <p:cNvSpPr txBox="1"/>
          <p:nvPr/>
        </p:nvSpPr>
        <p:spPr>
          <a:xfrm>
            <a:off x="9817608" y="930216"/>
            <a:ext cx="2624328" cy="369332"/>
          </a:xfrm>
          <a:prstGeom prst="rect">
            <a:avLst/>
          </a:prstGeom>
          <a:noFill/>
        </p:spPr>
        <p:txBody>
          <a:bodyPr wrap="square" rtlCol="0">
            <a:spAutoFit/>
          </a:bodyPr>
          <a:lstStyle/>
          <a:p>
            <a:r>
              <a:rPr lang="en-US" dirty="0"/>
              <a:t>Level: Easy</a:t>
            </a:r>
            <a:endParaRPr lang="en-IN" dirty="0"/>
          </a:p>
        </p:txBody>
      </p:sp>
    </p:spTree>
    <p:extLst>
      <p:ext uri="{BB962C8B-B14F-4D97-AF65-F5344CB8AC3E}">
        <p14:creationId xmlns:p14="http://schemas.microsoft.com/office/powerpoint/2010/main" val="2176474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406E4-05E7-A08B-F97C-88DEBB18B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3EA51-90D8-33AF-C39C-96EF19ECF366}"/>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sp>
        <p:nvSpPr>
          <p:cNvPr id="4" name="TextBox 3">
            <a:extLst>
              <a:ext uri="{FF2B5EF4-FFF2-40B4-BE49-F238E27FC236}">
                <a16:creationId xmlns:a16="http://schemas.microsoft.com/office/drawing/2014/main" id="{1940B6A2-C0F0-248F-43A5-BF5CB7198FA4}"/>
              </a:ext>
            </a:extLst>
          </p:cNvPr>
          <p:cNvSpPr txBox="1"/>
          <p:nvPr/>
        </p:nvSpPr>
        <p:spPr>
          <a:xfrm>
            <a:off x="838200" y="1203159"/>
            <a:ext cx="10710672" cy="2308324"/>
          </a:xfrm>
          <a:prstGeom prst="rect">
            <a:avLst/>
          </a:prstGeom>
          <a:noFill/>
        </p:spPr>
        <p:txBody>
          <a:bodyPr wrap="square">
            <a:spAutoFit/>
          </a:bodyPr>
          <a:lstStyle/>
          <a:p>
            <a:pPr>
              <a:buNone/>
            </a:pPr>
            <a:r>
              <a:rPr lang="en-IN" dirty="0"/>
              <a:t>A multinational organization maintains separate records for employee information and department details. The management wants to identify the employees who receive the highest salary within their respective departments for an annual performance report.</a:t>
            </a:r>
          </a:p>
          <a:p>
            <a:pPr>
              <a:buNone/>
            </a:pPr>
            <a:r>
              <a:rPr lang="en-IN" dirty="0"/>
              <a:t>If more than one employee earns the same highest salary in a department, all such employees should be included in the report. The final output should display the </a:t>
            </a:r>
            <a:r>
              <a:rPr lang="en-IN" b="1" dirty="0"/>
              <a:t>Department Name</a:t>
            </a:r>
            <a:r>
              <a:rPr lang="en-IN" dirty="0"/>
              <a:t>, </a:t>
            </a:r>
            <a:r>
              <a:rPr lang="en-IN" b="1" dirty="0"/>
              <a:t>Employee Name</a:t>
            </a:r>
            <a:r>
              <a:rPr lang="en-IN" dirty="0"/>
              <a:t>, and </a:t>
            </a:r>
            <a:r>
              <a:rPr lang="en-IN" b="1" dirty="0"/>
              <a:t>Salary</a:t>
            </a:r>
            <a:r>
              <a:rPr lang="en-IN" dirty="0"/>
              <a:t>, arranged in ascending order of department name.</a:t>
            </a:r>
          </a:p>
          <a:p>
            <a:pPr>
              <a:buNone/>
            </a:pPr>
            <a:endParaRPr lang="en-IN" dirty="0"/>
          </a:p>
          <a:p>
            <a:pPr>
              <a:buNone/>
            </a:pPr>
            <a:r>
              <a:rPr lang="en-IN" b="1" dirty="0"/>
              <a:t>Note:</a:t>
            </a:r>
            <a:r>
              <a:rPr lang="en-IN" dirty="0"/>
              <a:t> The employee and department information are maintained in separate normalized tables.</a:t>
            </a:r>
          </a:p>
        </p:txBody>
      </p:sp>
      <p:pic>
        <p:nvPicPr>
          <p:cNvPr id="7" name="Picture 6">
            <a:extLst>
              <a:ext uri="{FF2B5EF4-FFF2-40B4-BE49-F238E27FC236}">
                <a16:creationId xmlns:a16="http://schemas.microsoft.com/office/drawing/2014/main" id="{E2A26FE3-58DA-A398-A8B1-BE81ECFD2B6D}"/>
              </a:ext>
            </a:extLst>
          </p:cNvPr>
          <p:cNvPicPr>
            <a:picLocks noChangeAspect="1"/>
          </p:cNvPicPr>
          <p:nvPr/>
        </p:nvPicPr>
        <p:blipFill>
          <a:blip r:embed="rId2"/>
          <a:stretch>
            <a:fillRect/>
          </a:stretch>
        </p:blipFill>
        <p:spPr>
          <a:xfrm>
            <a:off x="253222" y="4039959"/>
            <a:ext cx="5032009" cy="1938678"/>
          </a:xfrm>
          <a:prstGeom prst="rect">
            <a:avLst/>
          </a:prstGeom>
        </p:spPr>
      </p:pic>
      <p:pic>
        <p:nvPicPr>
          <p:cNvPr id="9" name="Picture 8">
            <a:extLst>
              <a:ext uri="{FF2B5EF4-FFF2-40B4-BE49-F238E27FC236}">
                <a16:creationId xmlns:a16="http://schemas.microsoft.com/office/drawing/2014/main" id="{C3066C5F-DED5-21EC-C43F-C8F10EF26707}"/>
              </a:ext>
            </a:extLst>
          </p:cNvPr>
          <p:cNvPicPr>
            <a:picLocks noChangeAspect="1"/>
          </p:cNvPicPr>
          <p:nvPr/>
        </p:nvPicPr>
        <p:blipFill>
          <a:blip r:embed="rId3"/>
          <a:stretch>
            <a:fillRect/>
          </a:stretch>
        </p:blipFill>
        <p:spPr>
          <a:xfrm>
            <a:off x="6028031" y="4305285"/>
            <a:ext cx="4524145" cy="1673352"/>
          </a:xfrm>
          <a:prstGeom prst="rect">
            <a:avLst/>
          </a:prstGeom>
        </p:spPr>
      </p:pic>
    </p:spTree>
    <p:extLst>
      <p:ext uri="{BB962C8B-B14F-4D97-AF65-F5344CB8AC3E}">
        <p14:creationId xmlns:p14="http://schemas.microsoft.com/office/powerpoint/2010/main" val="916073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6514B-7E54-6869-8C24-53E9ACF45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4D8DD-0890-B636-67A6-79F3741031CB}"/>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pic>
        <p:nvPicPr>
          <p:cNvPr id="6" name="Picture 5">
            <a:extLst>
              <a:ext uri="{FF2B5EF4-FFF2-40B4-BE49-F238E27FC236}">
                <a16:creationId xmlns:a16="http://schemas.microsoft.com/office/drawing/2014/main" id="{1988C148-AC23-D78A-B190-D8DB83F423B1}"/>
              </a:ext>
            </a:extLst>
          </p:cNvPr>
          <p:cNvPicPr>
            <a:picLocks noChangeAspect="1"/>
          </p:cNvPicPr>
          <p:nvPr/>
        </p:nvPicPr>
        <p:blipFill>
          <a:blip r:embed="rId2"/>
          <a:stretch>
            <a:fillRect/>
          </a:stretch>
        </p:blipFill>
        <p:spPr>
          <a:xfrm>
            <a:off x="721972" y="1786744"/>
            <a:ext cx="5792008" cy="2095792"/>
          </a:xfrm>
          <a:prstGeom prst="rect">
            <a:avLst/>
          </a:prstGeom>
        </p:spPr>
      </p:pic>
    </p:spTree>
    <p:extLst>
      <p:ext uri="{BB962C8B-B14F-4D97-AF65-F5344CB8AC3E}">
        <p14:creationId xmlns:p14="http://schemas.microsoft.com/office/powerpoint/2010/main" val="185102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5F17E-FB7E-F229-B4C3-F84622D42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0EFA2-2C5E-1386-27DB-2C7E707755FA}"/>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sp>
        <p:nvSpPr>
          <p:cNvPr id="5" name="TextBox 4">
            <a:extLst>
              <a:ext uri="{FF2B5EF4-FFF2-40B4-BE49-F238E27FC236}">
                <a16:creationId xmlns:a16="http://schemas.microsoft.com/office/drawing/2014/main" id="{4EAA8B6A-66BD-82D3-783D-0AA2BB7AFD64}"/>
              </a:ext>
            </a:extLst>
          </p:cNvPr>
          <p:cNvSpPr txBox="1"/>
          <p:nvPr/>
        </p:nvSpPr>
        <p:spPr>
          <a:xfrm>
            <a:off x="838200" y="1404297"/>
            <a:ext cx="8277726" cy="369332"/>
          </a:xfrm>
          <a:prstGeom prst="rect">
            <a:avLst/>
          </a:prstGeom>
          <a:noFill/>
        </p:spPr>
        <p:txBody>
          <a:bodyPr wrap="square">
            <a:spAutoFit/>
          </a:bodyPr>
          <a:lstStyle/>
          <a:p>
            <a:r>
              <a:rPr lang="en-IN" sz="1800" b="0" i="0" u="none" strike="noStrike" dirty="0">
                <a:solidFill>
                  <a:srgbClr val="000000"/>
                </a:solidFill>
                <a:effectLst/>
                <a:latin typeface="Times New Roman" panose="02020603050405020304" pitchFamily="18" charset="0"/>
              </a:rPr>
              <a:t>Part B: FIND THE 2</a:t>
            </a:r>
            <a:r>
              <a:rPr lang="en-IN" sz="1800" b="0" i="0" u="none" strike="noStrike" baseline="30000" dirty="0">
                <a:solidFill>
                  <a:srgbClr val="000000"/>
                </a:solidFill>
                <a:effectLst/>
                <a:latin typeface="Times New Roman" panose="02020603050405020304" pitchFamily="18" charset="0"/>
              </a:rPr>
              <a:t>ND</a:t>
            </a:r>
            <a:r>
              <a:rPr lang="en-IN" sz="1800" b="0" i="0" u="none" strike="noStrike" dirty="0">
                <a:solidFill>
                  <a:srgbClr val="000000"/>
                </a:solidFill>
                <a:effectLst/>
                <a:latin typeface="Times New Roman" panose="02020603050405020304" pitchFamily="18" charset="0"/>
              </a:rPr>
              <a:t> HIGHEST EARNING EMPLOYEE from the same schema.</a:t>
            </a:r>
            <a:endParaRPr lang="en-IN" dirty="0"/>
          </a:p>
        </p:txBody>
      </p:sp>
    </p:spTree>
    <p:extLst>
      <p:ext uri="{BB962C8B-B14F-4D97-AF65-F5344CB8AC3E}">
        <p14:creationId xmlns:p14="http://schemas.microsoft.com/office/powerpoint/2010/main" val="2199935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A0047-87D2-939C-DDC6-2877C6D63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9BB046-F4D8-5B5D-D7CE-9A77F09DAEC2}"/>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pic>
        <p:nvPicPr>
          <p:cNvPr id="3" name="Picture 2">
            <a:extLst>
              <a:ext uri="{FF2B5EF4-FFF2-40B4-BE49-F238E27FC236}">
                <a16:creationId xmlns:a16="http://schemas.microsoft.com/office/drawing/2014/main" id="{E939DC60-AF41-F6F5-4CDD-5A740B2D55DA}"/>
              </a:ext>
            </a:extLst>
          </p:cNvPr>
          <p:cNvPicPr>
            <a:picLocks noChangeAspect="1"/>
          </p:cNvPicPr>
          <p:nvPr/>
        </p:nvPicPr>
        <p:blipFill>
          <a:blip r:embed="rId2"/>
          <a:srcRect l="-161" t="19465" r="-1211" b="-1"/>
          <a:stretch>
            <a:fillRect/>
          </a:stretch>
        </p:blipFill>
        <p:spPr>
          <a:xfrm>
            <a:off x="502920" y="1426464"/>
            <a:ext cx="10972800" cy="4702582"/>
          </a:xfrm>
          <a:prstGeom prst="rect">
            <a:avLst/>
          </a:prstGeom>
        </p:spPr>
      </p:pic>
      <p:sp>
        <p:nvSpPr>
          <p:cNvPr id="5" name="TextBox 4">
            <a:extLst>
              <a:ext uri="{FF2B5EF4-FFF2-40B4-BE49-F238E27FC236}">
                <a16:creationId xmlns:a16="http://schemas.microsoft.com/office/drawing/2014/main" id="{4D4CCB07-28C4-EBD7-0897-9E145BD5A8D4}"/>
              </a:ext>
            </a:extLst>
          </p:cNvPr>
          <p:cNvSpPr txBox="1"/>
          <p:nvPr/>
        </p:nvSpPr>
        <p:spPr>
          <a:xfrm>
            <a:off x="9817608" y="930216"/>
            <a:ext cx="2624328" cy="369332"/>
          </a:xfrm>
          <a:prstGeom prst="rect">
            <a:avLst/>
          </a:prstGeom>
          <a:noFill/>
        </p:spPr>
        <p:txBody>
          <a:bodyPr wrap="square" rtlCol="0">
            <a:spAutoFit/>
          </a:bodyPr>
          <a:lstStyle/>
          <a:p>
            <a:r>
              <a:rPr lang="en-US" dirty="0"/>
              <a:t>Level: Medium</a:t>
            </a:r>
            <a:endParaRPr lang="en-IN" dirty="0"/>
          </a:p>
        </p:txBody>
      </p:sp>
    </p:spTree>
    <p:extLst>
      <p:ext uri="{BB962C8B-B14F-4D97-AF65-F5344CB8AC3E}">
        <p14:creationId xmlns:p14="http://schemas.microsoft.com/office/powerpoint/2010/main" val="3230004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D4FF4-641A-8ED3-E11C-214AFB2F1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BCADC4-55A9-BD27-4758-7505DC9DECFF}"/>
              </a:ext>
            </a:extLst>
          </p:cNvPr>
          <p:cNvSpPr>
            <a:spLocks noGrp="1"/>
          </p:cNvSpPr>
          <p:nvPr>
            <p:ph type="title"/>
          </p:nvPr>
        </p:nvSpPr>
        <p:spPr>
          <a:xfrm>
            <a:off x="838200" y="541589"/>
            <a:ext cx="10515600" cy="661570"/>
          </a:xfrm>
        </p:spPr>
        <p:txBody>
          <a:bodyPr>
            <a:normAutofit fontScale="90000"/>
          </a:bodyPr>
          <a:lstStyle/>
          <a:p>
            <a:r>
              <a:rPr lang="en-US" b="1" dirty="0"/>
              <a:t>Experiment 02</a:t>
            </a:r>
            <a:endParaRPr lang="en-IN" b="1" dirty="0"/>
          </a:p>
        </p:txBody>
      </p:sp>
      <p:graphicFrame>
        <p:nvGraphicFramePr>
          <p:cNvPr id="4" name="Table 3">
            <a:extLst>
              <a:ext uri="{FF2B5EF4-FFF2-40B4-BE49-F238E27FC236}">
                <a16:creationId xmlns:a16="http://schemas.microsoft.com/office/drawing/2014/main" id="{E1532F49-2A58-7F5B-3238-F07A46F17E40}"/>
              </a:ext>
            </a:extLst>
          </p:cNvPr>
          <p:cNvGraphicFramePr>
            <a:graphicFrameLocks noGrp="1"/>
          </p:cNvGraphicFramePr>
          <p:nvPr>
            <p:extLst>
              <p:ext uri="{D42A27DB-BD31-4B8C-83A1-F6EECF244321}">
                <p14:modId xmlns:p14="http://schemas.microsoft.com/office/powerpoint/2010/main" val="690556217"/>
              </p:ext>
            </p:extLst>
          </p:nvPr>
        </p:nvGraphicFramePr>
        <p:xfrm>
          <a:off x="1125474" y="2762154"/>
          <a:ext cx="4671822" cy="1974436"/>
        </p:xfrm>
        <a:graphic>
          <a:graphicData uri="http://schemas.openxmlformats.org/drawingml/2006/table">
            <a:tbl>
              <a:tblPr firstRow="1" firstCol="1" bandRow="1">
                <a:tableStyleId>{5C22544A-7EE6-4342-B048-85BDC9FD1C3A}</a:tableStyleId>
              </a:tblPr>
              <a:tblGrid>
                <a:gridCol w="1557274">
                  <a:extLst>
                    <a:ext uri="{9D8B030D-6E8A-4147-A177-3AD203B41FA5}">
                      <a16:colId xmlns:a16="http://schemas.microsoft.com/office/drawing/2014/main" val="3255014352"/>
                    </a:ext>
                  </a:extLst>
                </a:gridCol>
                <a:gridCol w="1557274">
                  <a:extLst>
                    <a:ext uri="{9D8B030D-6E8A-4147-A177-3AD203B41FA5}">
                      <a16:colId xmlns:a16="http://schemas.microsoft.com/office/drawing/2014/main" val="293454992"/>
                    </a:ext>
                  </a:extLst>
                </a:gridCol>
                <a:gridCol w="1557274">
                  <a:extLst>
                    <a:ext uri="{9D8B030D-6E8A-4147-A177-3AD203B41FA5}">
                      <a16:colId xmlns:a16="http://schemas.microsoft.com/office/drawing/2014/main" val="3959662412"/>
                    </a:ext>
                  </a:extLst>
                </a:gridCol>
              </a:tblGrid>
              <a:tr h="493609">
                <a:tc>
                  <a:txBody>
                    <a:bodyPr/>
                    <a:lstStyle/>
                    <a:p>
                      <a:pPr algn="ctr">
                        <a:lnSpc>
                          <a:spcPct val="115000"/>
                        </a:lnSpc>
                        <a:spcAft>
                          <a:spcPts val="800"/>
                        </a:spcAft>
                        <a:buNone/>
                        <a:tabLst>
                          <a:tab pos="577850" algn="l"/>
                        </a:tabLst>
                      </a:pPr>
                      <a:r>
                        <a:rPr lang="en-IN" sz="1400" kern="100">
                          <a:effectLst/>
                        </a:rPr>
                        <a:t>EmpID</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Ename</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Salary</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1236849"/>
                  </a:ext>
                </a:extLst>
              </a:tr>
              <a:tr h="493609">
                <a:tc>
                  <a:txBody>
                    <a:bodyPr/>
                    <a:lstStyle/>
                    <a:p>
                      <a:pPr algn="ctr">
                        <a:lnSpc>
                          <a:spcPct val="115000"/>
                        </a:lnSpc>
                        <a:spcAft>
                          <a:spcPts val="800"/>
                        </a:spcAft>
                        <a:buNone/>
                        <a:tabLst>
                          <a:tab pos="577850" algn="l"/>
                        </a:tabLst>
                      </a:pPr>
                      <a:r>
                        <a:rPr lang="en-IN" sz="1400" kern="100">
                          <a:effectLst/>
                        </a:rPr>
                        <a:t>1</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dirty="0">
                          <a:effectLst/>
                        </a:rPr>
                        <a:t>AA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1000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5050719"/>
                  </a:ext>
                </a:extLst>
              </a:tr>
              <a:tr h="493609">
                <a:tc>
                  <a:txBody>
                    <a:bodyPr/>
                    <a:lstStyle/>
                    <a:p>
                      <a:pPr algn="ctr">
                        <a:lnSpc>
                          <a:spcPct val="115000"/>
                        </a:lnSpc>
                        <a:spcAft>
                          <a:spcPts val="800"/>
                        </a:spcAft>
                        <a:buNone/>
                        <a:tabLst>
                          <a:tab pos="577850" algn="l"/>
                        </a:tabLst>
                      </a:pPr>
                      <a:r>
                        <a:rPr lang="en-IN" sz="1400" kern="100">
                          <a:effectLst/>
                        </a:rPr>
                        <a:t>2</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dirty="0">
                          <a:effectLst/>
                        </a:rPr>
                        <a:t>BB</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300</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6574362"/>
                  </a:ext>
                </a:extLst>
              </a:tr>
              <a:tr h="493609">
                <a:tc>
                  <a:txBody>
                    <a:bodyPr/>
                    <a:lstStyle/>
                    <a:p>
                      <a:pPr algn="ctr">
                        <a:lnSpc>
                          <a:spcPct val="115000"/>
                        </a:lnSpc>
                        <a:spcAft>
                          <a:spcPts val="800"/>
                        </a:spcAft>
                        <a:buNone/>
                        <a:tabLst>
                          <a:tab pos="577850" algn="l"/>
                        </a:tabLst>
                      </a:pPr>
                      <a:r>
                        <a:rPr lang="en-IN" sz="1400" kern="100">
                          <a:effectLst/>
                        </a:rPr>
                        <a:t>3</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a:effectLst/>
                        </a:rPr>
                        <a:t>CC</a:t>
                      </a:r>
                      <a:endParaRPr lang="en-IN"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tabLst>
                          <a:tab pos="577850" algn="l"/>
                        </a:tabLst>
                      </a:pPr>
                      <a:r>
                        <a:rPr lang="en-IN" sz="1400" kern="100" dirty="0">
                          <a:effectLst/>
                        </a:rPr>
                        <a:t>100</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9885498"/>
                  </a:ext>
                </a:extLst>
              </a:tr>
            </a:tbl>
          </a:graphicData>
        </a:graphic>
      </p:graphicFrame>
      <p:sp>
        <p:nvSpPr>
          <p:cNvPr id="6" name="TextBox 5">
            <a:extLst>
              <a:ext uri="{FF2B5EF4-FFF2-40B4-BE49-F238E27FC236}">
                <a16:creationId xmlns:a16="http://schemas.microsoft.com/office/drawing/2014/main" id="{30C0AE3E-C3A3-84E2-978D-FF7D170A641D}"/>
              </a:ext>
            </a:extLst>
          </p:cNvPr>
          <p:cNvSpPr txBox="1"/>
          <p:nvPr/>
        </p:nvSpPr>
        <p:spPr>
          <a:xfrm>
            <a:off x="1225296" y="2194560"/>
            <a:ext cx="2624328" cy="369332"/>
          </a:xfrm>
          <a:prstGeom prst="rect">
            <a:avLst/>
          </a:prstGeom>
          <a:noFill/>
        </p:spPr>
        <p:txBody>
          <a:bodyPr wrap="square" rtlCol="0">
            <a:spAutoFit/>
          </a:bodyPr>
          <a:lstStyle/>
          <a:p>
            <a:r>
              <a:rPr lang="en-US" dirty="0"/>
              <a:t>Output</a:t>
            </a:r>
            <a:endParaRPr lang="en-IN" dirty="0"/>
          </a:p>
        </p:txBody>
      </p:sp>
    </p:spTree>
    <p:extLst>
      <p:ext uri="{BB962C8B-B14F-4D97-AF65-F5344CB8AC3E}">
        <p14:creationId xmlns:p14="http://schemas.microsoft.com/office/powerpoint/2010/main" val="2363665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217</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Experiment 02</vt:lpstr>
      <vt:lpstr>Experiment 02</vt:lpstr>
      <vt:lpstr>Experiment 02</vt:lpstr>
      <vt:lpstr>Experiment 02</vt:lpstr>
      <vt:lpstr>Experiment 02</vt:lpstr>
      <vt:lpstr>Experiment 02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17</cp:revision>
  <dcterms:created xsi:type="dcterms:W3CDTF">2026-07-02T16:53:52Z</dcterms:created>
  <dcterms:modified xsi:type="dcterms:W3CDTF">2026-07-12T14:22:45Z</dcterms:modified>
</cp:coreProperties>
</file>