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23AD1-85C0-31EA-E8B2-DC947E29A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D791AA-8CB5-B20A-57D5-CC75C53B0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E52AE-AA51-4133-DBC3-915C3B74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B173E-0E2B-0BA2-FFE7-1A0F9C03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97F5-B4EB-760E-4F44-77CA0A26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7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91FC-FB1A-59F9-D6B7-8D6A9BA3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AFED1-00A3-6537-3029-05EAB97D7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1E326-91CE-473E-FF5F-26A5FC2A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669D4-31E1-2E79-F743-F847CC59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90FBD-5DD8-5EA9-B758-6E6DD455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3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6A5A-BE38-AA38-0FAF-179098E3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A42E3-3D66-4958-D296-FC218E9B6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384B1-A92E-271C-DB9B-AA9DCB5F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35B73-0B0F-D7ED-9F81-8659C518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25384-6F4A-3358-645D-10D706272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63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4D8A-92B9-0BA8-4822-4DBA2899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70D36-79B5-1009-7B45-148C7DADD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D2437-5946-D9E8-9045-43C5EF278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D4DB3-225E-5617-D567-33A0BE85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25A0F-88C3-A6A5-9951-3B3D4460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A434F-0CBC-FB00-3ABE-9970EE77E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4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2722-7B11-CDC7-3108-E1EF854AC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9CBF7-7048-515B-6147-E060BFF55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D2996-D180-A810-7AD3-26AC60B53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28074-FB23-3355-A171-AC6542016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58D5AB-4881-F56E-45D4-FFBC66003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90A5F-32E4-34C7-2AF0-479A3368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7B699-AFC8-A185-3303-B12B5DC9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3F7E71-055A-BCBE-51DA-9AF073AB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469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A210-B685-DF26-AE84-EAFCFC16D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3A2A4-451A-BB3B-8046-87CFF924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E584C-AC99-BD48-4E22-A7B03D46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B366E-6422-99EF-A8D2-C8520894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74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05FF22-275E-1690-78B7-F97B75F6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A9571E-467B-9845-0FC9-8FDADBAD7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C2DF7-01CB-7B6E-AC9E-924130B4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34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05D6-1938-63D6-2435-1E82451F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E66AE-B281-651F-87E6-7D09C9F14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E5BF7-1C58-019C-5CCB-F43AF5A12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3B911-67F1-6455-3506-A6818B190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E23E6-91FA-D2CC-F3C6-3EEDA71F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413D9-057F-9B2A-FC91-9B972F7C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343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FA46-18DB-D13F-EF29-313CB3B9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A8502-234E-D8F9-1FBB-0148B4BC3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B7133-D988-163A-4ABD-F73BA26F3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00A75-EDA3-922F-FCD7-02F81780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4FEF5-BCB0-7017-6529-9A1D927B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2F650-9EFE-E368-F2F7-703524FB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97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C3AF-11E1-B2CC-C1A6-143514A4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4D893-1767-9471-DBEE-DC9E48F06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0424B-7594-C971-4F83-C1C61578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394F1-A390-A67E-B4D3-C1F012053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2BC91-33D5-997A-1174-B20772B9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63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654CD2-78C9-E264-72DE-61A5C3ED9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8366B-8ADE-659C-D314-394AD912E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179A2-95F6-D36B-DF83-6C5AB2857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9BC19-E374-2E44-B1A6-6577B40C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F66AC-40B7-8CB6-7AA7-A52FD17D1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23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13C31C-4197-51DA-22A5-B3CB87E7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58E1D-AB40-5425-4D55-427F24A2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5F6BE-B840-BA13-1731-9A1EC2942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7D533-F0BF-4908-9EC1-AAB584C2C89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0D1F8-B383-C4EC-15D1-8009B4ED3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3B5C2-B717-AF29-82BE-572549585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71902-88D3-4DF9-86D1-74C1BC2A237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C28BBC-B0E3-9395-7DDE-86AA9BA0545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7493"/>
            <a:ext cx="11839074" cy="54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7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22FF-DE73-F220-68C1-5E57F0E6F2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Views in Postgres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911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97F3A-BBCD-FF11-1C8A-FDA31469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Problem Statement                                           [Medium Level]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F5726-2AF4-A6A2-9F5C-B719FE24A294}"/>
              </a:ext>
            </a:extLst>
          </p:cNvPr>
          <p:cNvSpPr txBox="1"/>
          <p:nvPr/>
        </p:nvSpPr>
        <p:spPr>
          <a:xfrm>
            <a:off x="458804" y="1067124"/>
            <a:ext cx="114633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company maintains customer information, product information, and sales order information in three separate tables: </a:t>
            </a:r>
            <a:r>
              <a:rPr lang="en-IN" dirty="0" err="1"/>
              <a:t>customer_master</a:t>
            </a:r>
            <a:r>
              <a:rPr lang="en-IN" dirty="0"/>
              <a:t>, </a:t>
            </a:r>
            <a:r>
              <a:rPr lang="en-IN" dirty="0" err="1"/>
              <a:t>product_catalog</a:t>
            </a:r>
            <a:r>
              <a:rPr lang="en-IN" dirty="0"/>
              <a:t>, and </a:t>
            </a:r>
            <a:r>
              <a:rPr lang="en-IN" dirty="0" err="1"/>
              <a:t>sales_orders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The company wants to provide an order report to an external client. The report must contain the </a:t>
            </a:r>
            <a:r>
              <a:rPr lang="en-IN" b="1" dirty="0"/>
              <a:t>Order ID, Order Date, Customer Name, Product Name, and Final Amount</a:t>
            </a:r>
            <a:r>
              <a:rPr lang="en-IN" dirty="0"/>
              <a:t>.</a:t>
            </a:r>
          </a:p>
          <a:p>
            <a:r>
              <a:rPr lang="en-IN" dirty="0"/>
              <a:t>For every order, first calculate the </a:t>
            </a:r>
            <a:r>
              <a:rPr lang="en-IN" b="1" dirty="0"/>
              <a:t>Gross Amount</a:t>
            </a:r>
            <a:r>
              <a:rPr lang="en-IN" dirty="0"/>
              <a:t> using:</a:t>
            </a:r>
          </a:p>
          <a:p>
            <a:r>
              <a:rPr lang="en-IN" b="1" dirty="0"/>
              <a:t>Gross Amount = Unit Price × Quantity</a:t>
            </a:r>
            <a:endParaRPr lang="en-IN" dirty="0"/>
          </a:p>
          <a:p>
            <a:r>
              <a:rPr lang="en-IN" dirty="0"/>
              <a:t>Then calculate the </a:t>
            </a:r>
            <a:r>
              <a:rPr lang="en-IN" b="1" dirty="0"/>
              <a:t>Discount Amount</a:t>
            </a:r>
            <a:r>
              <a:rPr lang="en-IN" dirty="0"/>
              <a:t> using:</a:t>
            </a:r>
          </a:p>
          <a:p>
            <a:r>
              <a:rPr lang="en-IN" b="1" dirty="0"/>
              <a:t>Discount Amount = Gross Amount × Discount Percentage / 100</a:t>
            </a:r>
          </a:p>
          <a:p>
            <a:endParaRPr lang="en-IN" dirty="0"/>
          </a:p>
          <a:p>
            <a:r>
              <a:rPr lang="en-IN" dirty="0"/>
              <a:t>Finally, calculate the </a:t>
            </a:r>
            <a:r>
              <a:rPr lang="en-IN" b="1" dirty="0"/>
              <a:t>Final Amount</a:t>
            </a:r>
            <a:r>
              <a:rPr lang="en-IN" dirty="0"/>
              <a:t> using:</a:t>
            </a:r>
          </a:p>
          <a:p>
            <a:endParaRPr lang="en-IN" dirty="0"/>
          </a:p>
          <a:p>
            <a:r>
              <a:rPr lang="en-IN" b="1" dirty="0"/>
              <a:t>Final Amount = Gross Amount − Discount Amount</a:t>
            </a:r>
          </a:p>
          <a:p>
            <a:endParaRPr lang="en-IN" dirty="0"/>
          </a:p>
          <a:p>
            <a:r>
              <a:rPr lang="en-IN" dirty="0"/>
              <a:t>Create a </a:t>
            </a:r>
            <a:r>
              <a:rPr lang="en-IN" b="1" dirty="0"/>
              <a:t>complex view</a:t>
            </a:r>
            <a:r>
              <a:rPr lang="en-IN" dirty="0"/>
              <a:t> using the three tables to generate this report. The view should expose only the required five columns and should not expose the customer's phone/email, product brand/unit price, or the order's quantity/discount percentage.</a:t>
            </a:r>
          </a:p>
          <a:p>
            <a:r>
              <a:rPr lang="en-IN" dirty="0"/>
              <a:t>The company also wants to provide access to an external client. Create a PostgreSQL user named </a:t>
            </a:r>
            <a:r>
              <a:rPr lang="en-IN" dirty="0" err="1"/>
              <a:t>client_user</a:t>
            </a:r>
            <a:r>
              <a:rPr lang="en-IN" dirty="0"/>
              <a:t> and give this user </a:t>
            </a:r>
            <a:r>
              <a:rPr lang="en-IN" b="1" dirty="0"/>
              <a:t>only SELECT permission on the view</a:t>
            </a:r>
            <a:r>
              <a:rPr lang="en-IN" dirty="0"/>
              <a:t>. The client must not have direct access to the three original tables and must not be allowed to modify the view data.</a:t>
            </a:r>
          </a:p>
        </p:txBody>
      </p:sp>
    </p:spTree>
    <p:extLst>
      <p:ext uri="{BB962C8B-B14F-4D97-AF65-F5344CB8AC3E}">
        <p14:creationId xmlns:p14="http://schemas.microsoft.com/office/powerpoint/2010/main" val="3896696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3BBA-41CB-C292-88D5-40CB9BF5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6725C-9E73-6ED7-8D6A-D216525BF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Problem Statement                                           [Medium Level]</a:t>
            </a:r>
            <a:endParaRPr lang="en-IN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0B3249-594D-3E4D-D6C3-B1BB656FF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093868"/>
              </p:ext>
            </p:extLst>
          </p:nvPr>
        </p:nvGraphicFramePr>
        <p:xfrm>
          <a:off x="395707" y="2182529"/>
          <a:ext cx="473776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256">
                  <a:extLst>
                    <a:ext uri="{9D8B030D-6E8A-4147-A177-3AD203B41FA5}">
                      <a16:colId xmlns:a16="http://schemas.microsoft.com/office/drawing/2014/main" val="3579411721"/>
                    </a:ext>
                  </a:extLst>
                </a:gridCol>
                <a:gridCol w="1538259">
                  <a:extLst>
                    <a:ext uri="{9D8B030D-6E8A-4147-A177-3AD203B41FA5}">
                      <a16:colId xmlns:a16="http://schemas.microsoft.com/office/drawing/2014/main" val="1481786782"/>
                    </a:ext>
                  </a:extLst>
                </a:gridCol>
                <a:gridCol w="1620253">
                  <a:extLst>
                    <a:ext uri="{9D8B030D-6E8A-4147-A177-3AD203B41FA5}">
                      <a16:colId xmlns:a16="http://schemas.microsoft.com/office/drawing/2014/main" val="565228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customer_id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full_name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197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Amit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Delhi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412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Mumbai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97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Ravi Kumar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Bangalore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241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Kolkata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535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Arjun Mehta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Hyderabad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33021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6B26B2-9A48-4A78-1EB7-63FEB2367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765233"/>
              </p:ext>
            </p:extLst>
          </p:nvPr>
        </p:nvGraphicFramePr>
        <p:xfrm>
          <a:off x="6096000" y="2047909"/>
          <a:ext cx="5331324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08">
                  <a:extLst>
                    <a:ext uri="{9D8B030D-6E8A-4147-A177-3AD203B41FA5}">
                      <a16:colId xmlns:a16="http://schemas.microsoft.com/office/drawing/2014/main" val="1730296981"/>
                    </a:ext>
                  </a:extLst>
                </a:gridCol>
                <a:gridCol w="1777108">
                  <a:extLst>
                    <a:ext uri="{9D8B030D-6E8A-4147-A177-3AD203B41FA5}">
                      <a16:colId xmlns:a16="http://schemas.microsoft.com/office/drawing/2014/main" val="3106533911"/>
                    </a:ext>
                  </a:extLst>
                </a:gridCol>
                <a:gridCol w="1777108">
                  <a:extLst>
                    <a:ext uri="{9D8B030D-6E8A-4147-A177-3AD203B41FA5}">
                      <a16:colId xmlns:a16="http://schemas.microsoft.com/office/drawing/2014/main" val="3930538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product_id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unit_price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875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Smartphone X100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72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Laptop Pro 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123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Wireless Earbuds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360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Smartwatch 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87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Gaming Console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6894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4D9676-7A5F-BE6B-18F2-D2D158E9F4A4}"/>
              </a:ext>
            </a:extLst>
          </p:cNvPr>
          <p:cNvSpPr txBox="1"/>
          <p:nvPr/>
        </p:nvSpPr>
        <p:spPr>
          <a:xfrm>
            <a:off x="8101264" y="4748463"/>
            <a:ext cx="1735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product_catalog</a:t>
            </a:r>
            <a:endParaRPr lang="en-IN" b="1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F6BE3-2D4D-3E45-B008-7ACBB4A4891A}"/>
              </a:ext>
            </a:extLst>
          </p:cNvPr>
          <p:cNvSpPr txBox="1"/>
          <p:nvPr/>
        </p:nvSpPr>
        <p:spPr>
          <a:xfrm>
            <a:off x="1425262" y="4542189"/>
            <a:ext cx="1859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customer_master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82562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66A3D-5311-F40A-15ED-1141AE54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BFF9-6B86-698B-E5C1-C230AD1F2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Problem Statement                                           [Medium Level]</a:t>
            </a:r>
            <a:endParaRPr lang="en-IN" sz="3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463693-3D7B-C0D9-0CE4-34B0182A3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113128"/>
              </p:ext>
            </p:extLst>
          </p:nvPr>
        </p:nvGraphicFramePr>
        <p:xfrm>
          <a:off x="548640" y="1441561"/>
          <a:ext cx="8128002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2265290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5016242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2287942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551005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93238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2824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order_id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discount_percent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order_date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340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76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170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10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328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702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664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2025-09-07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2560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2E791C-A794-75EB-84DF-F174F45D746B}"/>
              </a:ext>
            </a:extLst>
          </p:cNvPr>
          <p:cNvSpPr txBox="1"/>
          <p:nvPr/>
        </p:nvSpPr>
        <p:spPr>
          <a:xfrm>
            <a:off x="689811" y="48626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>
                <a:latin typeface="+mn-lt"/>
              </a:rPr>
              <a:t>sales_orders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8596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6A19-900F-28E8-357A-52E6ED9B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03DF-9B5D-0706-04CE-FF1B91D1C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Problem Statement                                           [Medium Level]</a:t>
            </a:r>
            <a:endParaRPr lang="en-IN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2652F0-C7F6-6275-7D2E-0CBEC05E0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64203"/>
              </p:ext>
            </p:extLst>
          </p:nvPr>
        </p:nvGraphicFramePr>
        <p:xfrm>
          <a:off x="548640" y="1272540"/>
          <a:ext cx="8128000" cy="431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021637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396898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4428001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647617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25390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order_id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order_date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full_name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final_amount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863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Amit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Smartphone X100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47500.00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0325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Laptop Pro 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58500.00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88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Ravi Kumar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Wireless Earbuds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16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Smartwatch 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27600.00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786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Arjun Mehta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Gaming Console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39600.00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938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Smartphone X100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23750.00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789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2025-09-07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Amit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Wireless Earbuds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10000.00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1586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9BE36F-C769-3163-4BD5-44835D53A140}"/>
              </a:ext>
            </a:extLst>
          </p:cNvPr>
          <p:cNvSpPr txBox="1"/>
          <p:nvPr/>
        </p:nvSpPr>
        <p:spPr>
          <a:xfrm>
            <a:off x="914400" y="5786240"/>
            <a:ext cx="406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Expected Output – In the Form of a View</a:t>
            </a:r>
          </a:p>
        </p:txBody>
      </p:sp>
    </p:spTree>
    <p:extLst>
      <p:ext uri="{BB962C8B-B14F-4D97-AF65-F5344CB8AC3E}">
        <p14:creationId xmlns:p14="http://schemas.microsoft.com/office/powerpoint/2010/main" val="52130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3DA7-F6FD-FB02-9843-E8D4ED93D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5FA1-17F0-1EA2-04D4-A611AC6D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Materialized Views in Postgres</a:t>
            </a:r>
            <a:endParaRPr lang="en-IN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C95942-0BCC-8D66-EF2A-36CFE50E8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25902"/>
            <a:ext cx="10180336" cy="403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65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33B7-F8C9-7396-4B17-ADC3B00EC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2873-6859-B261-324E-5BFC0D23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Materialized Views in Postgres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2F8081-EE8E-D115-F416-6ACB8E584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85" y="1149280"/>
            <a:ext cx="7742162" cy="489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67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A0A5-7034-93E1-F3F2-9227DA18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3B0A-6929-9F98-A0EB-155EF062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Materialized Views in Postgres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B599D-8C4D-FEF8-12B1-7FF8272E5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90" y="1242113"/>
            <a:ext cx="9451825" cy="349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4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73D97-54A9-6939-167C-F788E3317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2E59-1F21-3186-692C-E08775CB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Materialized Views in Postgres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32D6D0-F6AD-C6D2-683F-BF7150666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5203"/>
            <a:ext cx="9366188" cy="395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66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45AFB-005B-4AC5-0D52-0468ADAC5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F41B5-89DC-3CDD-F0CF-B6A4C7DBE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Problem Statement                                           [Hard Level]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813CF-F5EF-314C-E7F5-BB794822B41A}"/>
              </a:ext>
            </a:extLst>
          </p:cNvPr>
          <p:cNvSpPr txBox="1"/>
          <p:nvPr/>
        </p:nvSpPr>
        <p:spPr>
          <a:xfrm>
            <a:off x="458804" y="1067124"/>
            <a:ext cx="114633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e-commerce company wants to regularly </a:t>
            </a:r>
            <a:r>
              <a:rPr lang="en-IN" dirty="0" err="1"/>
              <a:t>analyze</a:t>
            </a:r>
            <a:r>
              <a:rPr lang="en-IN" dirty="0"/>
              <a:t> the performance of its </a:t>
            </a:r>
            <a:r>
              <a:rPr lang="en-IN" b="1" dirty="0"/>
              <a:t>product categories</a:t>
            </a:r>
            <a:r>
              <a:rPr lang="en-IN" dirty="0"/>
              <a:t>.</a:t>
            </a:r>
          </a:p>
          <a:p>
            <a:r>
              <a:rPr lang="en-IN" dirty="0"/>
              <a:t>The company stores product, category, customer, and order information in separate tables. To generate the category performance report, the database needs to perform multiple </a:t>
            </a:r>
            <a:r>
              <a:rPr lang="en-IN" b="1" dirty="0"/>
              <a:t>JOINs, GROUP BY, aggregate functions, DISTINCT counting, calculated values, and CASE statements</a:t>
            </a:r>
            <a:r>
              <a:rPr lang="en-IN" dirty="0"/>
              <a:t>.</a:t>
            </a:r>
          </a:p>
          <a:p>
            <a:r>
              <a:rPr lang="en-IN" dirty="0"/>
              <a:t>Since the same report is generated frequently, executing the complete analytical query every time can increase database workload.</a:t>
            </a:r>
          </a:p>
          <a:p>
            <a:r>
              <a:rPr lang="en-IN" dirty="0"/>
              <a:t>Create a PostgreSQL </a:t>
            </a:r>
            <a:r>
              <a:rPr lang="en-IN" b="1" dirty="0"/>
              <a:t>Materialized View</a:t>
            </a:r>
            <a:r>
              <a:rPr lang="en-IN" dirty="0"/>
              <a:t> named: </a:t>
            </a:r>
            <a:r>
              <a:rPr lang="en-IN" dirty="0" err="1"/>
              <a:t>mv_category_sales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0CEDFF-40AF-8730-3149-82E35D59C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87" y="3281025"/>
            <a:ext cx="2953671" cy="3101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996C6F-B02E-7CAD-FB5E-5B5C7E6BB484}"/>
              </a:ext>
            </a:extLst>
          </p:cNvPr>
          <p:cNvSpPr txBox="1"/>
          <p:nvPr/>
        </p:nvSpPr>
        <p:spPr>
          <a:xfrm>
            <a:off x="4796589" y="3360821"/>
            <a:ext cx="6707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Also demonstrate that when new order data is inserted, the Materialized View does </a:t>
            </a:r>
            <a:r>
              <a:rPr lang="en-IN" b="1" dirty="0"/>
              <a:t>not automatically reflect the change</a:t>
            </a:r>
            <a:r>
              <a:rPr lang="en-IN" dirty="0"/>
              <a:t> and must be refreshed.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7F76A2-9D62-ED14-7A19-9404F8B4E70F}"/>
              </a:ext>
            </a:extLst>
          </p:cNvPr>
          <p:cNvSpPr txBox="1"/>
          <p:nvPr/>
        </p:nvSpPr>
        <p:spPr>
          <a:xfrm>
            <a:off x="4796589" y="4803288"/>
            <a:ext cx="5188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Finally, use EXPLAIN ANALYZE to compare the performance of the original analytical query with the Materialized View query.</a:t>
            </a:r>
          </a:p>
        </p:txBody>
      </p:sp>
    </p:spTree>
    <p:extLst>
      <p:ext uri="{BB962C8B-B14F-4D97-AF65-F5344CB8AC3E}">
        <p14:creationId xmlns:p14="http://schemas.microsoft.com/office/powerpoint/2010/main" val="517184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6A5E5-5844-42B1-8561-ECB40615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1E2D-BB59-3028-60CA-36C4E16D1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Problem Statement                                           [Hard Level]</a:t>
            </a:r>
            <a:endParaRPr lang="en-IN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7F18BA-404C-5899-89B9-A3C4334E4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272044"/>
              </p:ext>
            </p:extLst>
          </p:nvPr>
        </p:nvGraphicFramePr>
        <p:xfrm>
          <a:off x="700506" y="1597661"/>
          <a:ext cx="6390106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053">
                  <a:extLst>
                    <a:ext uri="{9D8B030D-6E8A-4147-A177-3AD203B41FA5}">
                      <a16:colId xmlns:a16="http://schemas.microsoft.com/office/drawing/2014/main" val="3486576437"/>
                    </a:ext>
                  </a:extLst>
                </a:gridCol>
                <a:gridCol w="3195053">
                  <a:extLst>
                    <a:ext uri="{9D8B030D-6E8A-4147-A177-3AD203B41FA5}">
                      <a16:colId xmlns:a16="http://schemas.microsoft.com/office/drawing/2014/main" val="1086924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258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 Products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SUM(quantity)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9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COUNT(DISTINCT order_id)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12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Unique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COUNT(DISTINCT customer_id)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386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SUM(quantity × unit_price)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309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Average Revenue per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Total Revenue / Total Orders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1112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Revenue ≥ 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04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Revenue ≥ 6,000 and &lt; 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764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Revenue ≥ 3,000 and &lt; 6,000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68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Revenue &lt; 3,000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5952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CA7B5A-2228-1DB4-83AF-6E71C7ACEEE1}"/>
              </a:ext>
            </a:extLst>
          </p:cNvPr>
          <p:cNvSpPr txBox="1"/>
          <p:nvPr/>
        </p:nvSpPr>
        <p:spPr>
          <a:xfrm>
            <a:off x="700506" y="1057711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Business Rules</a:t>
            </a:r>
          </a:p>
        </p:txBody>
      </p:sp>
    </p:spTree>
    <p:extLst>
      <p:ext uri="{BB962C8B-B14F-4D97-AF65-F5344CB8AC3E}">
        <p14:creationId xmlns:p14="http://schemas.microsoft.com/office/powerpoint/2010/main" val="2701165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B0AD5-813B-F1EB-1F75-304AF94D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F3B3-C64E-A55B-BE8B-1E89B4A1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Problem Statement                                           [Hard Level]</a:t>
            </a:r>
            <a:endParaRPr lang="en-IN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1E00E4-73C2-F5F5-8F23-AFED4965D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693265"/>
              </p:ext>
            </p:extLst>
          </p:nvPr>
        </p:nvGraphicFramePr>
        <p:xfrm>
          <a:off x="700506" y="1562101"/>
          <a:ext cx="9357894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547">
                  <a:extLst>
                    <a:ext uri="{9D8B030D-6E8A-4147-A177-3AD203B41FA5}">
                      <a16:colId xmlns:a16="http://schemas.microsoft.com/office/drawing/2014/main" val="3486576437"/>
                    </a:ext>
                  </a:extLst>
                </a:gridCol>
                <a:gridCol w="8133347">
                  <a:extLst>
                    <a:ext uri="{9D8B030D-6E8A-4147-A177-3AD203B41FA5}">
                      <a16:colId xmlns:a16="http://schemas.microsoft.com/office/drawing/2014/main" val="1086924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258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Create the required source tables.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133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Insert the given category, product, customer, and order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5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Write a query to generate the category-wise sales report.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68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Execute the query using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EXPLAIN ANALYZE</a:t>
                      </a:r>
                      <a:r>
                        <a:rPr lang="en-IN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9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Create the Materialized View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mv_category_sales</a:t>
                      </a:r>
                      <a:r>
                        <a:rPr lang="en-IN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12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Display the data from the Materialized View.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386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Execute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EXPLAIN ANALYZE</a:t>
                      </a:r>
                      <a:r>
                        <a:rPr lang="en-IN"/>
                        <a:t> on the Materialized View query.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309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Compare the execution time of both queries.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1112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Insert a new order and order detail.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04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Query the Materialized View before refreshing it and observe the stale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764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Refresh the Materialized View.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68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Query the Materialized View again and verify the updated result.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5952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713BA90-7332-9F83-8069-56CC1AAFC549}"/>
              </a:ext>
            </a:extLst>
          </p:cNvPr>
          <p:cNvSpPr txBox="1"/>
          <p:nvPr/>
        </p:nvSpPr>
        <p:spPr>
          <a:xfrm>
            <a:off x="700506" y="1057711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4211693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08B50-A269-DC89-5C39-ED7D2F28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0B04-89DF-BA01-E9ED-29FE9566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4979"/>
            <a:ext cx="11283696" cy="412115"/>
          </a:xfrm>
        </p:spPr>
        <p:txBody>
          <a:bodyPr>
            <a:noAutofit/>
          </a:bodyPr>
          <a:lstStyle/>
          <a:p>
            <a:r>
              <a:rPr lang="en-US" sz="3600" dirty="0"/>
              <a:t>Problem Statement                                           [Hard Level]</a:t>
            </a:r>
            <a:endParaRPr lang="en-IN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87775-86F9-F01F-E005-3F5F6025AA84}"/>
              </a:ext>
            </a:extLst>
          </p:cNvPr>
          <p:cNvSpPr txBox="1"/>
          <p:nvPr/>
        </p:nvSpPr>
        <p:spPr>
          <a:xfrm>
            <a:off x="700506" y="1057711"/>
            <a:ext cx="176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category_master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75AAFA-59F0-ED29-3129-4250E6CEB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978283"/>
              </p:ext>
            </p:extLst>
          </p:nvPr>
        </p:nvGraphicFramePr>
        <p:xfrm>
          <a:off x="548640" y="1597660"/>
          <a:ext cx="444901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4506">
                  <a:extLst>
                    <a:ext uri="{9D8B030D-6E8A-4147-A177-3AD203B41FA5}">
                      <a16:colId xmlns:a16="http://schemas.microsoft.com/office/drawing/2014/main" val="1044641228"/>
                    </a:ext>
                  </a:extLst>
                </a:gridCol>
                <a:gridCol w="2224506">
                  <a:extLst>
                    <a:ext uri="{9D8B030D-6E8A-4147-A177-3AD203B41FA5}">
                      <a16:colId xmlns:a16="http://schemas.microsoft.com/office/drawing/2014/main" val="3708307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category_id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category_name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47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Electronics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363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Clothing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334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Books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96281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F7126B-DF99-D941-1E4F-B8BED9DD5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476676"/>
              </p:ext>
            </p:extLst>
          </p:nvPr>
        </p:nvGraphicFramePr>
        <p:xfrm>
          <a:off x="5470358" y="1597660"/>
          <a:ext cx="568425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751">
                  <a:extLst>
                    <a:ext uri="{9D8B030D-6E8A-4147-A177-3AD203B41FA5}">
                      <a16:colId xmlns:a16="http://schemas.microsoft.com/office/drawing/2014/main" val="1961758326"/>
                    </a:ext>
                  </a:extLst>
                </a:gridCol>
                <a:gridCol w="1894751">
                  <a:extLst>
                    <a:ext uri="{9D8B030D-6E8A-4147-A177-3AD203B41FA5}">
                      <a16:colId xmlns:a16="http://schemas.microsoft.com/office/drawing/2014/main" val="952082713"/>
                    </a:ext>
                  </a:extLst>
                </a:gridCol>
                <a:gridCol w="1894751">
                  <a:extLst>
                    <a:ext uri="{9D8B030D-6E8A-4147-A177-3AD203B41FA5}">
                      <a16:colId xmlns:a16="http://schemas.microsoft.com/office/drawing/2014/main" val="3576200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product_id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category_id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690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420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Headphones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699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Jacket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94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Shoes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3958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SQL 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7709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6831B6-1105-2881-3137-CE7D5B395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713843"/>
              </p:ext>
            </p:extLst>
          </p:nvPr>
        </p:nvGraphicFramePr>
        <p:xfrm>
          <a:off x="700506" y="4682066"/>
          <a:ext cx="595696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484">
                  <a:extLst>
                    <a:ext uri="{9D8B030D-6E8A-4147-A177-3AD203B41FA5}">
                      <a16:colId xmlns:a16="http://schemas.microsoft.com/office/drawing/2014/main" val="3607228385"/>
                    </a:ext>
                  </a:extLst>
                </a:gridCol>
                <a:gridCol w="2978484">
                  <a:extLst>
                    <a:ext uri="{9D8B030D-6E8A-4147-A177-3AD203B41FA5}">
                      <a16:colId xmlns:a16="http://schemas.microsoft.com/office/drawing/2014/main" val="852029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customer_id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535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9665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527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42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Simran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2177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82C489B-3C2B-1FE5-62C7-FB8CC4B862F5}"/>
              </a:ext>
            </a:extLst>
          </p:cNvPr>
          <p:cNvSpPr txBox="1"/>
          <p:nvPr/>
        </p:nvSpPr>
        <p:spPr>
          <a:xfrm>
            <a:off x="6240379" y="1267326"/>
            <a:ext cx="169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product_master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505D1-FAF7-9D46-3346-0918C083831A}"/>
              </a:ext>
            </a:extLst>
          </p:cNvPr>
          <p:cNvSpPr txBox="1"/>
          <p:nvPr/>
        </p:nvSpPr>
        <p:spPr>
          <a:xfrm>
            <a:off x="1443789" y="4395537"/>
            <a:ext cx="1835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customer_master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405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C24E-2022-193C-86DB-7F8E7A1ED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FC2F81E-64D6-B013-C0E9-F69664943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09779"/>
              </p:ext>
            </p:extLst>
          </p:nvPr>
        </p:nvGraphicFramePr>
        <p:xfrm>
          <a:off x="540084" y="1874697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2494559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529295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139554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379998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40615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order_id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unit_price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20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52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577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70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57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207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87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76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24706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8D9A5FE-9F5C-2E56-D7A0-1BD87689C902}"/>
              </a:ext>
            </a:extLst>
          </p:cNvPr>
          <p:cNvSpPr txBox="1"/>
          <p:nvPr/>
        </p:nvSpPr>
        <p:spPr>
          <a:xfrm>
            <a:off x="1812758" y="1379621"/>
            <a:ext cx="1432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order_details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4902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800DC-0071-6C5E-C9B8-D1772620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B3C927F-B44F-B526-1F29-3B66D53EFBD1}"/>
              </a:ext>
            </a:extLst>
          </p:cNvPr>
          <p:cNvSpPr txBox="1"/>
          <p:nvPr/>
        </p:nvSpPr>
        <p:spPr>
          <a:xfrm>
            <a:off x="465221" y="174859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Output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AB1E45-E4CE-6090-D1A4-E87F94E1A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04649"/>
              </p:ext>
            </p:extLst>
          </p:nvPr>
        </p:nvGraphicFramePr>
        <p:xfrm>
          <a:off x="465221" y="2280920"/>
          <a:ext cx="10748208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526">
                  <a:extLst>
                    <a:ext uri="{9D8B030D-6E8A-4147-A177-3AD203B41FA5}">
                      <a16:colId xmlns:a16="http://schemas.microsoft.com/office/drawing/2014/main" val="2360874740"/>
                    </a:ext>
                  </a:extLst>
                </a:gridCol>
                <a:gridCol w="1343526">
                  <a:extLst>
                    <a:ext uri="{9D8B030D-6E8A-4147-A177-3AD203B41FA5}">
                      <a16:colId xmlns:a16="http://schemas.microsoft.com/office/drawing/2014/main" val="3557917566"/>
                    </a:ext>
                  </a:extLst>
                </a:gridCol>
                <a:gridCol w="1343526">
                  <a:extLst>
                    <a:ext uri="{9D8B030D-6E8A-4147-A177-3AD203B41FA5}">
                      <a16:colId xmlns:a16="http://schemas.microsoft.com/office/drawing/2014/main" val="2683635943"/>
                    </a:ext>
                  </a:extLst>
                </a:gridCol>
                <a:gridCol w="1343526">
                  <a:extLst>
                    <a:ext uri="{9D8B030D-6E8A-4147-A177-3AD203B41FA5}">
                      <a16:colId xmlns:a16="http://schemas.microsoft.com/office/drawing/2014/main" val="2526653894"/>
                    </a:ext>
                  </a:extLst>
                </a:gridCol>
                <a:gridCol w="1343526">
                  <a:extLst>
                    <a:ext uri="{9D8B030D-6E8A-4147-A177-3AD203B41FA5}">
                      <a16:colId xmlns:a16="http://schemas.microsoft.com/office/drawing/2014/main" val="4225193336"/>
                    </a:ext>
                  </a:extLst>
                </a:gridCol>
                <a:gridCol w="1343526">
                  <a:extLst>
                    <a:ext uri="{9D8B030D-6E8A-4147-A177-3AD203B41FA5}">
                      <a16:colId xmlns:a16="http://schemas.microsoft.com/office/drawing/2014/main" val="349033214"/>
                    </a:ext>
                  </a:extLst>
                </a:gridCol>
                <a:gridCol w="1343526">
                  <a:extLst>
                    <a:ext uri="{9D8B030D-6E8A-4147-A177-3AD203B41FA5}">
                      <a16:colId xmlns:a16="http://schemas.microsoft.com/office/drawing/2014/main" val="4068798270"/>
                    </a:ext>
                  </a:extLst>
                </a:gridCol>
                <a:gridCol w="1343526">
                  <a:extLst>
                    <a:ext uri="{9D8B030D-6E8A-4147-A177-3AD203B41FA5}">
                      <a16:colId xmlns:a16="http://schemas.microsoft.com/office/drawing/2014/main" val="29434249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category_id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category_name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total_products_sold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total_orders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unique_customers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total_revenue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avg_revenue_per_order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category_performance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95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Electronics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50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Clothing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3333.33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179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546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008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982</Words>
  <Application>Microsoft Office PowerPoint</Application>
  <PresentationFormat>Widescreen</PresentationFormat>
  <Paragraphs>327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Views in Postgres</vt:lpstr>
      <vt:lpstr>Problem Statement                                           [Medium Level]</vt:lpstr>
      <vt:lpstr>Problem Statement                                           [Medium Level]</vt:lpstr>
      <vt:lpstr>Problem Statement                                           [Medium Level]</vt:lpstr>
      <vt:lpstr>Problem Statement                                           [Medium Level]</vt:lpstr>
      <vt:lpstr>Materialized Views in Postgres</vt:lpstr>
      <vt:lpstr>Materialized Views in Postgres</vt:lpstr>
      <vt:lpstr>Materialized Views in Postgres</vt:lpstr>
      <vt:lpstr>Materialized Views in Postgres</vt:lpstr>
      <vt:lpstr>Problem Statement                                           [Hard Level]</vt:lpstr>
      <vt:lpstr>Problem Statement                                           [Hard Level]</vt:lpstr>
      <vt:lpstr>Problem Statement                                           [Hard Level]</vt:lpstr>
      <vt:lpstr>Problem Statement                                           [Hard Level]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13</cp:revision>
  <dcterms:created xsi:type="dcterms:W3CDTF">2026-07-02T16:54:41Z</dcterms:created>
  <dcterms:modified xsi:type="dcterms:W3CDTF">2026-09-06T14:59:53Z</dcterms:modified>
</cp:coreProperties>
</file>