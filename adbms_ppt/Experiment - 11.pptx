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96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DD5F5-9ABF-0892-E5E1-342D5AB58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35277B-C149-2F8B-28DC-1F5AD65F7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19F88-3AA6-79AD-1B93-5ECE07104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2E9BB-B212-4BAF-88D5-D5812039FB3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FB222-E102-2B7F-4A11-2C14E758F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A1239-72F4-AB01-9926-8BE3E8EFB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28778-E149-4F7A-94E4-AD1D8F194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297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C861-B091-F869-D37C-28930658E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52DD0-1DC3-5DF0-C183-766D15B1C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079A2-06B3-CF08-5FD9-E45C0D13C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2E9BB-B212-4BAF-88D5-D5812039FB3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10F47-7F2B-25C9-281E-C58A5FFFE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B5964-6D9F-9247-82FD-DD97EBA7A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28778-E149-4F7A-94E4-AD1D8F194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780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D76AF-C2D8-21A4-DE49-14174247C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4E94B-7B2E-D0A1-56C4-701B44742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4A768-A088-71FA-D24C-9FA282EAC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2E9BB-B212-4BAF-88D5-D5812039FB3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4B150-EFDD-54D5-9CDD-F1A3EF91F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6B1EB-AE48-D4D5-A3C5-B007C8CE4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28778-E149-4F7A-94E4-AD1D8F194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938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E5D18-FBAD-A347-39BD-1832F7118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54D53-8546-A071-44DF-3BE4659431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B6004D-57F0-1C77-128F-1A55A3FAD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56D5CC-C0CA-0FF7-5555-193586C09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2E9BB-B212-4BAF-88D5-D5812039FB3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8F0E38-3445-DBE8-AFCB-D06A7FC4A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9F2AE-9F04-DE52-5ED0-9AF3980C5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28778-E149-4F7A-94E4-AD1D8F194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345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FE370-F756-B900-BC0F-0783C3279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4B2EB-960B-F480-E5A7-61810B6C7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396824-76C2-FBE2-3D8E-2AF7B6D36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BB1104-2AB5-EE1E-AC3F-BC2BCAED0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E601B0-0738-2750-C24F-E04ED87E0A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C2B593-BDBF-AA97-181D-32241A9BE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2E9BB-B212-4BAF-88D5-D5812039FB3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AA938-9315-FCBD-4E07-D87498D0B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8A8542-27A6-A7F0-12BD-3D0CA093E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28778-E149-4F7A-94E4-AD1D8F194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835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ABC71-1BA3-BADB-7E10-8EE07DBAC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1E0DDF-E671-5EE6-B757-4501B35ED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2E9BB-B212-4BAF-88D5-D5812039FB3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66B417-EBD5-9101-C699-CC5923B92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DB594F-1346-8C00-7F69-32CE0DE96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28778-E149-4F7A-94E4-AD1D8F194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495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277186-5572-8B32-13AC-9D4750A52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2E9BB-B212-4BAF-88D5-D5812039FB3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78B6B5-05B4-E510-CFE8-6294A2C4D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6C1CC-AC7E-1801-90AE-EA7165E23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28778-E149-4F7A-94E4-AD1D8F194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210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EE502-5DDF-AD13-04FD-D36EA5C87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D8211-BCC7-1BA4-39F1-BF1A91417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D05058-D249-208E-A9E6-0D837969A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F5089A-0A31-F139-14DE-C66A238EA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2E9BB-B212-4BAF-88D5-D5812039FB3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00070-3C0D-056C-16D1-9569687FC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1FBDE-1E7D-344E-C665-F6C7090D8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28778-E149-4F7A-94E4-AD1D8F194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378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D3584-042A-9EC2-96C9-BF57AAD82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64345F-7FE8-AFF7-EABA-78BB3EAD0B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42A74F-5A7A-16EE-D5C3-C05644E859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7690E-A9F8-6947-92B5-9F00B8193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2E9BB-B212-4BAF-88D5-D5812039FB3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A04BB-5D9E-4C45-AC33-C27BBF8AE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34A6D-C5A7-7F14-922E-40D6B732C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28778-E149-4F7A-94E4-AD1D8F194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96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B5F30-9241-6C3C-5638-6CA0A6593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58C8B2-F680-881E-A5C7-C5FE8A818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B7ACB-AC59-AAE2-D27E-159401FD8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2E9BB-B212-4BAF-88D5-D5812039FB3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A34EF-C0A5-6CD7-AEE2-5E8E3BCB2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48694-5B20-DC21-ABFC-F5228B0A8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28778-E149-4F7A-94E4-AD1D8F194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64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76EC4B-3E08-E48C-E35E-61B5D5D48D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76AD90-3E30-5377-39E9-0AD79BE54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C8058-7CF9-3FF9-1411-AAC90DC1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2E9BB-B212-4BAF-88D5-D5812039FB3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5B668-AEEA-2716-07B8-4DFD6F2A2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EE346-3487-20ED-3036-04077647C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28778-E149-4F7A-94E4-AD1D8F194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997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E54C36-F83C-524D-3580-95EDDD8EF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F7373-67E6-33B9-E6DE-1EE432E57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47A8F-479A-693D-BD21-B166986C6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62E9BB-B212-4BAF-88D5-D5812039FB3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6ED3F-385A-5E89-255C-772D6A7CE8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176D7-0C99-D013-ED99-7F5D6285A6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328778-E149-4F7A-94E4-AD1D8F1942AC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0042A9-748F-13CC-CF78-11D3C977566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27493"/>
            <a:ext cx="11839074" cy="54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276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C9836-7FA7-17B0-2235-4AEE7B527F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Window Functions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AA9B43-1CF1-718D-41FE-7A15280D88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Experiment 11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231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157B6-8CBF-8E37-6B50-16DEA1A26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83" y="586445"/>
            <a:ext cx="11698014" cy="595970"/>
          </a:xfrm>
        </p:spPr>
        <p:txBody>
          <a:bodyPr>
            <a:normAutofit fontScale="90000"/>
          </a:bodyPr>
          <a:lstStyle/>
          <a:p>
            <a:r>
              <a:rPr lang="en-IN" dirty="0"/>
              <a:t>Problem Statement                                              [Hard]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6EB19-A172-95B0-064E-57A361DD8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483" y="1182415"/>
            <a:ext cx="11698014" cy="5391806"/>
          </a:xfrm>
        </p:spPr>
        <p:txBody>
          <a:bodyPr/>
          <a:lstStyle/>
          <a:p>
            <a:r>
              <a:rPr lang="en-IN" dirty="0"/>
              <a:t>A company stores the monthly salary history of its employees in an </a:t>
            </a:r>
            <a:r>
              <a:rPr lang="en-IN" dirty="0" err="1"/>
              <a:t>EmployeeSalaryHistory</a:t>
            </a:r>
            <a:r>
              <a:rPr lang="en-IN" dirty="0"/>
              <a:t> table.</a:t>
            </a:r>
          </a:p>
          <a:p>
            <a:r>
              <a:rPr lang="en-IN" dirty="0"/>
              <a:t>Write an SQL query to find the employees whose salary has </a:t>
            </a:r>
            <a:r>
              <a:rPr lang="en-IN" b="1" dirty="0"/>
              <a:t>increased in every recorded month compared to the immediately previous month</a:t>
            </a:r>
            <a:r>
              <a:rPr lang="en-IN" dirty="0"/>
              <a:t>.</a:t>
            </a:r>
          </a:p>
          <a:p>
            <a:r>
              <a:rPr lang="en-IN" dirty="0"/>
              <a:t>For each salary record, compare the current month's salary with the employee's previous month's salary using a Window Function. Display only those employees for whom all later salary records are greater than their respective previous salary.</a:t>
            </a:r>
          </a:p>
          <a:p>
            <a:r>
              <a:rPr lang="en-IN" dirty="0"/>
              <a:t>The output should display:</a:t>
            </a:r>
          </a:p>
          <a:p>
            <a:pPr lvl="0"/>
            <a:r>
              <a:rPr lang="en-IN" dirty="0"/>
              <a:t>Employee ID </a:t>
            </a:r>
          </a:p>
          <a:p>
            <a:pPr lvl="0"/>
            <a:r>
              <a:rPr lang="en-IN" dirty="0"/>
              <a:t>Employee Name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708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CAA2C-BFA8-180F-35CD-F4C89BAC5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0607C63-B7AA-E29E-E3C2-1142020847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842200"/>
              </p:ext>
            </p:extLst>
          </p:nvPr>
        </p:nvGraphicFramePr>
        <p:xfrm>
          <a:off x="581572" y="1444880"/>
          <a:ext cx="8128000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37328583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8733488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1757154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8528483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86752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record_id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employee_id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employee_name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salary_month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4217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Alok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2026-01-01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6760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Alok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2026-02-01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52000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3833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Alok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2026-03-01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343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2026-01-01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8336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2026-02-01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58000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7855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2026-03-01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62000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4599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Raj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2026-01-01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1970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Raj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2026-02-01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47000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6049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Raj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2026-03-01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49000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856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2026-01-01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9664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2026-02-01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471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2026-03-01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72000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760797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BF4813A-4B64-178F-09B8-DFF1F424ACDB}"/>
              </a:ext>
            </a:extLst>
          </p:cNvPr>
          <p:cNvSpPr txBox="1"/>
          <p:nvPr/>
        </p:nvSpPr>
        <p:spPr>
          <a:xfrm>
            <a:off x="713390" y="911038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EmployeeSalaryHistory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0063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FE915-1227-87BC-98EE-17513C639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CC5CB8F-464F-A339-5FD3-E48C9626E50E}"/>
              </a:ext>
            </a:extLst>
          </p:cNvPr>
          <p:cNvSpPr txBox="1"/>
          <p:nvPr/>
        </p:nvSpPr>
        <p:spPr>
          <a:xfrm>
            <a:off x="713390" y="911038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Output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76C011A-FE78-6B75-1757-150EA0B94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54319"/>
              </p:ext>
            </p:extLst>
          </p:nvPr>
        </p:nvGraphicFramePr>
        <p:xfrm>
          <a:off x="713390" y="1634066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52481758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096569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employee_id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employee_name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99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Alok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3868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Raj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188293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50DA0EB-A374-5402-CD83-E2BDB1EBCCAA}"/>
              </a:ext>
            </a:extLst>
          </p:cNvPr>
          <p:cNvSpPr txBox="1"/>
          <p:nvPr/>
        </p:nvSpPr>
        <p:spPr>
          <a:xfrm>
            <a:off x="539091" y="3362576"/>
            <a:ext cx="1070172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Your query should selects only those employees whose salary </a:t>
            </a:r>
            <a:r>
              <a:rPr lang="en-IN" b="1" dirty="0"/>
              <a:t>increased in every recorded month compared to the immediately previous month</a:t>
            </a:r>
            <a:r>
              <a:rPr lang="en-IN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Alok (101):</a:t>
            </a:r>
            <a:r>
              <a:rPr lang="en-IN" dirty="0"/>
              <a:t> Salary changes from </a:t>
            </a:r>
            <a:r>
              <a:rPr lang="en-IN" dirty="0">
                <a:latin typeface="+mn-lt"/>
              </a:rPr>
              <a:t>50000 → 52000 → 55000</a:t>
            </a:r>
            <a:r>
              <a:rPr lang="en-IN" dirty="0"/>
              <a:t>. Since the salary increases every month, Alok appears in the output.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Raj (103):</a:t>
            </a:r>
            <a:r>
              <a:rPr lang="en-IN" dirty="0"/>
              <a:t> Salary changes from </a:t>
            </a:r>
            <a:r>
              <a:rPr lang="en-IN" dirty="0">
                <a:latin typeface="+mn-lt"/>
              </a:rPr>
              <a:t>45000 → 47000 → 49000</a:t>
            </a:r>
            <a:r>
              <a:rPr lang="en-IN" dirty="0"/>
              <a:t>. His salary also increases every month, so Raj appears in the output.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Priya (102)</a:t>
            </a:r>
            <a:r>
              <a:rPr lang="en-IN" dirty="0"/>
              <a:t> is not included because her salary changes from </a:t>
            </a:r>
            <a:r>
              <a:rPr lang="en-IN" dirty="0">
                <a:latin typeface="+mn-lt"/>
              </a:rPr>
              <a:t>60000 → 58000 → 62000</a:t>
            </a:r>
            <a:r>
              <a:rPr lang="en-IN" dirty="0"/>
              <a:t>; it decreases once.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Sneha (104)</a:t>
            </a:r>
            <a:r>
              <a:rPr lang="en-IN" dirty="0"/>
              <a:t> is not included because her salary changes from </a:t>
            </a:r>
            <a:r>
              <a:rPr lang="en-IN" dirty="0">
                <a:latin typeface="+mn-lt"/>
              </a:rPr>
              <a:t>70000 → 70000 → 72000</a:t>
            </a:r>
            <a:r>
              <a:rPr lang="en-IN" dirty="0"/>
              <a:t>. The salary remains the same once, whereas the requirement is a </a:t>
            </a:r>
            <a:r>
              <a:rPr lang="en-IN" b="1" dirty="0"/>
              <a:t>strict increase (</a:t>
            </a:r>
            <a:r>
              <a:rPr lang="en-IN" b="1" dirty="0">
                <a:latin typeface="+mn-lt"/>
              </a:rPr>
              <a:t>current salary &gt; previous salary</a:t>
            </a:r>
            <a:r>
              <a:rPr lang="en-IN" b="1" dirty="0"/>
              <a:t>)</a:t>
            </a:r>
            <a:r>
              <a:rPr lang="en-IN" dirty="0"/>
              <a:t>. </a:t>
            </a:r>
          </a:p>
          <a:p>
            <a:pPr>
              <a:buNone/>
            </a:pPr>
            <a:r>
              <a:rPr lang="en-IN" dirty="0"/>
              <a:t>Therefore, only </a:t>
            </a:r>
            <a:r>
              <a:rPr lang="en-IN" b="1" dirty="0"/>
              <a:t>Alok and Raj</a:t>
            </a:r>
            <a:r>
              <a:rPr lang="en-IN" dirty="0"/>
              <a:t> satisfy the condition for all recorded months.</a:t>
            </a:r>
          </a:p>
        </p:txBody>
      </p:sp>
    </p:spTree>
    <p:extLst>
      <p:ext uri="{BB962C8B-B14F-4D97-AF65-F5344CB8AC3E}">
        <p14:creationId xmlns:p14="http://schemas.microsoft.com/office/powerpoint/2010/main" val="2165492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8DC99-438B-A9A4-3E79-24A4FA09F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0BD43-5E68-A15C-7EA1-3A1C3932C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83" y="586445"/>
            <a:ext cx="11698014" cy="595970"/>
          </a:xfrm>
        </p:spPr>
        <p:txBody>
          <a:bodyPr>
            <a:normAutofit fontScale="90000"/>
          </a:bodyPr>
          <a:lstStyle/>
          <a:p>
            <a:r>
              <a:rPr lang="en-IN" dirty="0"/>
              <a:t>Problem Statement                                              [Hard]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117E6-B126-BC67-6E94-93793D187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483" y="1182415"/>
            <a:ext cx="11698014" cy="5391806"/>
          </a:xfrm>
        </p:spPr>
        <p:txBody>
          <a:bodyPr/>
          <a:lstStyle/>
          <a:p>
            <a:r>
              <a:rPr lang="en-IN" dirty="0"/>
              <a:t>A company maintains employee details in an Employee table and department information in a Department table.</a:t>
            </a:r>
          </a:p>
          <a:p>
            <a:r>
              <a:rPr lang="en-IN" dirty="0"/>
              <a:t>Write an SQL query to find the employees whose salaries belong to the </a:t>
            </a:r>
            <a:r>
              <a:rPr lang="en-IN" b="1" dirty="0"/>
              <a:t>top three distinct salary levels within their respective departments</a:t>
            </a:r>
            <a:r>
              <a:rPr lang="en-IN" dirty="0"/>
              <a:t>.</a:t>
            </a:r>
          </a:p>
          <a:p>
            <a:r>
              <a:rPr lang="en-IN" dirty="0"/>
              <a:t>If multiple employees have the same salary, they should receive the same salary rank and all of them should be included in the result.</a:t>
            </a:r>
          </a:p>
          <a:p>
            <a:r>
              <a:rPr lang="en-IN" dirty="0"/>
              <a:t>The output should display:</a:t>
            </a:r>
          </a:p>
          <a:p>
            <a:pPr lvl="0"/>
            <a:r>
              <a:rPr lang="en-IN" dirty="0"/>
              <a:t>Department Name </a:t>
            </a:r>
          </a:p>
          <a:p>
            <a:pPr lvl="0"/>
            <a:r>
              <a:rPr lang="en-IN" dirty="0"/>
              <a:t>Employee Name </a:t>
            </a:r>
          </a:p>
          <a:p>
            <a:pPr lvl="0"/>
            <a:r>
              <a:rPr lang="en-IN" dirty="0"/>
              <a:t>Salary</a:t>
            </a:r>
          </a:p>
        </p:txBody>
      </p:sp>
    </p:spTree>
    <p:extLst>
      <p:ext uri="{BB962C8B-B14F-4D97-AF65-F5344CB8AC3E}">
        <p14:creationId xmlns:p14="http://schemas.microsoft.com/office/powerpoint/2010/main" val="801019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1F55B-CE24-11B4-E0F3-879E68EE1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95FB388-F247-5D63-A15C-2AB74886E3B7}"/>
              </a:ext>
            </a:extLst>
          </p:cNvPr>
          <p:cNvSpPr txBox="1"/>
          <p:nvPr/>
        </p:nvSpPr>
        <p:spPr>
          <a:xfrm>
            <a:off x="713390" y="911037"/>
            <a:ext cx="1430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Department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7C6BF70-D4D8-0564-C784-4FE716F50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103557"/>
              </p:ext>
            </p:extLst>
          </p:nvPr>
        </p:nvGraphicFramePr>
        <p:xfrm>
          <a:off x="187435" y="1444881"/>
          <a:ext cx="288684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421">
                  <a:extLst>
                    <a:ext uri="{9D8B030D-6E8A-4147-A177-3AD203B41FA5}">
                      <a16:colId xmlns:a16="http://schemas.microsoft.com/office/drawing/2014/main" val="1065592599"/>
                    </a:ext>
                  </a:extLst>
                </a:gridCol>
                <a:gridCol w="1443421">
                  <a:extLst>
                    <a:ext uri="{9D8B030D-6E8A-4147-A177-3AD203B41FA5}">
                      <a16:colId xmlns:a16="http://schemas.microsoft.com/office/drawing/2014/main" val="42235474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5909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80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229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HR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96236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CDAA0AF-A0C1-0B51-9B85-926B15DCAC7F}"/>
              </a:ext>
            </a:extLst>
          </p:cNvPr>
          <p:cNvSpPr txBox="1"/>
          <p:nvPr/>
        </p:nvSpPr>
        <p:spPr>
          <a:xfrm>
            <a:off x="7723790" y="596884"/>
            <a:ext cx="1430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Employee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201B1E-8067-F929-1714-BA982B6A29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745437"/>
              </p:ext>
            </p:extLst>
          </p:nvPr>
        </p:nvGraphicFramePr>
        <p:xfrm>
          <a:off x="5164302" y="1018540"/>
          <a:ext cx="6549696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7424">
                  <a:extLst>
                    <a:ext uri="{9D8B030D-6E8A-4147-A177-3AD203B41FA5}">
                      <a16:colId xmlns:a16="http://schemas.microsoft.com/office/drawing/2014/main" val="1135929203"/>
                    </a:ext>
                  </a:extLst>
                </a:gridCol>
                <a:gridCol w="1637424">
                  <a:extLst>
                    <a:ext uri="{9D8B030D-6E8A-4147-A177-3AD203B41FA5}">
                      <a16:colId xmlns:a16="http://schemas.microsoft.com/office/drawing/2014/main" val="3486009148"/>
                    </a:ext>
                  </a:extLst>
                </a:gridCol>
                <a:gridCol w="1637424">
                  <a:extLst>
                    <a:ext uri="{9D8B030D-6E8A-4147-A177-3AD203B41FA5}">
                      <a16:colId xmlns:a16="http://schemas.microsoft.com/office/drawing/2014/main" val="3782254779"/>
                    </a:ext>
                  </a:extLst>
                </a:gridCol>
                <a:gridCol w="1637424">
                  <a:extLst>
                    <a:ext uri="{9D8B030D-6E8A-4147-A177-3AD203B41FA5}">
                      <a16:colId xmlns:a16="http://schemas.microsoft.com/office/drawing/2014/main" val="3858495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departmentId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0139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2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Jim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472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John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4736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Alex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9285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4038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Henry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771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Susan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287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David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073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Robert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5851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8133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Rita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3467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Manoj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814058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58F24E8-3F09-C534-639A-717BD6FB667D}"/>
              </a:ext>
            </a:extLst>
          </p:cNvPr>
          <p:cNvSpPr txBox="1"/>
          <p:nvPr/>
        </p:nvSpPr>
        <p:spPr>
          <a:xfrm>
            <a:off x="713390" y="4212790"/>
            <a:ext cx="25540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Find employees belonging to the </a:t>
            </a:r>
            <a:r>
              <a:rPr lang="en-IN" b="1" dirty="0"/>
              <a:t>top three distinct salaries of each department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9706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EF692-8B5D-84C3-509C-5E7B04601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C6817C3-6FCF-EE26-E086-F2206B4CFD7F}"/>
              </a:ext>
            </a:extLst>
          </p:cNvPr>
          <p:cNvSpPr txBox="1"/>
          <p:nvPr/>
        </p:nvSpPr>
        <p:spPr>
          <a:xfrm>
            <a:off x="713390" y="911038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Output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F862198-44A0-07D9-7BFF-B277DC758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265463"/>
              </p:ext>
            </p:extLst>
          </p:nvPr>
        </p:nvGraphicFramePr>
        <p:xfrm>
          <a:off x="581573" y="1389380"/>
          <a:ext cx="8127999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35325964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020508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67142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8551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751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Jim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390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John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5514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Alex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77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Henry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635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Susan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4128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David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2912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1468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Rita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0889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Manoj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50000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945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0477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</TotalTime>
  <Words>519</Words>
  <Application>Microsoft Office PowerPoint</Application>
  <PresentationFormat>Widescreen</PresentationFormat>
  <Paragraphs>193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Window Functions</vt:lpstr>
      <vt:lpstr>Problem Statement                                              [Hard]</vt:lpstr>
      <vt:lpstr>PowerPoint Presentation</vt:lpstr>
      <vt:lpstr>PowerPoint Presentation</vt:lpstr>
      <vt:lpstr>Problem Statement                                              [Hard]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 Singh Rathore</dc:creator>
  <cp:lastModifiedBy>Alok Singh Rathore</cp:lastModifiedBy>
  <cp:revision>7</cp:revision>
  <dcterms:created xsi:type="dcterms:W3CDTF">2026-07-02T16:54:53Z</dcterms:created>
  <dcterms:modified xsi:type="dcterms:W3CDTF">2026-09-12T03:31:03Z</dcterms:modified>
</cp:coreProperties>
</file>