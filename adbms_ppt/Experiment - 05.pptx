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108" y="11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33CF3-2D83-10A2-E8B8-0F90CF3FE9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4C601CF-2ACA-C605-D3C0-6197B08E2F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0E65F43-16AD-4E03-7391-7DEDF7423FBB}"/>
              </a:ext>
            </a:extLst>
          </p:cNvPr>
          <p:cNvSpPr>
            <a:spLocks noGrp="1"/>
          </p:cNvSpPr>
          <p:nvPr>
            <p:ph type="dt" sz="half" idx="10"/>
          </p:nvPr>
        </p:nvSpPr>
        <p:spPr/>
        <p:txBody>
          <a:bodyPr/>
          <a:lstStyle/>
          <a:p>
            <a:fld id="{41F025E7-5EC5-4588-94A1-18BB47418161}" type="datetimeFigureOut">
              <a:rPr lang="en-IN" smtClean="0"/>
              <a:t>09-08-2026</a:t>
            </a:fld>
            <a:endParaRPr lang="en-IN"/>
          </a:p>
        </p:txBody>
      </p:sp>
      <p:sp>
        <p:nvSpPr>
          <p:cNvPr id="5" name="Footer Placeholder 4">
            <a:extLst>
              <a:ext uri="{FF2B5EF4-FFF2-40B4-BE49-F238E27FC236}">
                <a16:creationId xmlns:a16="http://schemas.microsoft.com/office/drawing/2014/main" id="{A336645A-FBA9-00B7-6F9E-A3809A885E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198F4E-D140-26BE-3B61-68DB0F15E7E8}"/>
              </a:ext>
            </a:extLst>
          </p:cNvPr>
          <p:cNvSpPr>
            <a:spLocks noGrp="1"/>
          </p:cNvSpPr>
          <p:nvPr>
            <p:ph type="sldNum" sz="quarter" idx="12"/>
          </p:nvPr>
        </p:nvSpPr>
        <p:spPr/>
        <p:txBody>
          <a:bodyPr/>
          <a:lstStyle/>
          <a:p>
            <a:fld id="{67881CC8-7780-4756-9693-D8436A73C6A9}" type="slidenum">
              <a:rPr lang="en-IN" smtClean="0"/>
              <a:t>‹#›</a:t>
            </a:fld>
            <a:endParaRPr lang="en-IN"/>
          </a:p>
        </p:txBody>
      </p:sp>
    </p:spTree>
    <p:extLst>
      <p:ext uri="{BB962C8B-B14F-4D97-AF65-F5344CB8AC3E}">
        <p14:creationId xmlns:p14="http://schemas.microsoft.com/office/powerpoint/2010/main" val="2449221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A15CF-6FD4-4A59-D268-45881E8BD40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6A61BF-25DF-2FE6-F45F-2E8B559BE3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FA8453-40F5-68F3-9311-D03CBA2F5A06}"/>
              </a:ext>
            </a:extLst>
          </p:cNvPr>
          <p:cNvSpPr>
            <a:spLocks noGrp="1"/>
          </p:cNvSpPr>
          <p:nvPr>
            <p:ph type="dt" sz="half" idx="10"/>
          </p:nvPr>
        </p:nvSpPr>
        <p:spPr/>
        <p:txBody>
          <a:bodyPr/>
          <a:lstStyle/>
          <a:p>
            <a:fld id="{41F025E7-5EC5-4588-94A1-18BB47418161}" type="datetimeFigureOut">
              <a:rPr lang="en-IN" smtClean="0"/>
              <a:t>09-08-2026</a:t>
            </a:fld>
            <a:endParaRPr lang="en-IN"/>
          </a:p>
        </p:txBody>
      </p:sp>
      <p:sp>
        <p:nvSpPr>
          <p:cNvPr id="5" name="Footer Placeholder 4">
            <a:extLst>
              <a:ext uri="{FF2B5EF4-FFF2-40B4-BE49-F238E27FC236}">
                <a16:creationId xmlns:a16="http://schemas.microsoft.com/office/drawing/2014/main" id="{E2E46C92-C9A2-84DD-4335-86115E5583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7797D5-73A0-CA11-7CBA-7E9EBA051806}"/>
              </a:ext>
            </a:extLst>
          </p:cNvPr>
          <p:cNvSpPr>
            <a:spLocks noGrp="1"/>
          </p:cNvSpPr>
          <p:nvPr>
            <p:ph type="sldNum" sz="quarter" idx="12"/>
          </p:nvPr>
        </p:nvSpPr>
        <p:spPr/>
        <p:txBody>
          <a:bodyPr/>
          <a:lstStyle/>
          <a:p>
            <a:fld id="{67881CC8-7780-4756-9693-D8436A73C6A9}" type="slidenum">
              <a:rPr lang="en-IN" smtClean="0"/>
              <a:t>‹#›</a:t>
            </a:fld>
            <a:endParaRPr lang="en-IN"/>
          </a:p>
        </p:txBody>
      </p:sp>
    </p:spTree>
    <p:extLst>
      <p:ext uri="{BB962C8B-B14F-4D97-AF65-F5344CB8AC3E}">
        <p14:creationId xmlns:p14="http://schemas.microsoft.com/office/powerpoint/2010/main" val="4209377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A8398-670F-26B4-3FCA-68E7C8806E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2B5B3A3-89BE-6FE8-AB74-A2E7815A65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27E34A-75BE-D1D2-B3B9-AA7FAF65B279}"/>
              </a:ext>
            </a:extLst>
          </p:cNvPr>
          <p:cNvSpPr>
            <a:spLocks noGrp="1"/>
          </p:cNvSpPr>
          <p:nvPr>
            <p:ph type="dt" sz="half" idx="10"/>
          </p:nvPr>
        </p:nvSpPr>
        <p:spPr/>
        <p:txBody>
          <a:bodyPr/>
          <a:lstStyle/>
          <a:p>
            <a:fld id="{41F025E7-5EC5-4588-94A1-18BB47418161}" type="datetimeFigureOut">
              <a:rPr lang="en-IN" smtClean="0"/>
              <a:t>09-08-2026</a:t>
            </a:fld>
            <a:endParaRPr lang="en-IN"/>
          </a:p>
        </p:txBody>
      </p:sp>
      <p:sp>
        <p:nvSpPr>
          <p:cNvPr id="5" name="Footer Placeholder 4">
            <a:extLst>
              <a:ext uri="{FF2B5EF4-FFF2-40B4-BE49-F238E27FC236}">
                <a16:creationId xmlns:a16="http://schemas.microsoft.com/office/drawing/2014/main" id="{999E55D6-0044-CE65-0799-5CDB0ABCD8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879B12-7E41-5F37-7E42-76BEBF13B87D}"/>
              </a:ext>
            </a:extLst>
          </p:cNvPr>
          <p:cNvSpPr>
            <a:spLocks noGrp="1"/>
          </p:cNvSpPr>
          <p:nvPr>
            <p:ph type="sldNum" sz="quarter" idx="12"/>
          </p:nvPr>
        </p:nvSpPr>
        <p:spPr/>
        <p:txBody>
          <a:bodyPr/>
          <a:lstStyle/>
          <a:p>
            <a:fld id="{67881CC8-7780-4756-9693-D8436A73C6A9}" type="slidenum">
              <a:rPr lang="en-IN" smtClean="0"/>
              <a:t>‹#›</a:t>
            </a:fld>
            <a:endParaRPr lang="en-IN"/>
          </a:p>
        </p:txBody>
      </p:sp>
    </p:spTree>
    <p:extLst>
      <p:ext uri="{BB962C8B-B14F-4D97-AF65-F5344CB8AC3E}">
        <p14:creationId xmlns:p14="http://schemas.microsoft.com/office/powerpoint/2010/main" val="1166692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42F92-4EF7-1D72-8DBE-BBFD87199E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4A4E191-D5AF-7EAA-DB5A-CA3D604649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818979F-9B9C-22F5-BEB6-B78ED9E30C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B6AD477-85F5-31F8-019E-4B30F0BE9A0B}"/>
              </a:ext>
            </a:extLst>
          </p:cNvPr>
          <p:cNvSpPr>
            <a:spLocks noGrp="1"/>
          </p:cNvSpPr>
          <p:nvPr>
            <p:ph type="dt" sz="half" idx="10"/>
          </p:nvPr>
        </p:nvSpPr>
        <p:spPr/>
        <p:txBody>
          <a:bodyPr/>
          <a:lstStyle/>
          <a:p>
            <a:fld id="{41F025E7-5EC5-4588-94A1-18BB47418161}" type="datetimeFigureOut">
              <a:rPr lang="en-IN" smtClean="0"/>
              <a:t>09-08-2026</a:t>
            </a:fld>
            <a:endParaRPr lang="en-IN"/>
          </a:p>
        </p:txBody>
      </p:sp>
      <p:sp>
        <p:nvSpPr>
          <p:cNvPr id="6" name="Footer Placeholder 5">
            <a:extLst>
              <a:ext uri="{FF2B5EF4-FFF2-40B4-BE49-F238E27FC236}">
                <a16:creationId xmlns:a16="http://schemas.microsoft.com/office/drawing/2014/main" id="{D86EF8C0-FD13-162E-ADAD-62B2B7566C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91795B-3719-594A-F37D-76E5BE7FA956}"/>
              </a:ext>
            </a:extLst>
          </p:cNvPr>
          <p:cNvSpPr>
            <a:spLocks noGrp="1"/>
          </p:cNvSpPr>
          <p:nvPr>
            <p:ph type="sldNum" sz="quarter" idx="12"/>
          </p:nvPr>
        </p:nvSpPr>
        <p:spPr/>
        <p:txBody>
          <a:bodyPr/>
          <a:lstStyle/>
          <a:p>
            <a:fld id="{67881CC8-7780-4756-9693-D8436A73C6A9}" type="slidenum">
              <a:rPr lang="en-IN" smtClean="0"/>
              <a:t>‹#›</a:t>
            </a:fld>
            <a:endParaRPr lang="en-IN"/>
          </a:p>
        </p:txBody>
      </p:sp>
    </p:spTree>
    <p:extLst>
      <p:ext uri="{BB962C8B-B14F-4D97-AF65-F5344CB8AC3E}">
        <p14:creationId xmlns:p14="http://schemas.microsoft.com/office/powerpoint/2010/main" val="1628484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30C90-BD10-F9EA-D934-25F7865DF87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2AB4A4F-DD17-C387-715E-B976312448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C47F8B-3214-668C-9722-48C85DEB13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95FE8EE-A9AD-F984-6A2D-2283A9DC54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0F4E92-7DA8-8045-A252-D7F57C9834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38C5952-1269-6F4F-1E53-582BDA31F4F5}"/>
              </a:ext>
            </a:extLst>
          </p:cNvPr>
          <p:cNvSpPr>
            <a:spLocks noGrp="1"/>
          </p:cNvSpPr>
          <p:nvPr>
            <p:ph type="dt" sz="half" idx="10"/>
          </p:nvPr>
        </p:nvSpPr>
        <p:spPr/>
        <p:txBody>
          <a:bodyPr/>
          <a:lstStyle/>
          <a:p>
            <a:fld id="{41F025E7-5EC5-4588-94A1-18BB47418161}" type="datetimeFigureOut">
              <a:rPr lang="en-IN" smtClean="0"/>
              <a:t>09-08-2026</a:t>
            </a:fld>
            <a:endParaRPr lang="en-IN"/>
          </a:p>
        </p:txBody>
      </p:sp>
      <p:sp>
        <p:nvSpPr>
          <p:cNvPr id="8" name="Footer Placeholder 7">
            <a:extLst>
              <a:ext uri="{FF2B5EF4-FFF2-40B4-BE49-F238E27FC236}">
                <a16:creationId xmlns:a16="http://schemas.microsoft.com/office/drawing/2014/main" id="{D59BE83F-4589-7DD2-4FD7-4CC2AAFEEAF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9F98E9-A1CE-86F8-6405-EF0FF7494113}"/>
              </a:ext>
            </a:extLst>
          </p:cNvPr>
          <p:cNvSpPr>
            <a:spLocks noGrp="1"/>
          </p:cNvSpPr>
          <p:nvPr>
            <p:ph type="sldNum" sz="quarter" idx="12"/>
          </p:nvPr>
        </p:nvSpPr>
        <p:spPr/>
        <p:txBody>
          <a:bodyPr/>
          <a:lstStyle/>
          <a:p>
            <a:fld id="{67881CC8-7780-4756-9693-D8436A73C6A9}" type="slidenum">
              <a:rPr lang="en-IN" smtClean="0"/>
              <a:t>‹#›</a:t>
            </a:fld>
            <a:endParaRPr lang="en-IN"/>
          </a:p>
        </p:txBody>
      </p:sp>
    </p:spTree>
    <p:extLst>
      <p:ext uri="{BB962C8B-B14F-4D97-AF65-F5344CB8AC3E}">
        <p14:creationId xmlns:p14="http://schemas.microsoft.com/office/powerpoint/2010/main" val="1211226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8CC30-EBBE-79C5-35D0-5DDBE8EEB07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E901DE7-A46A-870E-FC0E-DB26AE902ACE}"/>
              </a:ext>
            </a:extLst>
          </p:cNvPr>
          <p:cNvSpPr>
            <a:spLocks noGrp="1"/>
          </p:cNvSpPr>
          <p:nvPr>
            <p:ph type="dt" sz="half" idx="10"/>
          </p:nvPr>
        </p:nvSpPr>
        <p:spPr/>
        <p:txBody>
          <a:bodyPr/>
          <a:lstStyle/>
          <a:p>
            <a:fld id="{41F025E7-5EC5-4588-94A1-18BB47418161}" type="datetimeFigureOut">
              <a:rPr lang="en-IN" smtClean="0"/>
              <a:t>09-08-2026</a:t>
            </a:fld>
            <a:endParaRPr lang="en-IN"/>
          </a:p>
        </p:txBody>
      </p:sp>
      <p:sp>
        <p:nvSpPr>
          <p:cNvPr id="4" name="Footer Placeholder 3">
            <a:extLst>
              <a:ext uri="{FF2B5EF4-FFF2-40B4-BE49-F238E27FC236}">
                <a16:creationId xmlns:a16="http://schemas.microsoft.com/office/drawing/2014/main" id="{1729CD10-6764-D5A9-71BE-7DB3D7CDD3E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9F237E2-7122-8A28-0EEE-0926D5484466}"/>
              </a:ext>
            </a:extLst>
          </p:cNvPr>
          <p:cNvSpPr>
            <a:spLocks noGrp="1"/>
          </p:cNvSpPr>
          <p:nvPr>
            <p:ph type="sldNum" sz="quarter" idx="12"/>
          </p:nvPr>
        </p:nvSpPr>
        <p:spPr/>
        <p:txBody>
          <a:bodyPr/>
          <a:lstStyle/>
          <a:p>
            <a:fld id="{67881CC8-7780-4756-9693-D8436A73C6A9}" type="slidenum">
              <a:rPr lang="en-IN" smtClean="0"/>
              <a:t>‹#›</a:t>
            </a:fld>
            <a:endParaRPr lang="en-IN"/>
          </a:p>
        </p:txBody>
      </p:sp>
    </p:spTree>
    <p:extLst>
      <p:ext uri="{BB962C8B-B14F-4D97-AF65-F5344CB8AC3E}">
        <p14:creationId xmlns:p14="http://schemas.microsoft.com/office/powerpoint/2010/main" val="1120042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A3D0B0-57C9-12E9-B990-B89BFDBEF41C}"/>
              </a:ext>
            </a:extLst>
          </p:cNvPr>
          <p:cNvSpPr>
            <a:spLocks noGrp="1"/>
          </p:cNvSpPr>
          <p:nvPr>
            <p:ph type="dt" sz="half" idx="10"/>
          </p:nvPr>
        </p:nvSpPr>
        <p:spPr/>
        <p:txBody>
          <a:bodyPr/>
          <a:lstStyle/>
          <a:p>
            <a:fld id="{41F025E7-5EC5-4588-94A1-18BB47418161}" type="datetimeFigureOut">
              <a:rPr lang="en-IN" smtClean="0"/>
              <a:t>09-08-2026</a:t>
            </a:fld>
            <a:endParaRPr lang="en-IN"/>
          </a:p>
        </p:txBody>
      </p:sp>
      <p:sp>
        <p:nvSpPr>
          <p:cNvPr id="3" name="Footer Placeholder 2">
            <a:extLst>
              <a:ext uri="{FF2B5EF4-FFF2-40B4-BE49-F238E27FC236}">
                <a16:creationId xmlns:a16="http://schemas.microsoft.com/office/drawing/2014/main" id="{56D847F1-3048-2916-4CCD-EDA1BE03F40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441845D-C880-0704-10B5-5A8C8153973C}"/>
              </a:ext>
            </a:extLst>
          </p:cNvPr>
          <p:cNvSpPr>
            <a:spLocks noGrp="1"/>
          </p:cNvSpPr>
          <p:nvPr>
            <p:ph type="sldNum" sz="quarter" idx="12"/>
          </p:nvPr>
        </p:nvSpPr>
        <p:spPr/>
        <p:txBody>
          <a:bodyPr/>
          <a:lstStyle/>
          <a:p>
            <a:fld id="{67881CC8-7780-4756-9693-D8436A73C6A9}" type="slidenum">
              <a:rPr lang="en-IN" smtClean="0"/>
              <a:t>‹#›</a:t>
            </a:fld>
            <a:endParaRPr lang="en-IN"/>
          </a:p>
        </p:txBody>
      </p:sp>
    </p:spTree>
    <p:extLst>
      <p:ext uri="{BB962C8B-B14F-4D97-AF65-F5344CB8AC3E}">
        <p14:creationId xmlns:p14="http://schemas.microsoft.com/office/powerpoint/2010/main" val="2705712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CEE4D-86B0-6284-8ABA-CF4A445DC5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51693C5-8981-C1A0-99A1-2CB6AAC7A6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494853F-43C3-5237-952B-2B0613FE1C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0971C9-832A-013D-0BC4-00DA415F80F7}"/>
              </a:ext>
            </a:extLst>
          </p:cNvPr>
          <p:cNvSpPr>
            <a:spLocks noGrp="1"/>
          </p:cNvSpPr>
          <p:nvPr>
            <p:ph type="dt" sz="half" idx="10"/>
          </p:nvPr>
        </p:nvSpPr>
        <p:spPr/>
        <p:txBody>
          <a:bodyPr/>
          <a:lstStyle/>
          <a:p>
            <a:fld id="{41F025E7-5EC5-4588-94A1-18BB47418161}" type="datetimeFigureOut">
              <a:rPr lang="en-IN" smtClean="0"/>
              <a:t>09-08-2026</a:t>
            </a:fld>
            <a:endParaRPr lang="en-IN"/>
          </a:p>
        </p:txBody>
      </p:sp>
      <p:sp>
        <p:nvSpPr>
          <p:cNvPr id="6" name="Footer Placeholder 5">
            <a:extLst>
              <a:ext uri="{FF2B5EF4-FFF2-40B4-BE49-F238E27FC236}">
                <a16:creationId xmlns:a16="http://schemas.microsoft.com/office/drawing/2014/main" id="{CDF22DEC-9B77-A6CE-E697-4441E6A79C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14D211-CF39-0B44-6301-5376BF0A50C4}"/>
              </a:ext>
            </a:extLst>
          </p:cNvPr>
          <p:cNvSpPr>
            <a:spLocks noGrp="1"/>
          </p:cNvSpPr>
          <p:nvPr>
            <p:ph type="sldNum" sz="quarter" idx="12"/>
          </p:nvPr>
        </p:nvSpPr>
        <p:spPr/>
        <p:txBody>
          <a:bodyPr/>
          <a:lstStyle/>
          <a:p>
            <a:fld id="{67881CC8-7780-4756-9693-D8436A73C6A9}" type="slidenum">
              <a:rPr lang="en-IN" smtClean="0"/>
              <a:t>‹#›</a:t>
            </a:fld>
            <a:endParaRPr lang="en-IN"/>
          </a:p>
        </p:txBody>
      </p:sp>
    </p:spTree>
    <p:extLst>
      <p:ext uri="{BB962C8B-B14F-4D97-AF65-F5344CB8AC3E}">
        <p14:creationId xmlns:p14="http://schemas.microsoft.com/office/powerpoint/2010/main" val="619627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A7474-E3AD-20D6-C341-FF23B016FA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0498A28-A9EF-CACA-D36B-54D1575DFD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02522E6-033C-EFC4-0CC1-7A40D6224C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A3FBEC-91CE-075A-9CE3-AA71087A2A39}"/>
              </a:ext>
            </a:extLst>
          </p:cNvPr>
          <p:cNvSpPr>
            <a:spLocks noGrp="1"/>
          </p:cNvSpPr>
          <p:nvPr>
            <p:ph type="dt" sz="half" idx="10"/>
          </p:nvPr>
        </p:nvSpPr>
        <p:spPr/>
        <p:txBody>
          <a:bodyPr/>
          <a:lstStyle/>
          <a:p>
            <a:fld id="{41F025E7-5EC5-4588-94A1-18BB47418161}" type="datetimeFigureOut">
              <a:rPr lang="en-IN" smtClean="0"/>
              <a:t>09-08-2026</a:t>
            </a:fld>
            <a:endParaRPr lang="en-IN"/>
          </a:p>
        </p:txBody>
      </p:sp>
      <p:sp>
        <p:nvSpPr>
          <p:cNvPr id="6" name="Footer Placeholder 5">
            <a:extLst>
              <a:ext uri="{FF2B5EF4-FFF2-40B4-BE49-F238E27FC236}">
                <a16:creationId xmlns:a16="http://schemas.microsoft.com/office/drawing/2014/main" id="{1C124801-BF0C-E35D-3073-8C96B09290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5C1ACF-C98C-106F-AE34-AD94C4195A60}"/>
              </a:ext>
            </a:extLst>
          </p:cNvPr>
          <p:cNvSpPr>
            <a:spLocks noGrp="1"/>
          </p:cNvSpPr>
          <p:nvPr>
            <p:ph type="sldNum" sz="quarter" idx="12"/>
          </p:nvPr>
        </p:nvSpPr>
        <p:spPr/>
        <p:txBody>
          <a:bodyPr/>
          <a:lstStyle/>
          <a:p>
            <a:fld id="{67881CC8-7780-4756-9693-D8436A73C6A9}" type="slidenum">
              <a:rPr lang="en-IN" smtClean="0"/>
              <a:t>‹#›</a:t>
            </a:fld>
            <a:endParaRPr lang="en-IN"/>
          </a:p>
        </p:txBody>
      </p:sp>
    </p:spTree>
    <p:extLst>
      <p:ext uri="{BB962C8B-B14F-4D97-AF65-F5344CB8AC3E}">
        <p14:creationId xmlns:p14="http://schemas.microsoft.com/office/powerpoint/2010/main" val="3947155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91B95-36E3-F90B-0644-BD81700D7B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F02ED1-042E-D359-EA9C-D762B312B6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3B0B1B-D355-7F90-AB7C-C8A1914FAF0B}"/>
              </a:ext>
            </a:extLst>
          </p:cNvPr>
          <p:cNvSpPr>
            <a:spLocks noGrp="1"/>
          </p:cNvSpPr>
          <p:nvPr>
            <p:ph type="dt" sz="half" idx="10"/>
          </p:nvPr>
        </p:nvSpPr>
        <p:spPr/>
        <p:txBody>
          <a:bodyPr/>
          <a:lstStyle/>
          <a:p>
            <a:fld id="{41F025E7-5EC5-4588-94A1-18BB47418161}" type="datetimeFigureOut">
              <a:rPr lang="en-IN" smtClean="0"/>
              <a:t>09-08-2026</a:t>
            </a:fld>
            <a:endParaRPr lang="en-IN"/>
          </a:p>
        </p:txBody>
      </p:sp>
      <p:sp>
        <p:nvSpPr>
          <p:cNvPr id="5" name="Footer Placeholder 4">
            <a:extLst>
              <a:ext uri="{FF2B5EF4-FFF2-40B4-BE49-F238E27FC236}">
                <a16:creationId xmlns:a16="http://schemas.microsoft.com/office/drawing/2014/main" id="{D7101CBC-FD93-EFD3-81B1-026611099C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C516AF-23A1-46C4-A87F-80A01E84F653}"/>
              </a:ext>
            </a:extLst>
          </p:cNvPr>
          <p:cNvSpPr>
            <a:spLocks noGrp="1"/>
          </p:cNvSpPr>
          <p:nvPr>
            <p:ph type="sldNum" sz="quarter" idx="12"/>
          </p:nvPr>
        </p:nvSpPr>
        <p:spPr/>
        <p:txBody>
          <a:bodyPr/>
          <a:lstStyle/>
          <a:p>
            <a:fld id="{67881CC8-7780-4756-9693-D8436A73C6A9}" type="slidenum">
              <a:rPr lang="en-IN" smtClean="0"/>
              <a:t>‹#›</a:t>
            </a:fld>
            <a:endParaRPr lang="en-IN"/>
          </a:p>
        </p:txBody>
      </p:sp>
    </p:spTree>
    <p:extLst>
      <p:ext uri="{BB962C8B-B14F-4D97-AF65-F5344CB8AC3E}">
        <p14:creationId xmlns:p14="http://schemas.microsoft.com/office/powerpoint/2010/main" val="3457078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41BFF0-1675-C8DC-0FBC-F1803CC022E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4D60B3-1433-AAF0-9B8D-44C7977295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0DAAEB-02AF-9CF4-66A2-8108752616BF}"/>
              </a:ext>
            </a:extLst>
          </p:cNvPr>
          <p:cNvSpPr>
            <a:spLocks noGrp="1"/>
          </p:cNvSpPr>
          <p:nvPr>
            <p:ph type="dt" sz="half" idx="10"/>
          </p:nvPr>
        </p:nvSpPr>
        <p:spPr/>
        <p:txBody>
          <a:bodyPr/>
          <a:lstStyle/>
          <a:p>
            <a:fld id="{41F025E7-5EC5-4588-94A1-18BB47418161}" type="datetimeFigureOut">
              <a:rPr lang="en-IN" smtClean="0"/>
              <a:t>09-08-2026</a:t>
            </a:fld>
            <a:endParaRPr lang="en-IN"/>
          </a:p>
        </p:txBody>
      </p:sp>
      <p:sp>
        <p:nvSpPr>
          <p:cNvPr id="5" name="Footer Placeholder 4">
            <a:extLst>
              <a:ext uri="{FF2B5EF4-FFF2-40B4-BE49-F238E27FC236}">
                <a16:creationId xmlns:a16="http://schemas.microsoft.com/office/drawing/2014/main" id="{A3EB1D51-4150-6C8D-DB08-8E68E2D99F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852CA6-C301-0E2B-1129-62FF0F1CB986}"/>
              </a:ext>
            </a:extLst>
          </p:cNvPr>
          <p:cNvSpPr>
            <a:spLocks noGrp="1"/>
          </p:cNvSpPr>
          <p:nvPr>
            <p:ph type="sldNum" sz="quarter" idx="12"/>
          </p:nvPr>
        </p:nvSpPr>
        <p:spPr/>
        <p:txBody>
          <a:bodyPr/>
          <a:lstStyle/>
          <a:p>
            <a:fld id="{67881CC8-7780-4756-9693-D8436A73C6A9}" type="slidenum">
              <a:rPr lang="en-IN" smtClean="0"/>
              <a:t>‹#›</a:t>
            </a:fld>
            <a:endParaRPr lang="en-IN"/>
          </a:p>
        </p:txBody>
      </p:sp>
    </p:spTree>
    <p:extLst>
      <p:ext uri="{BB962C8B-B14F-4D97-AF65-F5344CB8AC3E}">
        <p14:creationId xmlns:p14="http://schemas.microsoft.com/office/powerpoint/2010/main" val="3978762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B77B3F-5EC6-9108-DB08-A7D4CE8B5F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AB4FA7C-6623-14D7-48AF-BCB75F59F4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89AF03-5C9B-5B7A-709B-284DFA72B6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F025E7-5EC5-4588-94A1-18BB47418161}" type="datetimeFigureOut">
              <a:rPr lang="en-IN" smtClean="0"/>
              <a:t>09-08-2026</a:t>
            </a:fld>
            <a:endParaRPr lang="en-IN"/>
          </a:p>
        </p:txBody>
      </p:sp>
      <p:sp>
        <p:nvSpPr>
          <p:cNvPr id="5" name="Footer Placeholder 4">
            <a:extLst>
              <a:ext uri="{FF2B5EF4-FFF2-40B4-BE49-F238E27FC236}">
                <a16:creationId xmlns:a16="http://schemas.microsoft.com/office/drawing/2014/main" id="{B8A69043-AF35-F4C2-485A-258B1E6234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3AE4BEC-330C-2F34-1096-7A8A03BDAC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881CC8-7780-4756-9693-D8436A73C6A9}" type="slidenum">
              <a:rPr lang="en-IN" smtClean="0"/>
              <a:t>‹#›</a:t>
            </a:fld>
            <a:endParaRPr lang="en-IN"/>
          </a:p>
        </p:txBody>
      </p:sp>
      <p:pic>
        <p:nvPicPr>
          <p:cNvPr id="7" name="Picture 6">
            <a:extLst>
              <a:ext uri="{FF2B5EF4-FFF2-40B4-BE49-F238E27FC236}">
                <a16:creationId xmlns:a16="http://schemas.microsoft.com/office/drawing/2014/main" id="{9168404C-2838-A8CC-B74A-B15D5D924C2E}"/>
              </a:ext>
            </a:extLst>
          </p:cNvPr>
          <p:cNvPicPr>
            <a:picLocks noChangeAspect="1"/>
          </p:cNvPicPr>
          <p:nvPr userDrawn="1"/>
        </p:nvPicPr>
        <p:blipFill>
          <a:blip r:embed="rId13"/>
          <a:stretch>
            <a:fillRect/>
          </a:stretch>
        </p:blipFill>
        <p:spPr>
          <a:xfrm>
            <a:off x="0" y="27493"/>
            <a:ext cx="11839074" cy="540327"/>
          </a:xfrm>
          <a:prstGeom prst="rect">
            <a:avLst/>
          </a:prstGeom>
        </p:spPr>
      </p:pic>
    </p:spTree>
    <p:extLst>
      <p:ext uri="{BB962C8B-B14F-4D97-AF65-F5344CB8AC3E}">
        <p14:creationId xmlns:p14="http://schemas.microsoft.com/office/powerpoint/2010/main" val="24103139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1CA27-5D88-532E-6422-F814E11F56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0F8766-A1AA-0725-1E04-D956FD275193}"/>
              </a:ext>
            </a:extLst>
          </p:cNvPr>
          <p:cNvSpPr>
            <a:spLocks noGrp="1"/>
          </p:cNvSpPr>
          <p:nvPr>
            <p:ph type="title"/>
          </p:nvPr>
        </p:nvSpPr>
        <p:spPr>
          <a:xfrm>
            <a:off x="507213" y="633189"/>
            <a:ext cx="10515600" cy="504496"/>
          </a:xfrm>
        </p:spPr>
        <p:txBody>
          <a:bodyPr>
            <a:normAutofit fontScale="90000"/>
          </a:bodyPr>
          <a:lstStyle/>
          <a:p>
            <a:r>
              <a:rPr lang="en-US" dirty="0"/>
              <a:t>Experiment 05</a:t>
            </a:r>
            <a:endParaRPr lang="en-IN" dirty="0"/>
          </a:p>
        </p:txBody>
      </p:sp>
      <p:sp>
        <p:nvSpPr>
          <p:cNvPr id="10" name="Rectangle 9">
            <a:extLst>
              <a:ext uri="{FF2B5EF4-FFF2-40B4-BE49-F238E27FC236}">
                <a16:creationId xmlns:a16="http://schemas.microsoft.com/office/drawing/2014/main" id="{B11D1B6B-070C-112F-575E-49D5770D01A1}"/>
              </a:ext>
            </a:extLst>
          </p:cNvPr>
          <p:cNvSpPr/>
          <p:nvPr/>
        </p:nvSpPr>
        <p:spPr>
          <a:xfrm>
            <a:off x="10430020" y="391105"/>
            <a:ext cx="1595310" cy="584775"/>
          </a:xfrm>
          <a:prstGeom prst="rect">
            <a:avLst/>
          </a:prstGeom>
          <a:noFill/>
        </p:spPr>
        <p:txBody>
          <a:bodyPr wrap="none" lIns="91440" tIns="45720" rIns="91440" bIns="45720">
            <a:spAutoFit/>
          </a:bodyPr>
          <a:lstStyle/>
          <a:p>
            <a:pPr algn="ctr"/>
            <a:r>
              <a:rPr lang="en-US" sz="3200" b="0" cap="none" spc="0" dirty="0">
                <a:ln w="0"/>
                <a:solidFill>
                  <a:schemeClr val="accent1"/>
                </a:solidFill>
                <a:effectLst>
                  <a:outerShdw blurRad="38100" dist="25400" dir="5400000" algn="ctr" rotWithShape="0">
                    <a:srgbClr val="6E747A">
                      <a:alpha val="43000"/>
                    </a:srgbClr>
                  </a:outerShdw>
                </a:effectLst>
              </a:rPr>
              <a:t>Medium</a:t>
            </a:r>
          </a:p>
        </p:txBody>
      </p:sp>
      <p:sp>
        <p:nvSpPr>
          <p:cNvPr id="6" name="TextBox 5">
            <a:extLst>
              <a:ext uri="{FF2B5EF4-FFF2-40B4-BE49-F238E27FC236}">
                <a16:creationId xmlns:a16="http://schemas.microsoft.com/office/drawing/2014/main" id="{BB9E07C8-904E-958C-5220-833872D28C3D}"/>
              </a:ext>
            </a:extLst>
          </p:cNvPr>
          <p:cNvSpPr txBox="1"/>
          <p:nvPr/>
        </p:nvSpPr>
        <p:spPr>
          <a:xfrm>
            <a:off x="487787" y="1433285"/>
            <a:ext cx="6516861" cy="2308324"/>
          </a:xfrm>
          <a:prstGeom prst="rect">
            <a:avLst/>
          </a:prstGeom>
          <a:noFill/>
        </p:spPr>
        <p:txBody>
          <a:bodyPr wrap="square">
            <a:spAutoFit/>
          </a:bodyPr>
          <a:lstStyle/>
          <a:p>
            <a:r>
              <a:rPr lang="en-IN" b="1" dirty="0"/>
              <a:t>(A)</a:t>
            </a:r>
            <a:r>
              <a:rPr lang="en-IN" dirty="0"/>
              <a:t> A website maintains records of users who have registered on the platform and the status of confirmation requests sent to them. A confirmation request can either be successfully completed or may expire without completion.</a:t>
            </a:r>
          </a:p>
          <a:p>
            <a:r>
              <a:rPr lang="en-IN" dirty="0"/>
              <a:t>For each registered user, calculate the confirmation rate, which is defined as:</a:t>
            </a:r>
            <a:br>
              <a:rPr lang="en-IN" dirty="0"/>
            </a:br>
            <a:br>
              <a:rPr lang="en-IN" dirty="0"/>
            </a:br>
            <a:endParaRPr lang="en-IN" dirty="0"/>
          </a:p>
        </p:txBody>
      </p:sp>
      <p:pic>
        <p:nvPicPr>
          <p:cNvPr id="11" name="Picture 10">
            <a:extLst>
              <a:ext uri="{FF2B5EF4-FFF2-40B4-BE49-F238E27FC236}">
                <a16:creationId xmlns:a16="http://schemas.microsoft.com/office/drawing/2014/main" id="{885D60CA-7A23-8D22-B4CD-A5E39E52DA8C}"/>
              </a:ext>
            </a:extLst>
          </p:cNvPr>
          <p:cNvPicPr>
            <a:picLocks noChangeAspect="1"/>
          </p:cNvPicPr>
          <p:nvPr/>
        </p:nvPicPr>
        <p:blipFill>
          <a:blip r:embed="rId2"/>
          <a:stretch>
            <a:fillRect/>
          </a:stretch>
        </p:blipFill>
        <p:spPr>
          <a:xfrm>
            <a:off x="487787" y="3429000"/>
            <a:ext cx="5764437" cy="1140716"/>
          </a:xfrm>
          <a:prstGeom prst="rect">
            <a:avLst/>
          </a:prstGeom>
        </p:spPr>
      </p:pic>
      <p:sp>
        <p:nvSpPr>
          <p:cNvPr id="13" name="TextBox 12">
            <a:extLst>
              <a:ext uri="{FF2B5EF4-FFF2-40B4-BE49-F238E27FC236}">
                <a16:creationId xmlns:a16="http://schemas.microsoft.com/office/drawing/2014/main" id="{891C0785-5243-3891-F333-B2E037B4AB63}"/>
              </a:ext>
            </a:extLst>
          </p:cNvPr>
          <p:cNvSpPr txBox="1"/>
          <p:nvPr/>
        </p:nvSpPr>
        <p:spPr>
          <a:xfrm>
            <a:off x="487787" y="5088103"/>
            <a:ext cx="6098874" cy="1477328"/>
          </a:xfrm>
          <a:prstGeom prst="rect">
            <a:avLst/>
          </a:prstGeom>
          <a:noFill/>
        </p:spPr>
        <p:txBody>
          <a:bodyPr wrap="square">
            <a:spAutoFit/>
          </a:bodyPr>
          <a:lstStyle/>
          <a:p>
            <a:pPr>
              <a:buNone/>
            </a:pPr>
            <a:r>
              <a:rPr lang="en-IN" dirty="0"/>
              <a:t>If a user has never received any confirmation request, their confirmation rate should be considered </a:t>
            </a:r>
            <a:r>
              <a:rPr lang="en-IN" b="1" dirty="0"/>
              <a:t>0</a:t>
            </a:r>
            <a:r>
              <a:rPr lang="en-IN" dirty="0"/>
              <a:t>.</a:t>
            </a:r>
          </a:p>
          <a:p>
            <a:pPr>
              <a:buNone/>
            </a:pPr>
            <a:endParaRPr lang="en-IN" dirty="0"/>
          </a:p>
          <a:p>
            <a:pPr>
              <a:buNone/>
            </a:pPr>
            <a:r>
              <a:rPr lang="en-IN" dirty="0"/>
              <a:t>Display the user ID along with the confirmation rate rounded to </a:t>
            </a:r>
            <a:r>
              <a:rPr lang="en-IN" b="1" dirty="0"/>
              <a:t>2 decimal places</a:t>
            </a:r>
            <a:r>
              <a:rPr lang="en-IN" dirty="0"/>
              <a:t>. The result can be returned in any order.</a:t>
            </a:r>
          </a:p>
        </p:txBody>
      </p:sp>
      <p:graphicFrame>
        <p:nvGraphicFramePr>
          <p:cNvPr id="14" name="Table 13">
            <a:extLst>
              <a:ext uri="{FF2B5EF4-FFF2-40B4-BE49-F238E27FC236}">
                <a16:creationId xmlns:a16="http://schemas.microsoft.com/office/drawing/2014/main" id="{2030323C-9C75-8043-E84E-5788395EF98B}"/>
              </a:ext>
            </a:extLst>
          </p:cNvPr>
          <p:cNvGraphicFramePr>
            <a:graphicFrameLocks noGrp="1"/>
          </p:cNvGraphicFramePr>
          <p:nvPr>
            <p:extLst>
              <p:ext uri="{D42A27DB-BD31-4B8C-83A1-F6EECF244321}">
                <p14:modId xmlns:p14="http://schemas.microsoft.com/office/powerpoint/2010/main" val="1635903558"/>
              </p:ext>
            </p:extLst>
          </p:nvPr>
        </p:nvGraphicFramePr>
        <p:xfrm>
          <a:off x="7804750" y="2531762"/>
          <a:ext cx="1473679" cy="1467596"/>
        </p:xfrm>
        <a:graphic>
          <a:graphicData uri="http://schemas.openxmlformats.org/drawingml/2006/table">
            <a:tbl>
              <a:tblPr/>
              <a:tblGrid>
                <a:gridCol w="1473679">
                  <a:extLst>
                    <a:ext uri="{9D8B030D-6E8A-4147-A177-3AD203B41FA5}">
                      <a16:colId xmlns:a16="http://schemas.microsoft.com/office/drawing/2014/main" val="401699275"/>
                    </a:ext>
                  </a:extLst>
                </a:gridCol>
              </a:tblGrid>
              <a:tr h="366899">
                <a:tc>
                  <a:txBody>
                    <a:bodyPr/>
                    <a:lstStyle/>
                    <a:p>
                      <a:pPr>
                        <a:buNone/>
                      </a:pPr>
                      <a:r>
                        <a:rPr lang="en-IN" b="1" dirty="0"/>
                        <a:t>Action</a:t>
                      </a:r>
                    </a:p>
                  </a:txBody>
                  <a:tcPr anchor="ctr">
                    <a:lnL>
                      <a:noFill/>
                    </a:lnL>
                    <a:lnR>
                      <a:noFill/>
                    </a:lnR>
                    <a:lnT>
                      <a:noFill/>
                    </a:lnT>
                    <a:lnB>
                      <a:noFill/>
                    </a:lnB>
                    <a:noFill/>
                  </a:tcPr>
                </a:tc>
                <a:extLst>
                  <a:ext uri="{0D108BD9-81ED-4DB2-BD59-A6C34878D82A}">
                    <a16:rowId xmlns:a16="http://schemas.microsoft.com/office/drawing/2014/main" val="3226329359"/>
                  </a:ext>
                </a:extLst>
              </a:tr>
              <a:tr h="366899">
                <a:tc>
                  <a:txBody>
                    <a:bodyPr/>
                    <a:lstStyle/>
                    <a:p>
                      <a:pPr>
                        <a:buNone/>
                      </a:pPr>
                      <a:r>
                        <a:rPr lang="en-IN" dirty="0"/>
                        <a:t>confirmed</a:t>
                      </a:r>
                    </a:p>
                  </a:txBody>
                  <a:tcPr anchor="ctr">
                    <a:lnL>
                      <a:noFill/>
                    </a:lnL>
                    <a:lnR>
                      <a:noFill/>
                    </a:lnR>
                    <a:lnT>
                      <a:noFill/>
                    </a:lnT>
                    <a:lnB>
                      <a:noFill/>
                    </a:lnB>
                    <a:noFill/>
                  </a:tcPr>
                </a:tc>
                <a:extLst>
                  <a:ext uri="{0D108BD9-81ED-4DB2-BD59-A6C34878D82A}">
                    <a16:rowId xmlns:a16="http://schemas.microsoft.com/office/drawing/2014/main" val="1379054814"/>
                  </a:ext>
                </a:extLst>
              </a:tr>
              <a:tr h="366899">
                <a:tc>
                  <a:txBody>
                    <a:bodyPr/>
                    <a:lstStyle/>
                    <a:p>
                      <a:pPr>
                        <a:buNone/>
                      </a:pPr>
                      <a:r>
                        <a:rPr lang="en-IN"/>
                        <a:t>confirmed</a:t>
                      </a:r>
                    </a:p>
                  </a:txBody>
                  <a:tcPr anchor="ctr">
                    <a:lnL>
                      <a:noFill/>
                    </a:lnL>
                    <a:lnR>
                      <a:noFill/>
                    </a:lnR>
                    <a:lnT>
                      <a:noFill/>
                    </a:lnT>
                    <a:lnB>
                      <a:noFill/>
                    </a:lnB>
                    <a:noFill/>
                  </a:tcPr>
                </a:tc>
                <a:extLst>
                  <a:ext uri="{0D108BD9-81ED-4DB2-BD59-A6C34878D82A}">
                    <a16:rowId xmlns:a16="http://schemas.microsoft.com/office/drawing/2014/main" val="2716405441"/>
                  </a:ext>
                </a:extLst>
              </a:tr>
              <a:tr h="366899">
                <a:tc>
                  <a:txBody>
                    <a:bodyPr/>
                    <a:lstStyle/>
                    <a:p>
                      <a:pPr>
                        <a:buNone/>
                      </a:pPr>
                      <a:r>
                        <a:rPr lang="en-IN" dirty="0"/>
                        <a:t>timeout</a:t>
                      </a:r>
                    </a:p>
                  </a:txBody>
                  <a:tcPr anchor="ctr">
                    <a:lnL>
                      <a:noFill/>
                    </a:lnL>
                    <a:lnR>
                      <a:noFill/>
                    </a:lnR>
                    <a:lnT>
                      <a:noFill/>
                    </a:lnT>
                    <a:lnB>
                      <a:noFill/>
                    </a:lnB>
                    <a:noFill/>
                  </a:tcPr>
                </a:tc>
                <a:extLst>
                  <a:ext uri="{0D108BD9-81ED-4DB2-BD59-A6C34878D82A}">
                    <a16:rowId xmlns:a16="http://schemas.microsoft.com/office/drawing/2014/main" val="548133747"/>
                  </a:ext>
                </a:extLst>
              </a:tr>
            </a:tbl>
          </a:graphicData>
        </a:graphic>
      </p:graphicFrame>
      <p:sp>
        <p:nvSpPr>
          <p:cNvPr id="16" name="TextBox 15">
            <a:extLst>
              <a:ext uri="{FF2B5EF4-FFF2-40B4-BE49-F238E27FC236}">
                <a16:creationId xmlns:a16="http://schemas.microsoft.com/office/drawing/2014/main" id="{C285D871-3471-2E2E-0E89-C9DB81602894}"/>
              </a:ext>
            </a:extLst>
          </p:cNvPr>
          <p:cNvSpPr txBox="1"/>
          <p:nvPr/>
        </p:nvSpPr>
        <p:spPr>
          <a:xfrm>
            <a:off x="7722080" y="1290540"/>
            <a:ext cx="3699294" cy="923330"/>
          </a:xfrm>
          <a:prstGeom prst="rect">
            <a:avLst/>
          </a:prstGeom>
          <a:noFill/>
        </p:spPr>
        <p:txBody>
          <a:bodyPr wrap="square">
            <a:spAutoFit/>
          </a:bodyPr>
          <a:lstStyle/>
          <a:p>
            <a:pPr>
              <a:buNone/>
            </a:pPr>
            <a:r>
              <a:rPr lang="en-IN" b="1" dirty="0"/>
              <a:t>Example</a:t>
            </a:r>
          </a:p>
          <a:p>
            <a:pPr>
              <a:buNone/>
            </a:pPr>
            <a:r>
              <a:rPr lang="en-IN" dirty="0"/>
              <a:t>Suppose a user has the following confirmation records:</a:t>
            </a:r>
          </a:p>
        </p:txBody>
      </p:sp>
      <p:sp>
        <p:nvSpPr>
          <p:cNvPr id="18" name="TextBox 17">
            <a:extLst>
              <a:ext uri="{FF2B5EF4-FFF2-40B4-BE49-F238E27FC236}">
                <a16:creationId xmlns:a16="http://schemas.microsoft.com/office/drawing/2014/main" id="{051AEC7B-859E-4742-A642-0E7350B76E5F}"/>
              </a:ext>
            </a:extLst>
          </p:cNvPr>
          <p:cNvSpPr txBox="1"/>
          <p:nvPr/>
        </p:nvSpPr>
        <p:spPr>
          <a:xfrm>
            <a:off x="7640847" y="5226602"/>
            <a:ext cx="3275163" cy="1200329"/>
          </a:xfrm>
          <a:prstGeom prst="rect">
            <a:avLst/>
          </a:prstGeom>
          <a:noFill/>
        </p:spPr>
        <p:txBody>
          <a:bodyPr wrap="square">
            <a:spAutoFit/>
          </a:bodyPr>
          <a:lstStyle/>
          <a:p>
            <a:r>
              <a:rPr lang="en-IN" dirty="0"/>
              <a:t>Successful Confirmations = 2</a:t>
            </a:r>
          </a:p>
          <a:p>
            <a:r>
              <a:rPr lang="en-IN" dirty="0"/>
              <a:t>Total Requests = 3</a:t>
            </a:r>
          </a:p>
          <a:p>
            <a:endParaRPr lang="en-IN" dirty="0"/>
          </a:p>
          <a:p>
            <a:r>
              <a:rPr lang="en-IN" dirty="0"/>
              <a:t>Confirmation Rate = 2 / 3 = 0.67</a:t>
            </a:r>
          </a:p>
        </p:txBody>
      </p:sp>
      <p:sp>
        <p:nvSpPr>
          <p:cNvPr id="22" name="TextBox 21">
            <a:extLst>
              <a:ext uri="{FF2B5EF4-FFF2-40B4-BE49-F238E27FC236}">
                <a16:creationId xmlns:a16="http://schemas.microsoft.com/office/drawing/2014/main" id="{358D21F9-933B-9E00-0F88-A220AF7F01B0}"/>
              </a:ext>
            </a:extLst>
          </p:cNvPr>
          <p:cNvSpPr txBox="1"/>
          <p:nvPr/>
        </p:nvSpPr>
        <p:spPr>
          <a:xfrm>
            <a:off x="7640847" y="4857270"/>
            <a:ext cx="1125747" cy="369332"/>
          </a:xfrm>
          <a:prstGeom prst="rect">
            <a:avLst/>
          </a:prstGeom>
          <a:noFill/>
        </p:spPr>
        <p:txBody>
          <a:bodyPr wrap="square">
            <a:spAutoFit/>
          </a:bodyPr>
          <a:lstStyle/>
          <a:p>
            <a:r>
              <a:rPr lang="en-IN" dirty="0"/>
              <a:t>Then:</a:t>
            </a:r>
          </a:p>
        </p:txBody>
      </p:sp>
    </p:spTree>
    <p:extLst>
      <p:ext uri="{BB962C8B-B14F-4D97-AF65-F5344CB8AC3E}">
        <p14:creationId xmlns:p14="http://schemas.microsoft.com/office/powerpoint/2010/main" val="3880710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DC879-428A-8CE2-2D96-F386F674A16F}"/>
              </a:ext>
            </a:extLst>
          </p:cNvPr>
          <p:cNvSpPr>
            <a:spLocks noGrp="1"/>
          </p:cNvSpPr>
          <p:nvPr>
            <p:ph type="title"/>
          </p:nvPr>
        </p:nvSpPr>
        <p:spPr>
          <a:xfrm>
            <a:off x="712075" y="536029"/>
            <a:ext cx="10515600" cy="504496"/>
          </a:xfrm>
        </p:spPr>
        <p:txBody>
          <a:bodyPr>
            <a:normAutofit fontScale="90000"/>
          </a:bodyPr>
          <a:lstStyle/>
          <a:p>
            <a:r>
              <a:rPr lang="en-US" dirty="0"/>
              <a:t>Experiment 05</a:t>
            </a:r>
            <a:endParaRPr lang="en-IN" dirty="0"/>
          </a:p>
        </p:txBody>
      </p:sp>
      <p:graphicFrame>
        <p:nvGraphicFramePr>
          <p:cNvPr id="4" name="Table 3">
            <a:extLst>
              <a:ext uri="{FF2B5EF4-FFF2-40B4-BE49-F238E27FC236}">
                <a16:creationId xmlns:a16="http://schemas.microsoft.com/office/drawing/2014/main" id="{75F8E477-8650-BD74-9C60-A2E057E33267}"/>
              </a:ext>
            </a:extLst>
          </p:cNvPr>
          <p:cNvGraphicFramePr>
            <a:graphicFrameLocks noGrp="1"/>
          </p:cNvGraphicFramePr>
          <p:nvPr>
            <p:extLst>
              <p:ext uri="{D42A27DB-BD31-4B8C-83A1-F6EECF244321}">
                <p14:modId xmlns:p14="http://schemas.microsoft.com/office/powerpoint/2010/main" val="1127926826"/>
              </p:ext>
            </p:extLst>
          </p:nvPr>
        </p:nvGraphicFramePr>
        <p:xfrm>
          <a:off x="712075" y="2308477"/>
          <a:ext cx="3980696" cy="2931160"/>
        </p:xfrm>
        <a:graphic>
          <a:graphicData uri="http://schemas.openxmlformats.org/drawingml/2006/table">
            <a:tbl>
              <a:tblPr firstRow="1" bandRow="1">
                <a:tableStyleId>{5C22544A-7EE6-4342-B048-85BDC9FD1C3A}</a:tableStyleId>
              </a:tblPr>
              <a:tblGrid>
                <a:gridCol w="1990348">
                  <a:extLst>
                    <a:ext uri="{9D8B030D-6E8A-4147-A177-3AD203B41FA5}">
                      <a16:colId xmlns:a16="http://schemas.microsoft.com/office/drawing/2014/main" val="2602031945"/>
                    </a:ext>
                  </a:extLst>
                </a:gridCol>
                <a:gridCol w="1990348">
                  <a:extLst>
                    <a:ext uri="{9D8B030D-6E8A-4147-A177-3AD203B41FA5}">
                      <a16:colId xmlns:a16="http://schemas.microsoft.com/office/drawing/2014/main" val="2743006470"/>
                    </a:ext>
                  </a:extLst>
                </a:gridCol>
              </a:tblGrid>
              <a:tr h="370840">
                <a:tc>
                  <a:txBody>
                    <a:bodyPr/>
                    <a:lstStyle/>
                    <a:p>
                      <a:pPr algn="ctr">
                        <a:buNone/>
                      </a:pPr>
                      <a:r>
                        <a:rPr lang="en-IN" dirty="0" err="1"/>
                        <a:t>user_id</a:t>
                      </a:r>
                      <a:endParaRPr lang="en-IN" dirty="0"/>
                    </a:p>
                  </a:txBody>
                  <a:tcPr anchor="ctr"/>
                </a:tc>
                <a:tc>
                  <a:txBody>
                    <a:bodyPr/>
                    <a:lstStyle/>
                    <a:p>
                      <a:pPr algn="ctr">
                        <a:buNone/>
                      </a:pPr>
                      <a:r>
                        <a:rPr lang="en-IN"/>
                        <a:t>time_stamp</a:t>
                      </a:r>
                    </a:p>
                  </a:txBody>
                  <a:tcPr anchor="ctr"/>
                </a:tc>
                <a:extLst>
                  <a:ext uri="{0D108BD9-81ED-4DB2-BD59-A6C34878D82A}">
                    <a16:rowId xmlns:a16="http://schemas.microsoft.com/office/drawing/2014/main" val="3916155989"/>
                  </a:ext>
                </a:extLst>
              </a:tr>
              <a:tr h="370840">
                <a:tc>
                  <a:txBody>
                    <a:bodyPr/>
                    <a:lstStyle/>
                    <a:p>
                      <a:pPr algn="ctr">
                        <a:buNone/>
                      </a:pPr>
                      <a:r>
                        <a:rPr lang="en-IN"/>
                        <a:t>3</a:t>
                      </a:r>
                    </a:p>
                  </a:txBody>
                  <a:tcPr anchor="ctr"/>
                </a:tc>
                <a:tc>
                  <a:txBody>
                    <a:bodyPr/>
                    <a:lstStyle/>
                    <a:p>
                      <a:pPr algn="ctr">
                        <a:buNone/>
                      </a:pPr>
                      <a:r>
                        <a:rPr lang="en-IN"/>
                        <a:t>2020-03-21 10:16:13</a:t>
                      </a:r>
                    </a:p>
                  </a:txBody>
                  <a:tcPr anchor="ctr"/>
                </a:tc>
                <a:extLst>
                  <a:ext uri="{0D108BD9-81ED-4DB2-BD59-A6C34878D82A}">
                    <a16:rowId xmlns:a16="http://schemas.microsoft.com/office/drawing/2014/main" val="1765846926"/>
                  </a:ext>
                </a:extLst>
              </a:tr>
              <a:tr h="370840">
                <a:tc>
                  <a:txBody>
                    <a:bodyPr/>
                    <a:lstStyle/>
                    <a:p>
                      <a:pPr algn="ctr">
                        <a:buNone/>
                      </a:pPr>
                      <a:r>
                        <a:rPr lang="en-IN"/>
                        <a:t>7</a:t>
                      </a:r>
                    </a:p>
                  </a:txBody>
                  <a:tcPr anchor="ctr"/>
                </a:tc>
                <a:tc>
                  <a:txBody>
                    <a:bodyPr/>
                    <a:lstStyle/>
                    <a:p>
                      <a:pPr algn="ctr">
                        <a:buNone/>
                      </a:pPr>
                      <a:r>
                        <a:rPr lang="en-IN"/>
                        <a:t>2020-01-04 13:57:59</a:t>
                      </a:r>
                    </a:p>
                  </a:txBody>
                  <a:tcPr anchor="ctr"/>
                </a:tc>
                <a:extLst>
                  <a:ext uri="{0D108BD9-81ED-4DB2-BD59-A6C34878D82A}">
                    <a16:rowId xmlns:a16="http://schemas.microsoft.com/office/drawing/2014/main" val="2861203520"/>
                  </a:ext>
                </a:extLst>
              </a:tr>
              <a:tr h="370840">
                <a:tc>
                  <a:txBody>
                    <a:bodyPr/>
                    <a:lstStyle/>
                    <a:p>
                      <a:pPr algn="ctr">
                        <a:buNone/>
                      </a:pPr>
                      <a:r>
                        <a:rPr lang="en-IN"/>
                        <a:t>2</a:t>
                      </a:r>
                    </a:p>
                  </a:txBody>
                  <a:tcPr anchor="ctr"/>
                </a:tc>
                <a:tc>
                  <a:txBody>
                    <a:bodyPr/>
                    <a:lstStyle/>
                    <a:p>
                      <a:pPr algn="ctr">
                        <a:buNone/>
                      </a:pPr>
                      <a:r>
                        <a:rPr lang="en-IN"/>
                        <a:t>2020-07-29 23:09:44</a:t>
                      </a:r>
                    </a:p>
                  </a:txBody>
                  <a:tcPr anchor="ctr"/>
                </a:tc>
                <a:extLst>
                  <a:ext uri="{0D108BD9-81ED-4DB2-BD59-A6C34878D82A}">
                    <a16:rowId xmlns:a16="http://schemas.microsoft.com/office/drawing/2014/main" val="327987554"/>
                  </a:ext>
                </a:extLst>
              </a:tr>
              <a:tr h="370840">
                <a:tc>
                  <a:txBody>
                    <a:bodyPr/>
                    <a:lstStyle/>
                    <a:p>
                      <a:pPr algn="ctr">
                        <a:buNone/>
                      </a:pPr>
                      <a:r>
                        <a:rPr lang="en-IN"/>
                        <a:t>6</a:t>
                      </a:r>
                    </a:p>
                  </a:txBody>
                  <a:tcPr anchor="ctr"/>
                </a:tc>
                <a:tc>
                  <a:txBody>
                    <a:bodyPr/>
                    <a:lstStyle/>
                    <a:p>
                      <a:pPr algn="ctr">
                        <a:buNone/>
                      </a:pPr>
                      <a:r>
                        <a:rPr lang="en-IN" dirty="0"/>
                        <a:t>2020-12-09 10:39:37</a:t>
                      </a:r>
                    </a:p>
                  </a:txBody>
                  <a:tcPr anchor="ctr"/>
                </a:tc>
                <a:extLst>
                  <a:ext uri="{0D108BD9-81ED-4DB2-BD59-A6C34878D82A}">
                    <a16:rowId xmlns:a16="http://schemas.microsoft.com/office/drawing/2014/main" val="204050777"/>
                  </a:ext>
                </a:extLst>
              </a:tr>
            </a:tbl>
          </a:graphicData>
        </a:graphic>
      </p:graphicFrame>
      <p:graphicFrame>
        <p:nvGraphicFramePr>
          <p:cNvPr id="5" name="Table 4">
            <a:extLst>
              <a:ext uri="{FF2B5EF4-FFF2-40B4-BE49-F238E27FC236}">
                <a16:creationId xmlns:a16="http://schemas.microsoft.com/office/drawing/2014/main" id="{D8EFAB58-021D-A0C9-47F9-23D8DDBA1B64}"/>
              </a:ext>
            </a:extLst>
          </p:cNvPr>
          <p:cNvGraphicFramePr>
            <a:graphicFrameLocks noGrp="1"/>
          </p:cNvGraphicFramePr>
          <p:nvPr>
            <p:extLst>
              <p:ext uri="{D42A27DB-BD31-4B8C-83A1-F6EECF244321}">
                <p14:modId xmlns:p14="http://schemas.microsoft.com/office/powerpoint/2010/main" val="110819926"/>
              </p:ext>
            </p:extLst>
          </p:nvPr>
        </p:nvGraphicFramePr>
        <p:xfrm>
          <a:off x="5286120" y="1052825"/>
          <a:ext cx="5846790" cy="4851400"/>
        </p:xfrm>
        <a:graphic>
          <a:graphicData uri="http://schemas.openxmlformats.org/drawingml/2006/table">
            <a:tbl>
              <a:tblPr firstRow="1" bandRow="1">
                <a:tableStyleId>{5C22544A-7EE6-4342-B048-85BDC9FD1C3A}</a:tableStyleId>
              </a:tblPr>
              <a:tblGrid>
                <a:gridCol w="1948930">
                  <a:extLst>
                    <a:ext uri="{9D8B030D-6E8A-4147-A177-3AD203B41FA5}">
                      <a16:colId xmlns:a16="http://schemas.microsoft.com/office/drawing/2014/main" val="3489632176"/>
                    </a:ext>
                  </a:extLst>
                </a:gridCol>
                <a:gridCol w="1948930">
                  <a:extLst>
                    <a:ext uri="{9D8B030D-6E8A-4147-A177-3AD203B41FA5}">
                      <a16:colId xmlns:a16="http://schemas.microsoft.com/office/drawing/2014/main" val="619898027"/>
                    </a:ext>
                  </a:extLst>
                </a:gridCol>
                <a:gridCol w="1948930">
                  <a:extLst>
                    <a:ext uri="{9D8B030D-6E8A-4147-A177-3AD203B41FA5}">
                      <a16:colId xmlns:a16="http://schemas.microsoft.com/office/drawing/2014/main" val="607262767"/>
                    </a:ext>
                  </a:extLst>
                </a:gridCol>
              </a:tblGrid>
              <a:tr h="370840">
                <a:tc>
                  <a:txBody>
                    <a:bodyPr/>
                    <a:lstStyle/>
                    <a:p>
                      <a:pPr algn="ctr">
                        <a:buNone/>
                      </a:pPr>
                      <a:r>
                        <a:rPr lang="en-IN" dirty="0" err="1"/>
                        <a:t>user_id</a:t>
                      </a:r>
                      <a:endParaRPr lang="en-IN" dirty="0"/>
                    </a:p>
                  </a:txBody>
                  <a:tcPr anchor="ctr"/>
                </a:tc>
                <a:tc>
                  <a:txBody>
                    <a:bodyPr/>
                    <a:lstStyle/>
                    <a:p>
                      <a:pPr algn="ctr">
                        <a:buNone/>
                      </a:pPr>
                      <a:r>
                        <a:rPr lang="en-IN"/>
                        <a:t>time_stamp</a:t>
                      </a:r>
                    </a:p>
                  </a:txBody>
                  <a:tcPr anchor="ctr"/>
                </a:tc>
                <a:tc>
                  <a:txBody>
                    <a:bodyPr/>
                    <a:lstStyle/>
                    <a:p>
                      <a:pPr algn="ctr">
                        <a:buNone/>
                      </a:pPr>
                      <a:r>
                        <a:rPr lang="en-IN"/>
                        <a:t>action</a:t>
                      </a:r>
                    </a:p>
                  </a:txBody>
                  <a:tcPr anchor="ctr"/>
                </a:tc>
                <a:extLst>
                  <a:ext uri="{0D108BD9-81ED-4DB2-BD59-A6C34878D82A}">
                    <a16:rowId xmlns:a16="http://schemas.microsoft.com/office/drawing/2014/main" val="240003819"/>
                  </a:ext>
                </a:extLst>
              </a:tr>
              <a:tr h="370840">
                <a:tc>
                  <a:txBody>
                    <a:bodyPr/>
                    <a:lstStyle/>
                    <a:p>
                      <a:pPr algn="ctr">
                        <a:buNone/>
                      </a:pPr>
                      <a:r>
                        <a:rPr lang="en-IN"/>
                        <a:t>3</a:t>
                      </a:r>
                    </a:p>
                  </a:txBody>
                  <a:tcPr anchor="ctr"/>
                </a:tc>
                <a:tc>
                  <a:txBody>
                    <a:bodyPr/>
                    <a:lstStyle/>
                    <a:p>
                      <a:pPr algn="ctr">
                        <a:buNone/>
                      </a:pPr>
                      <a:r>
                        <a:rPr lang="en-IN"/>
                        <a:t>2021-01-06 03:30:46</a:t>
                      </a:r>
                    </a:p>
                  </a:txBody>
                  <a:tcPr anchor="ctr"/>
                </a:tc>
                <a:tc>
                  <a:txBody>
                    <a:bodyPr/>
                    <a:lstStyle/>
                    <a:p>
                      <a:pPr algn="ctr">
                        <a:buNone/>
                      </a:pPr>
                      <a:r>
                        <a:rPr lang="en-IN"/>
                        <a:t>timeout</a:t>
                      </a:r>
                    </a:p>
                  </a:txBody>
                  <a:tcPr anchor="ctr"/>
                </a:tc>
                <a:extLst>
                  <a:ext uri="{0D108BD9-81ED-4DB2-BD59-A6C34878D82A}">
                    <a16:rowId xmlns:a16="http://schemas.microsoft.com/office/drawing/2014/main" val="3245106014"/>
                  </a:ext>
                </a:extLst>
              </a:tr>
              <a:tr h="370840">
                <a:tc>
                  <a:txBody>
                    <a:bodyPr/>
                    <a:lstStyle/>
                    <a:p>
                      <a:pPr algn="ctr">
                        <a:buNone/>
                      </a:pPr>
                      <a:r>
                        <a:rPr lang="en-IN"/>
                        <a:t>3</a:t>
                      </a:r>
                    </a:p>
                  </a:txBody>
                  <a:tcPr anchor="ctr"/>
                </a:tc>
                <a:tc>
                  <a:txBody>
                    <a:bodyPr/>
                    <a:lstStyle/>
                    <a:p>
                      <a:pPr algn="ctr">
                        <a:buNone/>
                      </a:pPr>
                      <a:r>
                        <a:rPr lang="en-IN"/>
                        <a:t>2021-07-14 14:00:00</a:t>
                      </a:r>
                    </a:p>
                  </a:txBody>
                  <a:tcPr anchor="ctr"/>
                </a:tc>
                <a:tc>
                  <a:txBody>
                    <a:bodyPr/>
                    <a:lstStyle/>
                    <a:p>
                      <a:pPr algn="ctr">
                        <a:buNone/>
                      </a:pPr>
                      <a:r>
                        <a:rPr lang="en-IN"/>
                        <a:t>timeout</a:t>
                      </a:r>
                    </a:p>
                  </a:txBody>
                  <a:tcPr anchor="ctr"/>
                </a:tc>
                <a:extLst>
                  <a:ext uri="{0D108BD9-81ED-4DB2-BD59-A6C34878D82A}">
                    <a16:rowId xmlns:a16="http://schemas.microsoft.com/office/drawing/2014/main" val="983907816"/>
                  </a:ext>
                </a:extLst>
              </a:tr>
              <a:tr h="370840">
                <a:tc>
                  <a:txBody>
                    <a:bodyPr/>
                    <a:lstStyle/>
                    <a:p>
                      <a:pPr algn="ctr">
                        <a:buNone/>
                      </a:pPr>
                      <a:r>
                        <a:rPr lang="en-IN"/>
                        <a:t>7</a:t>
                      </a:r>
                    </a:p>
                  </a:txBody>
                  <a:tcPr anchor="ctr"/>
                </a:tc>
                <a:tc>
                  <a:txBody>
                    <a:bodyPr/>
                    <a:lstStyle/>
                    <a:p>
                      <a:pPr algn="ctr">
                        <a:buNone/>
                      </a:pPr>
                      <a:r>
                        <a:rPr lang="en-IN"/>
                        <a:t>2021-06-12 11:57:29</a:t>
                      </a:r>
                    </a:p>
                  </a:txBody>
                  <a:tcPr anchor="ctr"/>
                </a:tc>
                <a:tc>
                  <a:txBody>
                    <a:bodyPr/>
                    <a:lstStyle/>
                    <a:p>
                      <a:pPr algn="ctr">
                        <a:buNone/>
                      </a:pPr>
                      <a:r>
                        <a:rPr lang="en-IN"/>
                        <a:t>confirmed</a:t>
                      </a:r>
                    </a:p>
                  </a:txBody>
                  <a:tcPr anchor="ctr"/>
                </a:tc>
                <a:extLst>
                  <a:ext uri="{0D108BD9-81ED-4DB2-BD59-A6C34878D82A}">
                    <a16:rowId xmlns:a16="http://schemas.microsoft.com/office/drawing/2014/main" val="3565798862"/>
                  </a:ext>
                </a:extLst>
              </a:tr>
              <a:tr h="370840">
                <a:tc>
                  <a:txBody>
                    <a:bodyPr/>
                    <a:lstStyle/>
                    <a:p>
                      <a:pPr algn="ctr">
                        <a:buNone/>
                      </a:pPr>
                      <a:r>
                        <a:rPr lang="en-IN"/>
                        <a:t>7</a:t>
                      </a:r>
                    </a:p>
                  </a:txBody>
                  <a:tcPr anchor="ctr"/>
                </a:tc>
                <a:tc>
                  <a:txBody>
                    <a:bodyPr/>
                    <a:lstStyle/>
                    <a:p>
                      <a:pPr algn="ctr">
                        <a:buNone/>
                      </a:pPr>
                      <a:r>
                        <a:rPr lang="en-IN"/>
                        <a:t>2021-06-13 12:58:28</a:t>
                      </a:r>
                    </a:p>
                  </a:txBody>
                  <a:tcPr anchor="ctr"/>
                </a:tc>
                <a:tc>
                  <a:txBody>
                    <a:bodyPr/>
                    <a:lstStyle/>
                    <a:p>
                      <a:pPr algn="ctr">
                        <a:buNone/>
                      </a:pPr>
                      <a:r>
                        <a:rPr lang="en-IN"/>
                        <a:t>confirmed</a:t>
                      </a:r>
                    </a:p>
                  </a:txBody>
                  <a:tcPr anchor="ctr"/>
                </a:tc>
                <a:extLst>
                  <a:ext uri="{0D108BD9-81ED-4DB2-BD59-A6C34878D82A}">
                    <a16:rowId xmlns:a16="http://schemas.microsoft.com/office/drawing/2014/main" val="1205649621"/>
                  </a:ext>
                </a:extLst>
              </a:tr>
              <a:tr h="370840">
                <a:tc>
                  <a:txBody>
                    <a:bodyPr/>
                    <a:lstStyle/>
                    <a:p>
                      <a:pPr algn="ctr">
                        <a:buNone/>
                      </a:pPr>
                      <a:r>
                        <a:rPr lang="en-IN"/>
                        <a:t>7</a:t>
                      </a:r>
                    </a:p>
                  </a:txBody>
                  <a:tcPr anchor="ctr"/>
                </a:tc>
                <a:tc>
                  <a:txBody>
                    <a:bodyPr/>
                    <a:lstStyle/>
                    <a:p>
                      <a:pPr algn="ctr">
                        <a:buNone/>
                      </a:pPr>
                      <a:r>
                        <a:rPr lang="en-IN"/>
                        <a:t>2021-06-14 13:59:27</a:t>
                      </a:r>
                    </a:p>
                  </a:txBody>
                  <a:tcPr anchor="ctr"/>
                </a:tc>
                <a:tc>
                  <a:txBody>
                    <a:bodyPr/>
                    <a:lstStyle/>
                    <a:p>
                      <a:pPr algn="ctr">
                        <a:buNone/>
                      </a:pPr>
                      <a:r>
                        <a:rPr lang="en-IN"/>
                        <a:t>confirmed</a:t>
                      </a:r>
                    </a:p>
                  </a:txBody>
                  <a:tcPr anchor="ctr"/>
                </a:tc>
                <a:extLst>
                  <a:ext uri="{0D108BD9-81ED-4DB2-BD59-A6C34878D82A}">
                    <a16:rowId xmlns:a16="http://schemas.microsoft.com/office/drawing/2014/main" val="3124963345"/>
                  </a:ext>
                </a:extLst>
              </a:tr>
              <a:tr h="370840">
                <a:tc>
                  <a:txBody>
                    <a:bodyPr/>
                    <a:lstStyle/>
                    <a:p>
                      <a:pPr algn="ctr">
                        <a:buNone/>
                      </a:pPr>
                      <a:r>
                        <a:rPr lang="en-IN"/>
                        <a:t>2</a:t>
                      </a:r>
                    </a:p>
                  </a:txBody>
                  <a:tcPr anchor="ctr"/>
                </a:tc>
                <a:tc>
                  <a:txBody>
                    <a:bodyPr/>
                    <a:lstStyle/>
                    <a:p>
                      <a:pPr algn="ctr">
                        <a:buNone/>
                      </a:pPr>
                      <a:r>
                        <a:rPr lang="en-IN"/>
                        <a:t>2021-01-22 00:00:00</a:t>
                      </a:r>
                    </a:p>
                  </a:txBody>
                  <a:tcPr anchor="ctr"/>
                </a:tc>
                <a:tc>
                  <a:txBody>
                    <a:bodyPr/>
                    <a:lstStyle/>
                    <a:p>
                      <a:pPr algn="ctr">
                        <a:buNone/>
                      </a:pPr>
                      <a:r>
                        <a:rPr lang="en-IN"/>
                        <a:t>confirmed</a:t>
                      </a:r>
                    </a:p>
                  </a:txBody>
                  <a:tcPr anchor="ctr"/>
                </a:tc>
                <a:extLst>
                  <a:ext uri="{0D108BD9-81ED-4DB2-BD59-A6C34878D82A}">
                    <a16:rowId xmlns:a16="http://schemas.microsoft.com/office/drawing/2014/main" val="2997582110"/>
                  </a:ext>
                </a:extLst>
              </a:tr>
              <a:tr h="370840">
                <a:tc>
                  <a:txBody>
                    <a:bodyPr/>
                    <a:lstStyle/>
                    <a:p>
                      <a:pPr algn="ctr">
                        <a:buNone/>
                      </a:pPr>
                      <a:r>
                        <a:rPr lang="en-IN"/>
                        <a:t>2</a:t>
                      </a:r>
                    </a:p>
                  </a:txBody>
                  <a:tcPr anchor="ctr"/>
                </a:tc>
                <a:tc>
                  <a:txBody>
                    <a:bodyPr/>
                    <a:lstStyle/>
                    <a:p>
                      <a:pPr algn="ctr">
                        <a:buNone/>
                      </a:pPr>
                      <a:r>
                        <a:rPr lang="en-IN"/>
                        <a:t>2021-02-28 23:59:59</a:t>
                      </a:r>
                    </a:p>
                  </a:txBody>
                  <a:tcPr anchor="ctr"/>
                </a:tc>
                <a:tc>
                  <a:txBody>
                    <a:bodyPr/>
                    <a:lstStyle/>
                    <a:p>
                      <a:pPr algn="ctr">
                        <a:buNone/>
                      </a:pPr>
                      <a:r>
                        <a:rPr lang="en-IN" dirty="0"/>
                        <a:t>timeout</a:t>
                      </a:r>
                    </a:p>
                  </a:txBody>
                  <a:tcPr anchor="ctr"/>
                </a:tc>
                <a:extLst>
                  <a:ext uri="{0D108BD9-81ED-4DB2-BD59-A6C34878D82A}">
                    <a16:rowId xmlns:a16="http://schemas.microsoft.com/office/drawing/2014/main" val="1092013816"/>
                  </a:ext>
                </a:extLst>
              </a:tr>
            </a:tbl>
          </a:graphicData>
        </a:graphic>
      </p:graphicFrame>
      <p:sp>
        <p:nvSpPr>
          <p:cNvPr id="7" name="TextBox 6">
            <a:extLst>
              <a:ext uri="{FF2B5EF4-FFF2-40B4-BE49-F238E27FC236}">
                <a16:creationId xmlns:a16="http://schemas.microsoft.com/office/drawing/2014/main" id="{749B50E0-9617-5E69-8D30-58B627F0EC1E}"/>
              </a:ext>
            </a:extLst>
          </p:cNvPr>
          <p:cNvSpPr txBox="1"/>
          <p:nvPr/>
        </p:nvSpPr>
        <p:spPr>
          <a:xfrm>
            <a:off x="1059090" y="1939145"/>
            <a:ext cx="1643333" cy="369332"/>
          </a:xfrm>
          <a:prstGeom prst="rect">
            <a:avLst/>
          </a:prstGeom>
          <a:noFill/>
        </p:spPr>
        <p:txBody>
          <a:bodyPr wrap="square">
            <a:spAutoFit/>
          </a:bodyPr>
          <a:lstStyle/>
          <a:p>
            <a:r>
              <a:rPr lang="en-IN" b="1" dirty="0"/>
              <a:t>Signups</a:t>
            </a:r>
          </a:p>
        </p:txBody>
      </p:sp>
      <p:sp>
        <p:nvSpPr>
          <p:cNvPr id="9" name="TextBox 8">
            <a:extLst>
              <a:ext uri="{FF2B5EF4-FFF2-40B4-BE49-F238E27FC236}">
                <a16:creationId xmlns:a16="http://schemas.microsoft.com/office/drawing/2014/main" id="{915D9F67-480A-A9DB-663B-B1E94D82C86F}"/>
              </a:ext>
            </a:extLst>
          </p:cNvPr>
          <p:cNvSpPr txBox="1"/>
          <p:nvPr/>
        </p:nvSpPr>
        <p:spPr>
          <a:xfrm>
            <a:off x="5286120" y="683493"/>
            <a:ext cx="1833113" cy="369332"/>
          </a:xfrm>
          <a:prstGeom prst="rect">
            <a:avLst/>
          </a:prstGeom>
          <a:noFill/>
        </p:spPr>
        <p:txBody>
          <a:bodyPr wrap="square">
            <a:spAutoFit/>
          </a:bodyPr>
          <a:lstStyle/>
          <a:p>
            <a:r>
              <a:rPr lang="en-IN" b="1" dirty="0"/>
              <a:t>Confirmations</a:t>
            </a:r>
          </a:p>
        </p:txBody>
      </p:sp>
      <p:sp>
        <p:nvSpPr>
          <p:cNvPr id="10" name="Rectangle 9">
            <a:extLst>
              <a:ext uri="{FF2B5EF4-FFF2-40B4-BE49-F238E27FC236}">
                <a16:creationId xmlns:a16="http://schemas.microsoft.com/office/drawing/2014/main" id="{14CA2C3E-4183-0101-4A91-CC95C16143EA}"/>
              </a:ext>
            </a:extLst>
          </p:cNvPr>
          <p:cNvSpPr/>
          <p:nvPr/>
        </p:nvSpPr>
        <p:spPr>
          <a:xfrm>
            <a:off x="10430021" y="391105"/>
            <a:ext cx="1595309" cy="584775"/>
          </a:xfrm>
          <a:prstGeom prst="rect">
            <a:avLst/>
          </a:prstGeom>
          <a:noFill/>
        </p:spPr>
        <p:txBody>
          <a:bodyPr wrap="none" lIns="91440" tIns="45720" rIns="91440" bIns="45720">
            <a:spAutoFit/>
          </a:bodyPr>
          <a:lstStyle/>
          <a:p>
            <a:pPr algn="ctr"/>
            <a:r>
              <a:rPr lang="en-US" sz="3200" dirty="0">
                <a:ln w="0"/>
                <a:solidFill>
                  <a:schemeClr val="accent1"/>
                </a:solidFill>
                <a:effectLst>
                  <a:outerShdw blurRad="38100" dist="25400" dir="5400000" algn="ctr" rotWithShape="0">
                    <a:srgbClr val="6E747A">
                      <a:alpha val="43000"/>
                    </a:srgbClr>
                  </a:outerShdw>
                </a:effectLst>
              </a:rPr>
              <a:t>Medium</a:t>
            </a:r>
          </a:p>
        </p:txBody>
      </p:sp>
    </p:spTree>
    <p:extLst>
      <p:ext uri="{BB962C8B-B14F-4D97-AF65-F5344CB8AC3E}">
        <p14:creationId xmlns:p14="http://schemas.microsoft.com/office/powerpoint/2010/main" val="156117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09877-804C-5A5D-A21E-E28785A15F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2F19CC-5E70-4D01-9A36-31CB9EAE1876}"/>
              </a:ext>
            </a:extLst>
          </p:cNvPr>
          <p:cNvSpPr>
            <a:spLocks noGrp="1"/>
          </p:cNvSpPr>
          <p:nvPr>
            <p:ph type="title"/>
          </p:nvPr>
        </p:nvSpPr>
        <p:spPr>
          <a:xfrm>
            <a:off x="712075" y="536029"/>
            <a:ext cx="10515600" cy="504496"/>
          </a:xfrm>
        </p:spPr>
        <p:txBody>
          <a:bodyPr>
            <a:normAutofit fontScale="90000"/>
          </a:bodyPr>
          <a:lstStyle/>
          <a:p>
            <a:r>
              <a:rPr lang="en-US" dirty="0"/>
              <a:t>Experiment 05</a:t>
            </a:r>
            <a:endParaRPr lang="en-IN" dirty="0"/>
          </a:p>
        </p:txBody>
      </p:sp>
      <p:sp>
        <p:nvSpPr>
          <p:cNvPr id="10" name="Rectangle 9">
            <a:extLst>
              <a:ext uri="{FF2B5EF4-FFF2-40B4-BE49-F238E27FC236}">
                <a16:creationId xmlns:a16="http://schemas.microsoft.com/office/drawing/2014/main" id="{5F4F308C-F39D-3C69-33EB-D7A0080C78B2}"/>
              </a:ext>
            </a:extLst>
          </p:cNvPr>
          <p:cNvSpPr/>
          <p:nvPr/>
        </p:nvSpPr>
        <p:spPr>
          <a:xfrm>
            <a:off x="10430020" y="391105"/>
            <a:ext cx="1595309" cy="584775"/>
          </a:xfrm>
          <a:prstGeom prst="rect">
            <a:avLst/>
          </a:prstGeom>
          <a:noFill/>
        </p:spPr>
        <p:txBody>
          <a:bodyPr wrap="none" lIns="91440" tIns="45720" rIns="91440" bIns="45720">
            <a:spAutoFit/>
          </a:bodyPr>
          <a:lstStyle/>
          <a:p>
            <a:pPr algn="ctr"/>
            <a:r>
              <a:rPr lang="en-US" sz="3200" dirty="0">
                <a:ln w="0"/>
                <a:solidFill>
                  <a:schemeClr val="accent1"/>
                </a:solidFill>
                <a:effectLst>
                  <a:outerShdw blurRad="38100" dist="25400" dir="5400000" algn="ctr" rotWithShape="0">
                    <a:srgbClr val="6E747A">
                      <a:alpha val="43000"/>
                    </a:srgbClr>
                  </a:outerShdw>
                </a:effectLst>
              </a:rPr>
              <a:t>Medium</a:t>
            </a:r>
          </a:p>
        </p:txBody>
      </p:sp>
      <p:graphicFrame>
        <p:nvGraphicFramePr>
          <p:cNvPr id="3" name="Table 2">
            <a:extLst>
              <a:ext uri="{FF2B5EF4-FFF2-40B4-BE49-F238E27FC236}">
                <a16:creationId xmlns:a16="http://schemas.microsoft.com/office/drawing/2014/main" id="{97161855-48B8-F9F1-252C-AE477A56077A}"/>
              </a:ext>
            </a:extLst>
          </p:cNvPr>
          <p:cNvGraphicFramePr>
            <a:graphicFrameLocks noGrp="1"/>
          </p:cNvGraphicFramePr>
          <p:nvPr>
            <p:extLst>
              <p:ext uri="{D42A27DB-BD31-4B8C-83A1-F6EECF244321}">
                <p14:modId xmlns:p14="http://schemas.microsoft.com/office/powerpoint/2010/main" val="504551106"/>
              </p:ext>
            </p:extLst>
          </p:nvPr>
        </p:nvGraphicFramePr>
        <p:xfrm>
          <a:off x="505041" y="2375938"/>
          <a:ext cx="5084876" cy="1854200"/>
        </p:xfrm>
        <a:graphic>
          <a:graphicData uri="http://schemas.openxmlformats.org/drawingml/2006/table">
            <a:tbl>
              <a:tblPr firstRow="1" bandRow="1">
                <a:tableStyleId>{5C22544A-7EE6-4342-B048-85BDC9FD1C3A}</a:tableStyleId>
              </a:tblPr>
              <a:tblGrid>
                <a:gridCol w="2542438">
                  <a:extLst>
                    <a:ext uri="{9D8B030D-6E8A-4147-A177-3AD203B41FA5}">
                      <a16:colId xmlns:a16="http://schemas.microsoft.com/office/drawing/2014/main" val="295919854"/>
                    </a:ext>
                  </a:extLst>
                </a:gridCol>
                <a:gridCol w="2542438">
                  <a:extLst>
                    <a:ext uri="{9D8B030D-6E8A-4147-A177-3AD203B41FA5}">
                      <a16:colId xmlns:a16="http://schemas.microsoft.com/office/drawing/2014/main" val="1814529676"/>
                    </a:ext>
                  </a:extLst>
                </a:gridCol>
              </a:tblGrid>
              <a:tr h="370840">
                <a:tc>
                  <a:txBody>
                    <a:bodyPr/>
                    <a:lstStyle/>
                    <a:p>
                      <a:pPr algn="ctr">
                        <a:buNone/>
                      </a:pPr>
                      <a:r>
                        <a:rPr lang="en-IN" dirty="0" err="1"/>
                        <a:t>user_id</a:t>
                      </a:r>
                      <a:endParaRPr lang="en-IN" dirty="0"/>
                    </a:p>
                  </a:txBody>
                  <a:tcPr anchor="ctr"/>
                </a:tc>
                <a:tc>
                  <a:txBody>
                    <a:bodyPr/>
                    <a:lstStyle/>
                    <a:p>
                      <a:pPr algn="ctr">
                        <a:buNone/>
                      </a:pPr>
                      <a:r>
                        <a:rPr lang="en-IN"/>
                        <a:t>confirmation_rate</a:t>
                      </a:r>
                    </a:p>
                  </a:txBody>
                  <a:tcPr anchor="ctr"/>
                </a:tc>
                <a:extLst>
                  <a:ext uri="{0D108BD9-81ED-4DB2-BD59-A6C34878D82A}">
                    <a16:rowId xmlns:a16="http://schemas.microsoft.com/office/drawing/2014/main" val="4293381184"/>
                  </a:ext>
                </a:extLst>
              </a:tr>
              <a:tr h="370840">
                <a:tc>
                  <a:txBody>
                    <a:bodyPr/>
                    <a:lstStyle/>
                    <a:p>
                      <a:pPr algn="ctr">
                        <a:buNone/>
                      </a:pPr>
                      <a:r>
                        <a:rPr lang="en-IN"/>
                        <a:t>2</a:t>
                      </a:r>
                    </a:p>
                  </a:txBody>
                  <a:tcPr anchor="ctr"/>
                </a:tc>
                <a:tc>
                  <a:txBody>
                    <a:bodyPr/>
                    <a:lstStyle/>
                    <a:p>
                      <a:pPr algn="ctr">
                        <a:buNone/>
                      </a:pPr>
                      <a:r>
                        <a:rPr lang="en-IN"/>
                        <a:t>0.50</a:t>
                      </a:r>
                    </a:p>
                  </a:txBody>
                  <a:tcPr anchor="ctr"/>
                </a:tc>
                <a:extLst>
                  <a:ext uri="{0D108BD9-81ED-4DB2-BD59-A6C34878D82A}">
                    <a16:rowId xmlns:a16="http://schemas.microsoft.com/office/drawing/2014/main" val="4082422766"/>
                  </a:ext>
                </a:extLst>
              </a:tr>
              <a:tr h="370840">
                <a:tc>
                  <a:txBody>
                    <a:bodyPr/>
                    <a:lstStyle/>
                    <a:p>
                      <a:pPr algn="ctr">
                        <a:buNone/>
                      </a:pPr>
                      <a:r>
                        <a:rPr lang="en-IN"/>
                        <a:t>3</a:t>
                      </a:r>
                    </a:p>
                  </a:txBody>
                  <a:tcPr anchor="ctr"/>
                </a:tc>
                <a:tc>
                  <a:txBody>
                    <a:bodyPr/>
                    <a:lstStyle/>
                    <a:p>
                      <a:pPr algn="ctr">
                        <a:buNone/>
                      </a:pPr>
                      <a:r>
                        <a:rPr lang="en-IN"/>
                        <a:t>0.00</a:t>
                      </a:r>
                    </a:p>
                  </a:txBody>
                  <a:tcPr anchor="ctr"/>
                </a:tc>
                <a:extLst>
                  <a:ext uri="{0D108BD9-81ED-4DB2-BD59-A6C34878D82A}">
                    <a16:rowId xmlns:a16="http://schemas.microsoft.com/office/drawing/2014/main" val="1374055598"/>
                  </a:ext>
                </a:extLst>
              </a:tr>
              <a:tr h="370840">
                <a:tc>
                  <a:txBody>
                    <a:bodyPr/>
                    <a:lstStyle/>
                    <a:p>
                      <a:pPr algn="ctr">
                        <a:buNone/>
                      </a:pPr>
                      <a:r>
                        <a:rPr lang="en-IN"/>
                        <a:t>6</a:t>
                      </a:r>
                    </a:p>
                  </a:txBody>
                  <a:tcPr anchor="ctr"/>
                </a:tc>
                <a:tc>
                  <a:txBody>
                    <a:bodyPr/>
                    <a:lstStyle/>
                    <a:p>
                      <a:pPr algn="ctr">
                        <a:buNone/>
                      </a:pPr>
                      <a:r>
                        <a:rPr lang="en-IN"/>
                        <a:t>0.00</a:t>
                      </a:r>
                    </a:p>
                  </a:txBody>
                  <a:tcPr anchor="ctr"/>
                </a:tc>
                <a:extLst>
                  <a:ext uri="{0D108BD9-81ED-4DB2-BD59-A6C34878D82A}">
                    <a16:rowId xmlns:a16="http://schemas.microsoft.com/office/drawing/2014/main" val="2051649963"/>
                  </a:ext>
                </a:extLst>
              </a:tr>
              <a:tr h="370840">
                <a:tc>
                  <a:txBody>
                    <a:bodyPr/>
                    <a:lstStyle/>
                    <a:p>
                      <a:pPr algn="ctr">
                        <a:buNone/>
                      </a:pPr>
                      <a:r>
                        <a:rPr lang="en-IN"/>
                        <a:t>7</a:t>
                      </a:r>
                    </a:p>
                  </a:txBody>
                  <a:tcPr anchor="ctr"/>
                </a:tc>
                <a:tc>
                  <a:txBody>
                    <a:bodyPr/>
                    <a:lstStyle/>
                    <a:p>
                      <a:pPr algn="ctr">
                        <a:buNone/>
                      </a:pPr>
                      <a:r>
                        <a:rPr lang="en-IN" dirty="0"/>
                        <a:t>1.00</a:t>
                      </a:r>
                    </a:p>
                  </a:txBody>
                  <a:tcPr anchor="ctr"/>
                </a:tc>
                <a:extLst>
                  <a:ext uri="{0D108BD9-81ED-4DB2-BD59-A6C34878D82A}">
                    <a16:rowId xmlns:a16="http://schemas.microsoft.com/office/drawing/2014/main" val="2520846340"/>
                  </a:ext>
                </a:extLst>
              </a:tr>
            </a:tbl>
          </a:graphicData>
        </a:graphic>
      </p:graphicFrame>
      <p:sp>
        <p:nvSpPr>
          <p:cNvPr id="6" name="TextBox 5">
            <a:extLst>
              <a:ext uri="{FF2B5EF4-FFF2-40B4-BE49-F238E27FC236}">
                <a16:creationId xmlns:a16="http://schemas.microsoft.com/office/drawing/2014/main" id="{BE5B327F-97B0-E7EC-4A96-011D8712B0B2}"/>
              </a:ext>
            </a:extLst>
          </p:cNvPr>
          <p:cNvSpPr txBox="1"/>
          <p:nvPr/>
        </p:nvSpPr>
        <p:spPr>
          <a:xfrm>
            <a:off x="505041" y="1562034"/>
            <a:ext cx="2674189" cy="369332"/>
          </a:xfrm>
          <a:prstGeom prst="rect">
            <a:avLst/>
          </a:prstGeom>
          <a:noFill/>
        </p:spPr>
        <p:txBody>
          <a:bodyPr wrap="square" rtlCol="0">
            <a:spAutoFit/>
          </a:bodyPr>
          <a:lstStyle/>
          <a:p>
            <a:r>
              <a:rPr lang="en-US" dirty="0"/>
              <a:t>Output</a:t>
            </a:r>
            <a:endParaRPr lang="en-IN" dirty="0"/>
          </a:p>
        </p:txBody>
      </p:sp>
    </p:spTree>
    <p:extLst>
      <p:ext uri="{BB962C8B-B14F-4D97-AF65-F5344CB8AC3E}">
        <p14:creationId xmlns:p14="http://schemas.microsoft.com/office/powerpoint/2010/main" val="2215355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B534D-44AC-DBF5-5AFD-243D357C7F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5EDE34-2F85-32C4-6445-89510334D918}"/>
              </a:ext>
            </a:extLst>
          </p:cNvPr>
          <p:cNvSpPr>
            <a:spLocks noGrp="1"/>
          </p:cNvSpPr>
          <p:nvPr>
            <p:ph type="title"/>
          </p:nvPr>
        </p:nvSpPr>
        <p:spPr>
          <a:xfrm>
            <a:off x="507213" y="633189"/>
            <a:ext cx="10515600" cy="504496"/>
          </a:xfrm>
        </p:spPr>
        <p:txBody>
          <a:bodyPr>
            <a:normAutofit fontScale="90000"/>
          </a:bodyPr>
          <a:lstStyle/>
          <a:p>
            <a:r>
              <a:rPr lang="en-US" dirty="0"/>
              <a:t>Experiment 05</a:t>
            </a:r>
            <a:endParaRPr lang="en-IN" dirty="0"/>
          </a:p>
        </p:txBody>
      </p:sp>
      <p:sp>
        <p:nvSpPr>
          <p:cNvPr id="10" name="Rectangle 9">
            <a:extLst>
              <a:ext uri="{FF2B5EF4-FFF2-40B4-BE49-F238E27FC236}">
                <a16:creationId xmlns:a16="http://schemas.microsoft.com/office/drawing/2014/main" id="{E60D5E79-8765-61F9-76FE-6BD76E82DD71}"/>
              </a:ext>
            </a:extLst>
          </p:cNvPr>
          <p:cNvSpPr/>
          <p:nvPr/>
        </p:nvSpPr>
        <p:spPr>
          <a:xfrm>
            <a:off x="10731802" y="391105"/>
            <a:ext cx="991745" cy="1077218"/>
          </a:xfrm>
          <a:prstGeom prst="rect">
            <a:avLst/>
          </a:prstGeom>
          <a:noFill/>
        </p:spPr>
        <p:txBody>
          <a:bodyPr wrap="none" lIns="91440" tIns="45720" rIns="91440" bIns="45720">
            <a:spAutoFit/>
          </a:bodyPr>
          <a:lstStyle/>
          <a:p>
            <a:pPr algn="ctr"/>
            <a:r>
              <a:rPr lang="en-US" sz="3200" dirty="0">
                <a:ln w="0"/>
                <a:solidFill>
                  <a:schemeClr val="accent1"/>
                </a:solidFill>
                <a:effectLst>
                  <a:outerShdw blurRad="38100" dist="25400" dir="5400000" algn="ctr" rotWithShape="0">
                    <a:srgbClr val="6E747A">
                      <a:alpha val="43000"/>
                    </a:srgbClr>
                  </a:outerShdw>
                </a:effectLst>
              </a:rPr>
              <a:t>Hard</a:t>
            </a:r>
          </a:p>
          <a:p>
            <a:pPr algn="ctr"/>
            <a:endParaRPr lang="en-US" sz="3200" b="0" cap="none" spc="0" dirty="0">
              <a:ln w="0"/>
              <a:solidFill>
                <a:schemeClr val="accent1"/>
              </a:solidFill>
              <a:effectLst>
                <a:outerShdw blurRad="38100" dist="25400" dir="5400000" algn="ctr" rotWithShape="0">
                  <a:srgbClr val="6E747A">
                    <a:alpha val="43000"/>
                  </a:srgbClr>
                </a:outerShdw>
              </a:effectLst>
            </a:endParaRPr>
          </a:p>
        </p:txBody>
      </p:sp>
      <p:sp>
        <p:nvSpPr>
          <p:cNvPr id="4" name="TextBox 3">
            <a:extLst>
              <a:ext uri="{FF2B5EF4-FFF2-40B4-BE49-F238E27FC236}">
                <a16:creationId xmlns:a16="http://schemas.microsoft.com/office/drawing/2014/main" id="{4D0FB897-1625-8CFE-C48D-2E27B1374D0E}"/>
              </a:ext>
            </a:extLst>
          </p:cNvPr>
          <p:cNvSpPr txBox="1"/>
          <p:nvPr/>
        </p:nvSpPr>
        <p:spPr>
          <a:xfrm>
            <a:off x="385313" y="1397675"/>
            <a:ext cx="11421373" cy="2308324"/>
          </a:xfrm>
          <a:prstGeom prst="rect">
            <a:avLst/>
          </a:prstGeom>
          <a:noFill/>
        </p:spPr>
        <p:txBody>
          <a:bodyPr wrap="square">
            <a:spAutoFit/>
          </a:bodyPr>
          <a:lstStyle/>
          <a:p>
            <a:pPr>
              <a:buNone/>
            </a:pPr>
            <a:r>
              <a:rPr lang="en-IN" b="1" dirty="0"/>
              <a:t>(B)</a:t>
            </a:r>
            <a:r>
              <a:rPr lang="en-IN" dirty="0"/>
              <a:t> </a:t>
            </a:r>
            <a:r>
              <a:rPr lang="en-IN" b="1" dirty="0"/>
              <a:t>Problem Statement</a:t>
            </a:r>
          </a:p>
          <a:p>
            <a:pPr>
              <a:buNone/>
            </a:pPr>
            <a:r>
              <a:rPr lang="en-IN" dirty="0"/>
              <a:t>A ride-booking company maintains information about trip requests and the users involved in those trips. Some users may be restricted from using the platform, while others are active participants. Each trip can either be completed successfully or cancelled by one of the participants.</a:t>
            </a:r>
          </a:p>
          <a:p>
            <a:pPr>
              <a:buNone/>
            </a:pPr>
            <a:endParaRPr lang="en-IN" dirty="0"/>
          </a:p>
          <a:p>
            <a:pPr>
              <a:buNone/>
            </a:pPr>
            <a:r>
              <a:rPr lang="en-IN" dirty="0"/>
              <a:t>For each day between </a:t>
            </a:r>
            <a:r>
              <a:rPr lang="en-IN" b="1" dirty="0"/>
              <a:t>2013-10-01</a:t>
            </a:r>
            <a:r>
              <a:rPr lang="en-IN" dirty="0"/>
              <a:t> and </a:t>
            </a:r>
            <a:r>
              <a:rPr lang="en-IN" b="1" dirty="0"/>
              <a:t>2013-10-03</a:t>
            </a:r>
            <a:r>
              <a:rPr lang="en-IN" dirty="0"/>
              <a:t>, determine the proportion of </a:t>
            </a:r>
            <a:r>
              <a:rPr lang="en-IN" dirty="0" err="1"/>
              <a:t>canceled</a:t>
            </a:r>
            <a:r>
              <a:rPr lang="en-IN" dirty="0"/>
              <a:t> trips among all valid trips. A trip should be considered valid only when both the customer and the driver associated with that trip are active users. The final result should display the date and the calculated cancellation rate rounded to two decimal places.</a:t>
            </a:r>
          </a:p>
        </p:txBody>
      </p:sp>
      <p:sp>
        <p:nvSpPr>
          <p:cNvPr id="7" name="TextBox 6">
            <a:extLst>
              <a:ext uri="{FF2B5EF4-FFF2-40B4-BE49-F238E27FC236}">
                <a16:creationId xmlns:a16="http://schemas.microsoft.com/office/drawing/2014/main" id="{B5C259E7-BCBE-5B69-9604-5FCCF10E8277}"/>
              </a:ext>
            </a:extLst>
          </p:cNvPr>
          <p:cNvSpPr txBox="1"/>
          <p:nvPr/>
        </p:nvSpPr>
        <p:spPr>
          <a:xfrm>
            <a:off x="385313" y="3965989"/>
            <a:ext cx="2436963" cy="369332"/>
          </a:xfrm>
          <a:prstGeom prst="rect">
            <a:avLst/>
          </a:prstGeom>
          <a:noFill/>
        </p:spPr>
        <p:txBody>
          <a:bodyPr wrap="square">
            <a:spAutoFit/>
          </a:bodyPr>
          <a:lstStyle/>
          <a:p>
            <a:r>
              <a:rPr lang="en-IN"/>
              <a:t>We need to calculate:</a:t>
            </a:r>
            <a:endParaRPr lang="en-IN" dirty="0"/>
          </a:p>
        </p:txBody>
      </p:sp>
      <p:sp>
        <p:nvSpPr>
          <p:cNvPr id="9" name="TextBox 8">
            <a:extLst>
              <a:ext uri="{FF2B5EF4-FFF2-40B4-BE49-F238E27FC236}">
                <a16:creationId xmlns:a16="http://schemas.microsoft.com/office/drawing/2014/main" id="{EC8A9D56-0FEC-581B-61AE-8E676F3D2A29}"/>
              </a:ext>
            </a:extLst>
          </p:cNvPr>
          <p:cNvSpPr txBox="1"/>
          <p:nvPr/>
        </p:nvSpPr>
        <p:spPr>
          <a:xfrm>
            <a:off x="385313" y="4444662"/>
            <a:ext cx="1919377" cy="2031325"/>
          </a:xfrm>
          <a:prstGeom prst="rect">
            <a:avLst/>
          </a:prstGeom>
          <a:noFill/>
        </p:spPr>
        <p:txBody>
          <a:bodyPr wrap="square">
            <a:spAutoFit/>
          </a:bodyPr>
          <a:lstStyle/>
          <a:p>
            <a:r>
              <a:rPr lang="en-IN" dirty="0"/>
              <a:t>Cancellation Rate</a:t>
            </a:r>
          </a:p>
          <a:p>
            <a:endParaRPr lang="en-IN" dirty="0"/>
          </a:p>
          <a:p>
            <a:r>
              <a:rPr lang="en-IN" dirty="0"/>
              <a:t>=</a:t>
            </a:r>
          </a:p>
          <a:p>
            <a:endParaRPr lang="en-IN" dirty="0"/>
          </a:p>
          <a:p>
            <a:r>
              <a:rPr lang="en-IN" dirty="0"/>
              <a:t>Cancelled Trips</a:t>
            </a:r>
          </a:p>
          <a:p>
            <a:r>
              <a:rPr lang="en-IN" dirty="0"/>
              <a:t>-------------------</a:t>
            </a:r>
          </a:p>
          <a:p>
            <a:r>
              <a:rPr lang="en-IN" dirty="0"/>
              <a:t>Total Valid Trips</a:t>
            </a:r>
          </a:p>
        </p:txBody>
      </p:sp>
      <p:sp>
        <p:nvSpPr>
          <p:cNvPr id="15" name="TextBox 14">
            <a:extLst>
              <a:ext uri="{FF2B5EF4-FFF2-40B4-BE49-F238E27FC236}">
                <a16:creationId xmlns:a16="http://schemas.microsoft.com/office/drawing/2014/main" id="{888CB3A7-A334-8BC9-1E0F-27348F9C8930}"/>
              </a:ext>
            </a:extLst>
          </p:cNvPr>
          <p:cNvSpPr txBox="1"/>
          <p:nvPr/>
        </p:nvSpPr>
        <p:spPr>
          <a:xfrm>
            <a:off x="3290977" y="3965989"/>
            <a:ext cx="3247845" cy="369332"/>
          </a:xfrm>
          <a:prstGeom prst="rect">
            <a:avLst/>
          </a:prstGeom>
          <a:noFill/>
        </p:spPr>
        <p:txBody>
          <a:bodyPr wrap="square">
            <a:spAutoFit/>
          </a:bodyPr>
          <a:lstStyle/>
          <a:p>
            <a:r>
              <a:rPr lang="en-IN" dirty="0"/>
              <a:t>But only consider trips where:</a:t>
            </a:r>
          </a:p>
        </p:txBody>
      </p:sp>
      <p:sp>
        <p:nvSpPr>
          <p:cNvPr id="19" name="TextBox 18">
            <a:extLst>
              <a:ext uri="{FF2B5EF4-FFF2-40B4-BE49-F238E27FC236}">
                <a16:creationId xmlns:a16="http://schemas.microsoft.com/office/drawing/2014/main" id="{F84E4E40-6E4B-03E6-422F-3457F1C58A52}"/>
              </a:ext>
            </a:extLst>
          </p:cNvPr>
          <p:cNvSpPr txBox="1"/>
          <p:nvPr/>
        </p:nvSpPr>
        <p:spPr>
          <a:xfrm>
            <a:off x="3290977" y="4536994"/>
            <a:ext cx="2198298" cy="923330"/>
          </a:xfrm>
          <a:prstGeom prst="rect">
            <a:avLst/>
          </a:prstGeom>
          <a:noFill/>
        </p:spPr>
        <p:txBody>
          <a:bodyPr wrap="square">
            <a:spAutoFit/>
          </a:bodyPr>
          <a:lstStyle/>
          <a:p>
            <a:r>
              <a:rPr lang="en-IN" b="1" dirty="0"/>
              <a:t>Client is NOT banned</a:t>
            </a:r>
          </a:p>
          <a:p>
            <a:r>
              <a:rPr lang="en-IN" b="1" dirty="0"/>
              <a:t>AND</a:t>
            </a:r>
          </a:p>
          <a:p>
            <a:r>
              <a:rPr lang="en-IN" b="1" dirty="0"/>
              <a:t>Driver is NOT banned</a:t>
            </a:r>
          </a:p>
        </p:txBody>
      </p:sp>
      <p:sp>
        <p:nvSpPr>
          <p:cNvPr id="21" name="TextBox 20">
            <a:extLst>
              <a:ext uri="{FF2B5EF4-FFF2-40B4-BE49-F238E27FC236}">
                <a16:creationId xmlns:a16="http://schemas.microsoft.com/office/drawing/2014/main" id="{6A3454E5-2B64-0D46-DA4B-14206E3371EE}"/>
              </a:ext>
            </a:extLst>
          </p:cNvPr>
          <p:cNvSpPr txBox="1"/>
          <p:nvPr/>
        </p:nvSpPr>
        <p:spPr>
          <a:xfrm>
            <a:off x="6475562" y="4629327"/>
            <a:ext cx="884207" cy="369332"/>
          </a:xfrm>
          <a:prstGeom prst="rect">
            <a:avLst/>
          </a:prstGeom>
          <a:noFill/>
        </p:spPr>
        <p:txBody>
          <a:bodyPr wrap="square">
            <a:spAutoFit/>
          </a:bodyPr>
          <a:lstStyle/>
          <a:p>
            <a:r>
              <a:rPr lang="en-IN" dirty="0"/>
              <a:t>and</a:t>
            </a:r>
          </a:p>
        </p:txBody>
      </p:sp>
      <p:sp>
        <p:nvSpPr>
          <p:cNvPr id="24" name="TextBox 23">
            <a:extLst>
              <a:ext uri="{FF2B5EF4-FFF2-40B4-BE49-F238E27FC236}">
                <a16:creationId xmlns:a16="http://schemas.microsoft.com/office/drawing/2014/main" id="{BC3EBF3A-0CE5-40C5-EB81-65E374DF5AEC}"/>
              </a:ext>
            </a:extLst>
          </p:cNvPr>
          <p:cNvSpPr txBox="1"/>
          <p:nvPr/>
        </p:nvSpPr>
        <p:spPr>
          <a:xfrm>
            <a:off x="7845725" y="4100406"/>
            <a:ext cx="2436963" cy="1477328"/>
          </a:xfrm>
          <a:prstGeom prst="rect">
            <a:avLst/>
          </a:prstGeom>
          <a:noFill/>
        </p:spPr>
        <p:txBody>
          <a:bodyPr wrap="square">
            <a:spAutoFit/>
          </a:bodyPr>
          <a:lstStyle/>
          <a:p>
            <a:r>
              <a:rPr lang="en-IN" dirty="0"/>
              <a:t>Date between </a:t>
            </a:r>
          </a:p>
          <a:p>
            <a:endParaRPr lang="en-IN" dirty="0"/>
          </a:p>
          <a:p>
            <a:r>
              <a:rPr lang="en-IN" dirty="0"/>
              <a:t>2013-10-01 </a:t>
            </a:r>
          </a:p>
          <a:p>
            <a:r>
              <a:rPr lang="en-IN" dirty="0"/>
              <a:t>And </a:t>
            </a:r>
          </a:p>
          <a:p>
            <a:r>
              <a:rPr lang="en-IN" dirty="0"/>
              <a:t>2013-10-03</a:t>
            </a:r>
          </a:p>
        </p:txBody>
      </p:sp>
    </p:spTree>
    <p:extLst>
      <p:ext uri="{BB962C8B-B14F-4D97-AF65-F5344CB8AC3E}">
        <p14:creationId xmlns:p14="http://schemas.microsoft.com/office/powerpoint/2010/main" val="359521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E6AF8-0E48-61E3-6390-60801E93A6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80611A-86B9-9EE7-E917-ED1CC6F550BF}"/>
              </a:ext>
            </a:extLst>
          </p:cNvPr>
          <p:cNvSpPr>
            <a:spLocks noGrp="1"/>
          </p:cNvSpPr>
          <p:nvPr>
            <p:ph type="title"/>
          </p:nvPr>
        </p:nvSpPr>
        <p:spPr>
          <a:xfrm>
            <a:off x="507213" y="633189"/>
            <a:ext cx="10515600" cy="504496"/>
          </a:xfrm>
        </p:spPr>
        <p:txBody>
          <a:bodyPr>
            <a:normAutofit fontScale="90000"/>
          </a:bodyPr>
          <a:lstStyle/>
          <a:p>
            <a:r>
              <a:rPr lang="en-US" dirty="0"/>
              <a:t>Experiment 05</a:t>
            </a:r>
            <a:endParaRPr lang="en-IN" dirty="0"/>
          </a:p>
        </p:txBody>
      </p:sp>
      <p:sp>
        <p:nvSpPr>
          <p:cNvPr id="10" name="Rectangle 9">
            <a:extLst>
              <a:ext uri="{FF2B5EF4-FFF2-40B4-BE49-F238E27FC236}">
                <a16:creationId xmlns:a16="http://schemas.microsoft.com/office/drawing/2014/main" id="{50366CD0-5BDD-AA4B-37A3-041328EA341E}"/>
              </a:ext>
            </a:extLst>
          </p:cNvPr>
          <p:cNvSpPr/>
          <p:nvPr/>
        </p:nvSpPr>
        <p:spPr>
          <a:xfrm>
            <a:off x="10731802" y="391105"/>
            <a:ext cx="991745" cy="1077218"/>
          </a:xfrm>
          <a:prstGeom prst="rect">
            <a:avLst/>
          </a:prstGeom>
          <a:noFill/>
        </p:spPr>
        <p:txBody>
          <a:bodyPr wrap="none" lIns="91440" tIns="45720" rIns="91440" bIns="45720">
            <a:spAutoFit/>
          </a:bodyPr>
          <a:lstStyle/>
          <a:p>
            <a:pPr algn="ctr"/>
            <a:r>
              <a:rPr lang="en-US" sz="3200" dirty="0">
                <a:ln w="0"/>
                <a:solidFill>
                  <a:schemeClr val="accent1"/>
                </a:solidFill>
                <a:effectLst>
                  <a:outerShdw blurRad="38100" dist="25400" dir="5400000" algn="ctr" rotWithShape="0">
                    <a:srgbClr val="6E747A">
                      <a:alpha val="43000"/>
                    </a:srgbClr>
                  </a:outerShdw>
                </a:effectLst>
              </a:rPr>
              <a:t>Hard</a:t>
            </a:r>
          </a:p>
          <a:p>
            <a:pPr algn="ctr"/>
            <a:endParaRPr lang="en-US" sz="3200" b="0" cap="none" spc="0" dirty="0">
              <a:ln w="0"/>
              <a:solidFill>
                <a:schemeClr val="accent1"/>
              </a:solidFill>
              <a:effectLst>
                <a:outerShdw blurRad="38100" dist="25400" dir="5400000" algn="ctr" rotWithShape="0">
                  <a:srgbClr val="6E747A">
                    <a:alpha val="43000"/>
                  </a:srgbClr>
                </a:outerShdw>
              </a:effectLst>
            </a:endParaRPr>
          </a:p>
        </p:txBody>
      </p:sp>
      <p:graphicFrame>
        <p:nvGraphicFramePr>
          <p:cNvPr id="5" name="Table 4">
            <a:extLst>
              <a:ext uri="{FF2B5EF4-FFF2-40B4-BE49-F238E27FC236}">
                <a16:creationId xmlns:a16="http://schemas.microsoft.com/office/drawing/2014/main" id="{E90EE1C2-8158-360E-BA46-74A518526228}"/>
              </a:ext>
            </a:extLst>
          </p:cNvPr>
          <p:cNvGraphicFramePr>
            <a:graphicFrameLocks noGrp="1"/>
          </p:cNvGraphicFramePr>
          <p:nvPr>
            <p:extLst>
              <p:ext uri="{D42A27DB-BD31-4B8C-83A1-F6EECF244321}">
                <p14:modId xmlns:p14="http://schemas.microsoft.com/office/powerpoint/2010/main" val="2158522499"/>
              </p:ext>
            </p:extLst>
          </p:nvPr>
        </p:nvGraphicFramePr>
        <p:xfrm>
          <a:off x="507213" y="1760220"/>
          <a:ext cx="3081375" cy="3337560"/>
        </p:xfrm>
        <a:graphic>
          <a:graphicData uri="http://schemas.openxmlformats.org/drawingml/2006/table">
            <a:tbl>
              <a:tblPr firstRow="1" bandRow="1">
                <a:tableStyleId>{5C22544A-7EE6-4342-B048-85BDC9FD1C3A}</a:tableStyleId>
              </a:tblPr>
              <a:tblGrid>
                <a:gridCol w="1027125">
                  <a:extLst>
                    <a:ext uri="{9D8B030D-6E8A-4147-A177-3AD203B41FA5}">
                      <a16:colId xmlns:a16="http://schemas.microsoft.com/office/drawing/2014/main" val="4022709704"/>
                    </a:ext>
                  </a:extLst>
                </a:gridCol>
                <a:gridCol w="1027125">
                  <a:extLst>
                    <a:ext uri="{9D8B030D-6E8A-4147-A177-3AD203B41FA5}">
                      <a16:colId xmlns:a16="http://schemas.microsoft.com/office/drawing/2014/main" val="154012710"/>
                    </a:ext>
                  </a:extLst>
                </a:gridCol>
                <a:gridCol w="1027125">
                  <a:extLst>
                    <a:ext uri="{9D8B030D-6E8A-4147-A177-3AD203B41FA5}">
                      <a16:colId xmlns:a16="http://schemas.microsoft.com/office/drawing/2014/main" val="1886006011"/>
                    </a:ext>
                  </a:extLst>
                </a:gridCol>
              </a:tblGrid>
              <a:tr h="370840">
                <a:tc>
                  <a:txBody>
                    <a:bodyPr/>
                    <a:lstStyle/>
                    <a:p>
                      <a:pPr algn="ctr">
                        <a:buNone/>
                      </a:pPr>
                      <a:r>
                        <a:rPr lang="en-IN" dirty="0" err="1"/>
                        <a:t>users_id</a:t>
                      </a:r>
                      <a:endParaRPr lang="en-IN" dirty="0"/>
                    </a:p>
                  </a:txBody>
                  <a:tcPr anchor="ctr"/>
                </a:tc>
                <a:tc>
                  <a:txBody>
                    <a:bodyPr/>
                    <a:lstStyle/>
                    <a:p>
                      <a:pPr algn="ctr">
                        <a:buNone/>
                      </a:pPr>
                      <a:r>
                        <a:rPr lang="en-IN"/>
                        <a:t>banned</a:t>
                      </a:r>
                    </a:p>
                  </a:txBody>
                  <a:tcPr anchor="ctr"/>
                </a:tc>
                <a:tc>
                  <a:txBody>
                    <a:bodyPr/>
                    <a:lstStyle/>
                    <a:p>
                      <a:pPr algn="ctr">
                        <a:buNone/>
                      </a:pPr>
                      <a:r>
                        <a:rPr lang="en-IN"/>
                        <a:t>role</a:t>
                      </a:r>
                    </a:p>
                  </a:txBody>
                  <a:tcPr anchor="ctr"/>
                </a:tc>
                <a:extLst>
                  <a:ext uri="{0D108BD9-81ED-4DB2-BD59-A6C34878D82A}">
                    <a16:rowId xmlns:a16="http://schemas.microsoft.com/office/drawing/2014/main" val="599151092"/>
                  </a:ext>
                </a:extLst>
              </a:tr>
              <a:tr h="370840">
                <a:tc>
                  <a:txBody>
                    <a:bodyPr/>
                    <a:lstStyle/>
                    <a:p>
                      <a:pPr algn="ctr">
                        <a:buNone/>
                      </a:pPr>
                      <a:r>
                        <a:rPr lang="en-IN"/>
                        <a:t>1</a:t>
                      </a:r>
                    </a:p>
                  </a:txBody>
                  <a:tcPr anchor="ctr"/>
                </a:tc>
                <a:tc>
                  <a:txBody>
                    <a:bodyPr/>
                    <a:lstStyle/>
                    <a:p>
                      <a:pPr algn="ctr">
                        <a:buNone/>
                      </a:pPr>
                      <a:r>
                        <a:rPr lang="en-IN"/>
                        <a:t>No</a:t>
                      </a:r>
                    </a:p>
                  </a:txBody>
                  <a:tcPr anchor="ctr"/>
                </a:tc>
                <a:tc>
                  <a:txBody>
                    <a:bodyPr/>
                    <a:lstStyle/>
                    <a:p>
                      <a:pPr algn="ctr">
                        <a:buNone/>
                      </a:pPr>
                      <a:r>
                        <a:rPr lang="en-IN"/>
                        <a:t>client</a:t>
                      </a:r>
                    </a:p>
                  </a:txBody>
                  <a:tcPr anchor="ctr"/>
                </a:tc>
                <a:extLst>
                  <a:ext uri="{0D108BD9-81ED-4DB2-BD59-A6C34878D82A}">
                    <a16:rowId xmlns:a16="http://schemas.microsoft.com/office/drawing/2014/main" val="1480174254"/>
                  </a:ext>
                </a:extLst>
              </a:tr>
              <a:tr h="370840">
                <a:tc>
                  <a:txBody>
                    <a:bodyPr/>
                    <a:lstStyle/>
                    <a:p>
                      <a:pPr algn="ctr">
                        <a:buNone/>
                      </a:pPr>
                      <a:r>
                        <a:rPr lang="en-IN"/>
                        <a:t>2</a:t>
                      </a:r>
                    </a:p>
                  </a:txBody>
                  <a:tcPr anchor="ctr"/>
                </a:tc>
                <a:tc>
                  <a:txBody>
                    <a:bodyPr/>
                    <a:lstStyle/>
                    <a:p>
                      <a:pPr algn="ctr">
                        <a:buNone/>
                      </a:pPr>
                      <a:r>
                        <a:rPr lang="en-IN"/>
                        <a:t>Yes</a:t>
                      </a:r>
                    </a:p>
                  </a:txBody>
                  <a:tcPr anchor="ctr"/>
                </a:tc>
                <a:tc>
                  <a:txBody>
                    <a:bodyPr/>
                    <a:lstStyle/>
                    <a:p>
                      <a:pPr algn="ctr">
                        <a:buNone/>
                      </a:pPr>
                      <a:r>
                        <a:rPr lang="en-IN"/>
                        <a:t>client</a:t>
                      </a:r>
                    </a:p>
                  </a:txBody>
                  <a:tcPr anchor="ctr"/>
                </a:tc>
                <a:extLst>
                  <a:ext uri="{0D108BD9-81ED-4DB2-BD59-A6C34878D82A}">
                    <a16:rowId xmlns:a16="http://schemas.microsoft.com/office/drawing/2014/main" val="4164711103"/>
                  </a:ext>
                </a:extLst>
              </a:tr>
              <a:tr h="370840">
                <a:tc>
                  <a:txBody>
                    <a:bodyPr/>
                    <a:lstStyle/>
                    <a:p>
                      <a:pPr algn="ctr">
                        <a:buNone/>
                      </a:pPr>
                      <a:r>
                        <a:rPr lang="en-IN"/>
                        <a:t>3</a:t>
                      </a:r>
                    </a:p>
                  </a:txBody>
                  <a:tcPr anchor="ctr"/>
                </a:tc>
                <a:tc>
                  <a:txBody>
                    <a:bodyPr/>
                    <a:lstStyle/>
                    <a:p>
                      <a:pPr algn="ctr">
                        <a:buNone/>
                      </a:pPr>
                      <a:r>
                        <a:rPr lang="en-IN"/>
                        <a:t>No</a:t>
                      </a:r>
                    </a:p>
                  </a:txBody>
                  <a:tcPr anchor="ctr"/>
                </a:tc>
                <a:tc>
                  <a:txBody>
                    <a:bodyPr/>
                    <a:lstStyle/>
                    <a:p>
                      <a:pPr algn="ctr">
                        <a:buNone/>
                      </a:pPr>
                      <a:r>
                        <a:rPr lang="en-IN"/>
                        <a:t>client</a:t>
                      </a:r>
                    </a:p>
                  </a:txBody>
                  <a:tcPr anchor="ctr"/>
                </a:tc>
                <a:extLst>
                  <a:ext uri="{0D108BD9-81ED-4DB2-BD59-A6C34878D82A}">
                    <a16:rowId xmlns:a16="http://schemas.microsoft.com/office/drawing/2014/main" val="4151612013"/>
                  </a:ext>
                </a:extLst>
              </a:tr>
              <a:tr h="370840">
                <a:tc>
                  <a:txBody>
                    <a:bodyPr/>
                    <a:lstStyle/>
                    <a:p>
                      <a:pPr algn="ctr">
                        <a:buNone/>
                      </a:pPr>
                      <a:r>
                        <a:rPr lang="en-IN"/>
                        <a:t>4</a:t>
                      </a:r>
                    </a:p>
                  </a:txBody>
                  <a:tcPr anchor="ctr"/>
                </a:tc>
                <a:tc>
                  <a:txBody>
                    <a:bodyPr/>
                    <a:lstStyle/>
                    <a:p>
                      <a:pPr algn="ctr">
                        <a:buNone/>
                      </a:pPr>
                      <a:r>
                        <a:rPr lang="en-IN"/>
                        <a:t>No</a:t>
                      </a:r>
                    </a:p>
                  </a:txBody>
                  <a:tcPr anchor="ctr"/>
                </a:tc>
                <a:tc>
                  <a:txBody>
                    <a:bodyPr/>
                    <a:lstStyle/>
                    <a:p>
                      <a:pPr algn="ctr">
                        <a:buNone/>
                      </a:pPr>
                      <a:r>
                        <a:rPr lang="en-IN"/>
                        <a:t>client</a:t>
                      </a:r>
                    </a:p>
                  </a:txBody>
                  <a:tcPr anchor="ctr"/>
                </a:tc>
                <a:extLst>
                  <a:ext uri="{0D108BD9-81ED-4DB2-BD59-A6C34878D82A}">
                    <a16:rowId xmlns:a16="http://schemas.microsoft.com/office/drawing/2014/main" val="3059249235"/>
                  </a:ext>
                </a:extLst>
              </a:tr>
              <a:tr h="370840">
                <a:tc>
                  <a:txBody>
                    <a:bodyPr/>
                    <a:lstStyle/>
                    <a:p>
                      <a:pPr algn="ctr">
                        <a:buNone/>
                      </a:pPr>
                      <a:r>
                        <a:rPr lang="en-IN"/>
                        <a:t>10</a:t>
                      </a:r>
                    </a:p>
                  </a:txBody>
                  <a:tcPr anchor="ctr"/>
                </a:tc>
                <a:tc>
                  <a:txBody>
                    <a:bodyPr/>
                    <a:lstStyle/>
                    <a:p>
                      <a:pPr algn="ctr">
                        <a:buNone/>
                      </a:pPr>
                      <a:r>
                        <a:rPr lang="en-IN"/>
                        <a:t>No</a:t>
                      </a:r>
                    </a:p>
                  </a:txBody>
                  <a:tcPr anchor="ctr"/>
                </a:tc>
                <a:tc>
                  <a:txBody>
                    <a:bodyPr/>
                    <a:lstStyle/>
                    <a:p>
                      <a:pPr algn="ctr">
                        <a:buNone/>
                      </a:pPr>
                      <a:r>
                        <a:rPr lang="en-IN"/>
                        <a:t>driver</a:t>
                      </a:r>
                    </a:p>
                  </a:txBody>
                  <a:tcPr anchor="ctr"/>
                </a:tc>
                <a:extLst>
                  <a:ext uri="{0D108BD9-81ED-4DB2-BD59-A6C34878D82A}">
                    <a16:rowId xmlns:a16="http://schemas.microsoft.com/office/drawing/2014/main" val="3628142600"/>
                  </a:ext>
                </a:extLst>
              </a:tr>
              <a:tr h="370840">
                <a:tc>
                  <a:txBody>
                    <a:bodyPr/>
                    <a:lstStyle/>
                    <a:p>
                      <a:pPr algn="ctr">
                        <a:buNone/>
                      </a:pPr>
                      <a:r>
                        <a:rPr lang="en-IN"/>
                        <a:t>11</a:t>
                      </a:r>
                    </a:p>
                  </a:txBody>
                  <a:tcPr anchor="ctr"/>
                </a:tc>
                <a:tc>
                  <a:txBody>
                    <a:bodyPr/>
                    <a:lstStyle/>
                    <a:p>
                      <a:pPr algn="ctr">
                        <a:buNone/>
                      </a:pPr>
                      <a:r>
                        <a:rPr lang="en-IN"/>
                        <a:t>No</a:t>
                      </a:r>
                    </a:p>
                  </a:txBody>
                  <a:tcPr anchor="ctr"/>
                </a:tc>
                <a:tc>
                  <a:txBody>
                    <a:bodyPr/>
                    <a:lstStyle/>
                    <a:p>
                      <a:pPr algn="ctr">
                        <a:buNone/>
                      </a:pPr>
                      <a:r>
                        <a:rPr lang="en-IN"/>
                        <a:t>driver</a:t>
                      </a:r>
                    </a:p>
                  </a:txBody>
                  <a:tcPr anchor="ctr"/>
                </a:tc>
                <a:extLst>
                  <a:ext uri="{0D108BD9-81ED-4DB2-BD59-A6C34878D82A}">
                    <a16:rowId xmlns:a16="http://schemas.microsoft.com/office/drawing/2014/main" val="452602058"/>
                  </a:ext>
                </a:extLst>
              </a:tr>
              <a:tr h="370840">
                <a:tc>
                  <a:txBody>
                    <a:bodyPr/>
                    <a:lstStyle/>
                    <a:p>
                      <a:pPr algn="ctr">
                        <a:buNone/>
                      </a:pPr>
                      <a:r>
                        <a:rPr lang="en-IN"/>
                        <a:t>12</a:t>
                      </a:r>
                    </a:p>
                  </a:txBody>
                  <a:tcPr anchor="ctr"/>
                </a:tc>
                <a:tc>
                  <a:txBody>
                    <a:bodyPr/>
                    <a:lstStyle/>
                    <a:p>
                      <a:pPr algn="ctr">
                        <a:buNone/>
                      </a:pPr>
                      <a:r>
                        <a:rPr lang="en-IN"/>
                        <a:t>No</a:t>
                      </a:r>
                    </a:p>
                  </a:txBody>
                  <a:tcPr anchor="ctr"/>
                </a:tc>
                <a:tc>
                  <a:txBody>
                    <a:bodyPr/>
                    <a:lstStyle/>
                    <a:p>
                      <a:pPr algn="ctr">
                        <a:buNone/>
                      </a:pPr>
                      <a:r>
                        <a:rPr lang="en-IN"/>
                        <a:t>driver</a:t>
                      </a:r>
                    </a:p>
                  </a:txBody>
                  <a:tcPr anchor="ctr"/>
                </a:tc>
                <a:extLst>
                  <a:ext uri="{0D108BD9-81ED-4DB2-BD59-A6C34878D82A}">
                    <a16:rowId xmlns:a16="http://schemas.microsoft.com/office/drawing/2014/main" val="3765279902"/>
                  </a:ext>
                </a:extLst>
              </a:tr>
              <a:tr h="370840">
                <a:tc>
                  <a:txBody>
                    <a:bodyPr/>
                    <a:lstStyle/>
                    <a:p>
                      <a:pPr algn="ctr">
                        <a:buNone/>
                      </a:pPr>
                      <a:r>
                        <a:rPr lang="en-IN"/>
                        <a:t>13</a:t>
                      </a:r>
                    </a:p>
                  </a:txBody>
                  <a:tcPr anchor="ctr"/>
                </a:tc>
                <a:tc>
                  <a:txBody>
                    <a:bodyPr/>
                    <a:lstStyle/>
                    <a:p>
                      <a:pPr algn="ctr">
                        <a:buNone/>
                      </a:pPr>
                      <a:r>
                        <a:rPr lang="en-IN"/>
                        <a:t>No</a:t>
                      </a:r>
                    </a:p>
                  </a:txBody>
                  <a:tcPr anchor="ctr"/>
                </a:tc>
                <a:tc>
                  <a:txBody>
                    <a:bodyPr/>
                    <a:lstStyle/>
                    <a:p>
                      <a:pPr algn="ctr">
                        <a:buNone/>
                      </a:pPr>
                      <a:r>
                        <a:rPr lang="en-IN" dirty="0"/>
                        <a:t>driver</a:t>
                      </a:r>
                    </a:p>
                  </a:txBody>
                  <a:tcPr anchor="ctr"/>
                </a:tc>
                <a:extLst>
                  <a:ext uri="{0D108BD9-81ED-4DB2-BD59-A6C34878D82A}">
                    <a16:rowId xmlns:a16="http://schemas.microsoft.com/office/drawing/2014/main" val="1068974295"/>
                  </a:ext>
                </a:extLst>
              </a:tr>
            </a:tbl>
          </a:graphicData>
        </a:graphic>
      </p:graphicFrame>
      <p:sp>
        <p:nvSpPr>
          <p:cNvPr id="7" name="TextBox 6">
            <a:extLst>
              <a:ext uri="{FF2B5EF4-FFF2-40B4-BE49-F238E27FC236}">
                <a16:creationId xmlns:a16="http://schemas.microsoft.com/office/drawing/2014/main" id="{EBD0A4F6-9C68-7ED3-2601-203E9870CE09}"/>
              </a:ext>
            </a:extLst>
          </p:cNvPr>
          <p:cNvSpPr txBox="1"/>
          <p:nvPr/>
        </p:nvSpPr>
        <p:spPr>
          <a:xfrm>
            <a:off x="507214" y="1264286"/>
            <a:ext cx="804002" cy="369332"/>
          </a:xfrm>
          <a:prstGeom prst="rect">
            <a:avLst/>
          </a:prstGeom>
          <a:noFill/>
        </p:spPr>
        <p:txBody>
          <a:bodyPr wrap="square">
            <a:spAutoFit/>
          </a:bodyPr>
          <a:lstStyle/>
          <a:p>
            <a:r>
              <a:rPr lang="en-IN" b="1" dirty="0"/>
              <a:t>Users</a:t>
            </a:r>
          </a:p>
        </p:txBody>
      </p:sp>
      <p:graphicFrame>
        <p:nvGraphicFramePr>
          <p:cNvPr id="8" name="Table 7">
            <a:extLst>
              <a:ext uri="{FF2B5EF4-FFF2-40B4-BE49-F238E27FC236}">
                <a16:creationId xmlns:a16="http://schemas.microsoft.com/office/drawing/2014/main" id="{488C6703-718A-5AF6-64F8-918F5CA5AB50}"/>
              </a:ext>
            </a:extLst>
          </p:cNvPr>
          <p:cNvGraphicFramePr>
            <a:graphicFrameLocks noGrp="1"/>
          </p:cNvGraphicFramePr>
          <p:nvPr>
            <p:extLst>
              <p:ext uri="{D42A27DB-BD31-4B8C-83A1-F6EECF244321}">
                <p14:modId xmlns:p14="http://schemas.microsoft.com/office/powerpoint/2010/main" val="286282383"/>
              </p:ext>
            </p:extLst>
          </p:nvPr>
        </p:nvGraphicFramePr>
        <p:xfrm>
          <a:off x="3903758" y="1579935"/>
          <a:ext cx="7781028" cy="4886960"/>
        </p:xfrm>
        <a:graphic>
          <a:graphicData uri="http://schemas.openxmlformats.org/drawingml/2006/table">
            <a:tbl>
              <a:tblPr firstRow="1" bandRow="1">
                <a:tableStyleId>{5C22544A-7EE6-4342-B048-85BDC9FD1C3A}</a:tableStyleId>
              </a:tblPr>
              <a:tblGrid>
                <a:gridCol w="1296838">
                  <a:extLst>
                    <a:ext uri="{9D8B030D-6E8A-4147-A177-3AD203B41FA5}">
                      <a16:colId xmlns:a16="http://schemas.microsoft.com/office/drawing/2014/main" val="2559125616"/>
                    </a:ext>
                  </a:extLst>
                </a:gridCol>
                <a:gridCol w="1296838">
                  <a:extLst>
                    <a:ext uri="{9D8B030D-6E8A-4147-A177-3AD203B41FA5}">
                      <a16:colId xmlns:a16="http://schemas.microsoft.com/office/drawing/2014/main" val="4137146631"/>
                    </a:ext>
                  </a:extLst>
                </a:gridCol>
                <a:gridCol w="1296838">
                  <a:extLst>
                    <a:ext uri="{9D8B030D-6E8A-4147-A177-3AD203B41FA5}">
                      <a16:colId xmlns:a16="http://schemas.microsoft.com/office/drawing/2014/main" val="2129857891"/>
                    </a:ext>
                  </a:extLst>
                </a:gridCol>
                <a:gridCol w="1296838">
                  <a:extLst>
                    <a:ext uri="{9D8B030D-6E8A-4147-A177-3AD203B41FA5}">
                      <a16:colId xmlns:a16="http://schemas.microsoft.com/office/drawing/2014/main" val="3859807887"/>
                    </a:ext>
                  </a:extLst>
                </a:gridCol>
                <a:gridCol w="1296838">
                  <a:extLst>
                    <a:ext uri="{9D8B030D-6E8A-4147-A177-3AD203B41FA5}">
                      <a16:colId xmlns:a16="http://schemas.microsoft.com/office/drawing/2014/main" val="51324894"/>
                    </a:ext>
                  </a:extLst>
                </a:gridCol>
                <a:gridCol w="1296838">
                  <a:extLst>
                    <a:ext uri="{9D8B030D-6E8A-4147-A177-3AD203B41FA5}">
                      <a16:colId xmlns:a16="http://schemas.microsoft.com/office/drawing/2014/main" val="1496040621"/>
                    </a:ext>
                  </a:extLst>
                </a:gridCol>
              </a:tblGrid>
              <a:tr h="370840">
                <a:tc>
                  <a:txBody>
                    <a:bodyPr/>
                    <a:lstStyle/>
                    <a:p>
                      <a:pPr algn="ctr">
                        <a:buNone/>
                      </a:pPr>
                      <a:r>
                        <a:rPr lang="en-IN" dirty="0"/>
                        <a:t>id</a:t>
                      </a:r>
                    </a:p>
                  </a:txBody>
                  <a:tcPr anchor="ctr"/>
                </a:tc>
                <a:tc>
                  <a:txBody>
                    <a:bodyPr/>
                    <a:lstStyle/>
                    <a:p>
                      <a:pPr algn="ctr">
                        <a:buNone/>
                      </a:pPr>
                      <a:r>
                        <a:rPr lang="en-IN"/>
                        <a:t>client_id</a:t>
                      </a:r>
                    </a:p>
                  </a:txBody>
                  <a:tcPr anchor="ctr"/>
                </a:tc>
                <a:tc>
                  <a:txBody>
                    <a:bodyPr/>
                    <a:lstStyle/>
                    <a:p>
                      <a:pPr algn="ctr">
                        <a:buNone/>
                      </a:pPr>
                      <a:r>
                        <a:rPr lang="en-IN"/>
                        <a:t>driver_id</a:t>
                      </a:r>
                    </a:p>
                  </a:txBody>
                  <a:tcPr anchor="ctr"/>
                </a:tc>
                <a:tc>
                  <a:txBody>
                    <a:bodyPr/>
                    <a:lstStyle/>
                    <a:p>
                      <a:pPr algn="ctr">
                        <a:buNone/>
                      </a:pPr>
                      <a:r>
                        <a:rPr lang="en-IN"/>
                        <a:t>city_id</a:t>
                      </a:r>
                    </a:p>
                  </a:txBody>
                  <a:tcPr anchor="ctr"/>
                </a:tc>
                <a:tc>
                  <a:txBody>
                    <a:bodyPr/>
                    <a:lstStyle/>
                    <a:p>
                      <a:pPr algn="ctr">
                        <a:buNone/>
                      </a:pPr>
                      <a:r>
                        <a:rPr lang="en-IN"/>
                        <a:t>status</a:t>
                      </a:r>
                    </a:p>
                  </a:txBody>
                  <a:tcPr anchor="ctr"/>
                </a:tc>
                <a:tc>
                  <a:txBody>
                    <a:bodyPr/>
                    <a:lstStyle/>
                    <a:p>
                      <a:pPr algn="ctr">
                        <a:buNone/>
                      </a:pPr>
                      <a:r>
                        <a:rPr lang="en-IN"/>
                        <a:t>request_at</a:t>
                      </a:r>
                    </a:p>
                  </a:txBody>
                  <a:tcPr anchor="ctr"/>
                </a:tc>
                <a:extLst>
                  <a:ext uri="{0D108BD9-81ED-4DB2-BD59-A6C34878D82A}">
                    <a16:rowId xmlns:a16="http://schemas.microsoft.com/office/drawing/2014/main" val="2964916665"/>
                  </a:ext>
                </a:extLst>
              </a:tr>
              <a:tr h="370840">
                <a:tc>
                  <a:txBody>
                    <a:bodyPr/>
                    <a:lstStyle/>
                    <a:p>
                      <a:pPr algn="ctr">
                        <a:buNone/>
                      </a:pPr>
                      <a:r>
                        <a:rPr lang="en-IN"/>
                        <a:t>1</a:t>
                      </a:r>
                    </a:p>
                  </a:txBody>
                  <a:tcPr anchor="ctr"/>
                </a:tc>
                <a:tc>
                  <a:txBody>
                    <a:bodyPr/>
                    <a:lstStyle/>
                    <a:p>
                      <a:pPr algn="ctr">
                        <a:buNone/>
                      </a:pPr>
                      <a:r>
                        <a:rPr lang="en-IN"/>
                        <a:t>1</a:t>
                      </a:r>
                    </a:p>
                  </a:txBody>
                  <a:tcPr anchor="ctr"/>
                </a:tc>
                <a:tc>
                  <a:txBody>
                    <a:bodyPr/>
                    <a:lstStyle/>
                    <a:p>
                      <a:pPr algn="ctr">
                        <a:buNone/>
                      </a:pPr>
                      <a:r>
                        <a:rPr lang="en-IN"/>
                        <a:t>10</a:t>
                      </a:r>
                    </a:p>
                  </a:txBody>
                  <a:tcPr anchor="ctr"/>
                </a:tc>
                <a:tc>
                  <a:txBody>
                    <a:bodyPr/>
                    <a:lstStyle/>
                    <a:p>
                      <a:pPr algn="ctr">
                        <a:buNone/>
                      </a:pPr>
                      <a:r>
                        <a:rPr lang="en-IN"/>
                        <a:t>1</a:t>
                      </a:r>
                    </a:p>
                  </a:txBody>
                  <a:tcPr anchor="ctr"/>
                </a:tc>
                <a:tc>
                  <a:txBody>
                    <a:bodyPr/>
                    <a:lstStyle/>
                    <a:p>
                      <a:pPr algn="ctr">
                        <a:buNone/>
                      </a:pPr>
                      <a:r>
                        <a:rPr lang="en-IN"/>
                        <a:t>completed</a:t>
                      </a:r>
                    </a:p>
                  </a:txBody>
                  <a:tcPr anchor="ctr"/>
                </a:tc>
                <a:tc>
                  <a:txBody>
                    <a:bodyPr/>
                    <a:lstStyle/>
                    <a:p>
                      <a:pPr algn="ctr">
                        <a:buNone/>
                      </a:pPr>
                      <a:r>
                        <a:rPr lang="en-IN"/>
                        <a:t>2013-10-01</a:t>
                      </a:r>
                    </a:p>
                  </a:txBody>
                  <a:tcPr anchor="ctr"/>
                </a:tc>
                <a:extLst>
                  <a:ext uri="{0D108BD9-81ED-4DB2-BD59-A6C34878D82A}">
                    <a16:rowId xmlns:a16="http://schemas.microsoft.com/office/drawing/2014/main" val="977241192"/>
                  </a:ext>
                </a:extLst>
              </a:tr>
              <a:tr h="370840">
                <a:tc>
                  <a:txBody>
                    <a:bodyPr/>
                    <a:lstStyle/>
                    <a:p>
                      <a:pPr algn="ctr">
                        <a:buNone/>
                      </a:pPr>
                      <a:r>
                        <a:rPr lang="en-IN"/>
                        <a:t>2</a:t>
                      </a:r>
                    </a:p>
                  </a:txBody>
                  <a:tcPr anchor="ctr"/>
                </a:tc>
                <a:tc>
                  <a:txBody>
                    <a:bodyPr/>
                    <a:lstStyle/>
                    <a:p>
                      <a:pPr algn="ctr">
                        <a:buNone/>
                      </a:pPr>
                      <a:r>
                        <a:rPr lang="en-IN"/>
                        <a:t>2</a:t>
                      </a:r>
                    </a:p>
                  </a:txBody>
                  <a:tcPr anchor="ctr"/>
                </a:tc>
                <a:tc>
                  <a:txBody>
                    <a:bodyPr/>
                    <a:lstStyle/>
                    <a:p>
                      <a:pPr algn="ctr">
                        <a:buNone/>
                      </a:pPr>
                      <a:r>
                        <a:rPr lang="en-IN"/>
                        <a:t>11</a:t>
                      </a:r>
                    </a:p>
                  </a:txBody>
                  <a:tcPr anchor="ctr"/>
                </a:tc>
                <a:tc>
                  <a:txBody>
                    <a:bodyPr/>
                    <a:lstStyle/>
                    <a:p>
                      <a:pPr algn="ctr">
                        <a:buNone/>
                      </a:pPr>
                      <a:r>
                        <a:rPr lang="en-IN"/>
                        <a:t>1</a:t>
                      </a:r>
                    </a:p>
                  </a:txBody>
                  <a:tcPr anchor="ctr"/>
                </a:tc>
                <a:tc>
                  <a:txBody>
                    <a:bodyPr/>
                    <a:lstStyle/>
                    <a:p>
                      <a:pPr algn="ctr">
                        <a:buNone/>
                      </a:pPr>
                      <a:r>
                        <a:rPr lang="en-IN"/>
                        <a:t>cancelled_by_driver</a:t>
                      </a:r>
                    </a:p>
                  </a:txBody>
                  <a:tcPr anchor="ctr"/>
                </a:tc>
                <a:tc>
                  <a:txBody>
                    <a:bodyPr/>
                    <a:lstStyle/>
                    <a:p>
                      <a:pPr algn="ctr">
                        <a:buNone/>
                      </a:pPr>
                      <a:r>
                        <a:rPr lang="en-IN"/>
                        <a:t>2013-10-01</a:t>
                      </a:r>
                    </a:p>
                  </a:txBody>
                  <a:tcPr anchor="ctr"/>
                </a:tc>
                <a:extLst>
                  <a:ext uri="{0D108BD9-81ED-4DB2-BD59-A6C34878D82A}">
                    <a16:rowId xmlns:a16="http://schemas.microsoft.com/office/drawing/2014/main" val="3049883393"/>
                  </a:ext>
                </a:extLst>
              </a:tr>
              <a:tr h="370840">
                <a:tc>
                  <a:txBody>
                    <a:bodyPr/>
                    <a:lstStyle/>
                    <a:p>
                      <a:pPr algn="ctr">
                        <a:buNone/>
                      </a:pPr>
                      <a:r>
                        <a:rPr lang="en-IN"/>
                        <a:t>3</a:t>
                      </a:r>
                    </a:p>
                  </a:txBody>
                  <a:tcPr anchor="ctr"/>
                </a:tc>
                <a:tc>
                  <a:txBody>
                    <a:bodyPr/>
                    <a:lstStyle/>
                    <a:p>
                      <a:pPr algn="ctr">
                        <a:buNone/>
                      </a:pPr>
                      <a:r>
                        <a:rPr lang="en-IN"/>
                        <a:t>3</a:t>
                      </a:r>
                    </a:p>
                  </a:txBody>
                  <a:tcPr anchor="ctr"/>
                </a:tc>
                <a:tc>
                  <a:txBody>
                    <a:bodyPr/>
                    <a:lstStyle/>
                    <a:p>
                      <a:pPr algn="ctr">
                        <a:buNone/>
                      </a:pPr>
                      <a:r>
                        <a:rPr lang="en-IN"/>
                        <a:t>12</a:t>
                      </a:r>
                    </a:p>
                  </a:txBody>
                  <a:tcPr anchor="ctr"/>
                </a:tc>
                <a:tc>
                  <a:txBody>
                    <a:bodyPr/>
                    <a:lstStyle/>
                    <a:p>
                      <a:pPr algn="ctr">
                        <a:buNone/>
                      </a:pPr>
                      <a:r>
                        <a:rPr lang="en-IN"/>
                        <a:t>6</a:t>
                      </a:r>
                    </a:p>
                  </a:txBody>
                  <a:tcPr anchor="ctr"/>
                </a:tc>
                <a:tc>
                  <a:txBody>
                    <a:bodyPr/>
                    <a:lstStyle/>
                    <a:p>
                      <a:pPr algn="ctr">
                        <a:buNone/>
                      </a:pPr>
                      <a:r>
                        <a:rPr lang="en-IN"/>
                        <a:t>completed</a:t>
                      </a:r>
                    </a:p>
                  </a:txBody>
                  <a:tcPr anchor="ctr"/>
                </a:tc>
                <a:tc>
                  <a:txBody>
                    <a:bodyPr/>
                    <a:lstStyle/>
                    <a:p>
                      <a:pPr algn="ctr">
                        <a:buNone/>
                      </a:pPr>
                      <a:r>
                        <a:rPr lang="en-IN"/>
                        <a:t>2013-10-01</a:t>
                      </a:r>
                    </a:p>
                  </a:txBody>
                  <a:tcPr anchor="ctr"/>
                </a:tc>
                <a:extLst>
                  <a:ext uri="{0D108BD9-81ED-4DB2-BD59-A6C34878D82A}">
                    <a16:rowId xmlns:a16="http://schemas.microsoft.com/office/drawing/2014/main" val="351354636"/>
                  </a:ext>
                </a:extLst>
              </a:tr>
              <a:tr h="370840">
                <a:tc>
                  <a:txBody>
                    <a:bodyPr/>
                    <a:lstStyle/>
                    <a:p>
                      <a:pPr algn="ctr">
                        <a:buNone/>
                      </a:pPr>
                      <a:r>
                        <a:rPr lang="en-IN"/>
                        <a:t>4</a:t>
                      </a:r>
                    </a:p>
                  </a:txBody>
                  <a:tcPr anchor="ctr"/>
                </a:tc>
                <a:tc>
                  <a:txBody>
                    <a:bodyPr/>
                    <a:lstStyle/>
                    <a:p>
                      <a:pPr algn="ctr">
                        <a:buNone/>
                      </a:pPr>
                      <a:r>
                        <a:rPr lang="en-IN"/>
                        <a:t>4</a:t>
                      </a:r>
                    </a:p>
                  </a:txBody>
                  <a:tcPr anchor="ctr"/>
                </a:tc>
                <a:tc>
                  <a:txBody>
                    <a:bodyPr/>
                    <a:lstStyle/>
                    <a:p>
                      <a:pPr algn="ctr">
                        <a:buNone/>
                      </a:pPr>
                      <a:r>
                        <a:rPr lang="en-IN"/>
                        <a:t>13</a:t>
                      </a:r>
                    </a:p>
                  </a:txBody>
                  <a:tcPr anchor="ctr"/>
                </a:tc>
                <a:tc>
                  <a:txBody>
                    <a:bodyPr/>
                    <a:lstStyle/>
                    <a:p>
                      <a:pPr algn="ctr">
                        <a:buNone/>
                      </a:pPr>
                      <a:r>
                        <a:rPr lang="en-IN"/>
                        <a:t>6</a:t>
                      </a:r>
                    </a:p>
                  </a:txBody>
                  <a:tcPr anchor="ctr"/>
                </a:tc>
                <a:tc>
                  <a:txBody>
                    <a:bodyPr/>
                    <a:lstStyle/>
                    <a:p>
                      <a:pPr algn="ctr">
                        <a:buNone/>
                      </a:pPr>
                      <a:r>
                        <a:rPr lang="en-IN"/>
                        <a:t>cancelled_by_client</a:t>
                      </a:r>
                    </a:p>
                  </a:txBody>
                  <a:tcPr anchor="ctr"/>
                </a:tc>
                <a:tc>
                  <a:txBody>
                    <a:bodyPr/>
                    <a:lstStyle/>
                    <a:p>
                      <a:pPr algn="ctr">
                        <a:buNone/>
                      </a:pPr>
                      <a:r>
                        <a:rPr lang="en-IN"/>
                        <a:t>2013-10-01</a:t>
                      </a:r>
                    </a:p>
                  </a:txBody>
                  <a:tcPr anchor="ctr"/>
                </a:tc>
                <a:extLst>
                  <a:ext uri="{0D108BD9-81ED-4DB2-BD59-A6C34878D82A}">
                    <a16:rowId xmlns:a16="http://schemas.microsoft.com/office/drawing/2014/main" val="578825507"/>
                  </a:ext>
                </a:extLst>
              </a:tr>
              <a:tr h="370840">
                <a:tc>
                  <a:txBody>
                    <a:bodyPr/>
                    <a:lstStyle/>
                    <a:p>
                      <a:pPr algn="ctr">
                        <a:buNone/>
                      </a:pPr>
                      <a:r>
                        <a:rPr lang="en-IN"/>
                        <a:t>5</a:t>
                      </a:r>
                    </a:p>
                  </a:txBody>
                  <a:tcPr anchor="ctr"/>
                </a:tc>
                <a:tc>
                  <a:txBody>
                    <a:bodyPr/>
                    <a:lstStyle/>
                    <a:p>
                      <a:pPr algn="ctr">
                        <a:buNone/>
                      </a:pPr>
                      <a:r>
                        <a:rPr lang="en-IN"/>
                        <a:t>1</a:t>
                      </a:r>
                    </a:p>
                  </a:txBody>
                  <a:tcPr anchor="ctr"/>
                </a:tc>
                <a:tc>
                  <a:txBody>
                    <a:bodyPr/>
                    <a:lstStyle/>
                    <a:p>
                      <a:pPr algn="ctr">
                        <a:buNone/>
                      </a:pPr>
                      <a:r>
                        <a:rPr lang="en-IN"/>
                        <a:t>10</a:t>
                      </a:r>
                    </a:p>
                  </a:txBody>
                  <a:tcPr anchor="ctr"/>
                </a:tc>
                <a:tc>
                  <a:txBody>
                    <a:bodyPr/>
                    <a:lstStyle/>
                    <a:p>
                      <a:pPr algn="ctr">
                        <a:buNone/>
                      </a:pPr>
                      <a:r>
                        <a:rPr lang="en-IN"/>
                        <a:t>1</a:t>
                      </a:r>
                    </a:p>
                  </a:txBody>
                  <a:tcPr anchor="ctr"/>
                </a:tc>
                <a:tc>
                  <a:txBody>
                    <a:bodyPr/>
                    <a:lstStyle/>
                    <a:p>
                      <a:pPr algn="ctr">
                        <a:buNone/>
                      </a:pPr>
                      <a:r>
                        <a:rPr lang="en-IN"/>
                        <a:t>completed</a:t>
                      </a:r>
                    </a:p>
                  </a:txBody>
                  <a:tcPr anchor="ctr"/>
                </a:tc>
                <a:tc>
                  <a:txBody>
                    <a:bodyPr/>
                    <a:lstStyle/>
                    <a:p>
                      <a:pPr algn="ctr">
                        <a:buNone/>
                      </a:pPr>
                      <a:r>
                        <a:rPr lang="en-IN"/>
                        <a:t>2013-10-02</a:t>
                      </a:r>
                    </a:p>
                  </a:txBody>
                  <a:tcPr anchor="ctr"/>
                </a:tc>
                <a:extLst>
                  <a:ext uri="{0D108BD9-81ED-4DB2-BD59-A6C34878D82A}">
                    <a16:rowId xmlns:a16="http://schemas.microsoft.com/office/drawing/2014/main" val="3437828534"/>
                  </a:ext>
                </a:extLst>
              </a:tr>
              <a:tr h="370840">
                <a:tc>
                  <a:txBody>
                    <a:bodyPr/>
                    <a:lstStyle/>
                    <a:p>
                      <a:pPr algn="ctr">
                        <a:buNone/>
                      </a:pPr>
                      <a:r>
                        <a:rPr lang="en-IN"/>
                        <a:t>6</a:t>
                      </a:r>
                    </a:p>
                  </a:txBody>
                  <a:tcPr anchor="ctr"/>
                </a:tc>
                <a:tc>
                  <a:txBody>
                    <a:bodyPr/>
                    <a:lstStyle/>
                    <a:p>
                      <a:pPr algn="ctr">
                        <a:buNone/>
                      </a:pPr>
                      <a:r>
                        <a:rPr lang="en-IN"/>
                        <a:t>2</a:t>
                      </a:r>
                    </a:p>
                  </a:txBody>
                  <a:tcPr anchor="ctr"/>
                </a:tc>
                <a:tc>
                  <a:txBody>
                    <a:bodyPr/>
                    <a:lstStyle/>
                    <a:p>
                      <a:pPr algn="ctr">
                        <a:buNone/>
                      </a:pPr>
                      <a:r>
                        <a:rPr lang="en-IN"/>
                        <a:t>11</a:t>
                      </a:r>
                    </a:p>
                  </a:txBody>
                  <a:tcPr anchor="ctr"/>
                </a:tc>
                <a:tc>
                  <a:txBody>
                    <a:bodyPr/>
                    <a:lstStyle/>
                    <a:p>
                      <a:pPr algn="ctr">
                        <a:buNone/>
                      </a:pPr>
                      <a:r>
                        <a:rPr lang="en-IN"/>
                        <a:t>6</a:t>
                      </a:r>
                    </a:p>
                  </a:txBody>
                  <a:tcPr anchor="ctr"/>
                </a:tc>
                <a:tc>
                  <a:txBody>
                    <a:bodyPr/>
                    <a:lstStyle/>
                    <a:p>
                      <a:pPr algn="ctr">
                        <a:buNone/>
                      </a:pPr>
                      <a:r>
                        <a:rPr lang="en-IN"/>
                        <a:t>completed</a:t>
                      </a:r>
                    </a:p>
                  </a:txBody>
                  <a:tcPr anchor="ctr"/>
                </a:tc>
                <a:tc>
                  <a:txBody>
                    <a:bodyPr/>
                    <a:lstStyle/>
                    <a:p>
                      <a:pPr algn="ctr">
                        <a:buNone/>
                      </a:pPr>
                      <a:r>
                        <a:rPr lang="en-IN"/>
                        <a:t>2013-10-02</a:t>
                      </a:r>
                    </a:p>
                  </a:txBody>
                  <a:tcPr anchor="ctr"/>
                </a:tc>
                <a:extLst>
                  <a:ext uri="{0D108BD9-81ED-4DB2-BD59-A6C34878D82A}">
                    <a16:rowId xmlns:a16="http://schemas.microsoft.com/office/drawing/2014/main" val="2026239192"/>
                  </a:ext>
                </a:extLst>
              </a:tr>
              <a:tr h="370840">
                <a:tc>
                  <a:txBody>
                    <a:bodyPr/>
                    <a:lstStyle/>
                    <a:p>
                      <a:pPr algn="ctr">
                        <a:buNone/>
                      </a:pPr>
                      <a:r>
                        <a:rPr lang="en-IN"/>
                        <a:t>7</a:t>
                      </a:r>
                    </a:p>
                  </a:txBody>
                  <a:tcPr anchor="ctr"/>
                </a:tc>
                <a:tc>
                  <a:txBody>
                    <a:bodyPr/>
                    <a:lstStyle/>
                    <a:p>
                      <a:pPr algn="ctr">
                        <a:buNone/>
                      </a:pPr>
                      <a:r>
                        <a:rPr lang="en-IN"/>
                        <a:t>3</a:t>
                      </a:r>
                    </a:p>
                  </a:txBody>
                  <a:tcPr anchor="ctr"/>
                </a:tc>
                <a:tc>
                  <a:txBody>
                    <a:bodyPr/>
                    <a:lstStyle/>
                    <a:p>
                      <a:pPr algn="ctr">
                        <a:buNone/>
                      </a:pPr>
                      <a:r>
                        <a:rPr lang="en-IN"/>
                        <a:t>12</a:t>
                      </a:r>
                    </a:p>
                  </a:txBody>
                  <a:tcPr anchor="ctr"/>
                </a:tc>
                <a:tc>
                  <a:txBody>
                    <a:bodyPr/>
                    <a:lstStyle/>
                    <a:p>
                      <a:pPr algn="ctr">
                        <a:buNone/>
                      </a:pPr>
                      <a:r>
                        <a:rPr lang="en-IN"/>
                        <a:t>6</a:t>
                      </a:r>
                    </a:p>
                  </a:txBody>
                  <a:tcPr anchor="ctr"/>
                </a:tc>
                <a:tc>
                  <a:txBody>
                    <a:bodyPr/>
                    <a:lstStyle/>
                    <a:p>
                      <a:pPr algn="ctr">
                        <a:buNone/>
                      </a:pPr>
                      <a:r>
                        <a:rPr lang="en-IN"/>
                        <a:t>completed</a:t>
                      </a:r>
                    </a:p>
                  </a:txBody>
                  <a:tcPr anchor="ctr"/>
                </a:tc>
                <a:tc>
                  <a:txBody>
                    <a:bodyPr/>
                    <a:lstStyle/>
                    <a:p>
                      <a:pPr algn="ctr">
                        <a:buNone/>
                      </a:pPr>
                      <a:r>
                        <a:rPr lang="en-IN"/>
                        <a:t>2013-10-02</a:t>
                      </a:r>
                    </a:p>
                  </a:txBody>
                  <a:tcPr anchor="ctr"/>
                </a:tc>
                <a:extLst>
                  <a:ext uri="{0D108BD9-81ED-4DB2-BD59-A6C34878D82A}">
                    <a16:rowId xmlns:a16="http://schemas.microsoft.com/office/drawing/2014/main" val="2406179529"/>
                  </a:ext>
                </a:extLst>
              </a:tr>
              <a:tr h="370840">
                <a:tc>
                  <a:txBody>
                    <a:bodyPr/>
                    <a:lstStyle/>
                    <a:p>
                      <a:pPr algn="ctr">
                        <a:buNone/>
                      </a:pPr>
                      <a:r>
                        <a:rPr lang="en-IN"/>
                        <a:t>8</a:t>
                      </a:r>
                    </a:p>
                  </a:txBody>
                  <a:tcPr anchor="ctr"/>
                </a:tc>
                <a:tc>
                  <a:txBody>
                    <a:bodyPr/>
                    <a:lstStyle/>
                    <a:p>
                      <a:pPr algn="ctr">
                        <a:buNone/>
                      </a:pPr>
                      <a:r>
                        <a:rPr lang="en-IN"/>
                        <a:t>2</a:t>
                      </a:r>
                    </a:p>
                  </a:txBody>
                  <a:tcPr anchor="ctr"/>
                </a:tc>
                <a:tc>
                  <a:txBody>
                    <a:bodyPr/>
                    <a:lstStyle/>
                    <a:p>
                      <a:pPr algn="ctr">
                        <a:buNone/>
                      </a:pPr>
                      <a:r>
                        <a:rPr lang="en-IN"/>
                        <a:t>12</a:t>
                      </a:r>
                    </a:p>
                  </a:txBody>
                  <a:tcPr anchor="ctr"/>
                </a:tc>
                <a:tc>
                  <a:txBody>
                    <a:bodyPr/>
                    <a:lstStyle/>
                    <a:p>
                      <a:pPr algn="ctr">
                        <a:buNone/>
                      </a:pPr>
                      <a:r>
                        <a:rPr lang="en-IN"/>
                        <a:t>12</a:t>
                      </a:r>
                    </a:p>
                  </a:txBody>
                  <a:tcPr anchor="ctr"/>
                </a:tc>
                <a:tc>
                  <a:txBody>
                    <a:bodyPr/>
                    <a:lstStyle/>
                    <a:p>
                      <a:pPr algn="ctr">
                        <a:buNone/>
                      </a:pPr>
                      <a:r>
                        <a:rPr lang="en-IN"/>
                        <a:t>completed</a:t>
                      </a:r>
                    </a:p>
                  </a:txBody>
                  <a:tcPr anchor="ctr"/>
                </a:tc>
                <a:tc>
                  <a:txBody>
                    <a:bodyPr/>
                    <a:lstStyle/>
                    <a:p>
                      <a:pPr algn="ctr">
                        <a:buNone/>
                      </a:pPr>
                      <a:r>
                        <a:rPr lang="en-IN"/>
                        <a:t>2013-10-03</a:t>
                      </a:r>
                    </a:p>
                  </a:txBody>
                  <a:tcPr anchor="ctr"/>
                </a:tc>
                <a:extLst>
                  <a:ext uri="{0D108BD9-81ED-4DB2-BD59-A6C34878D82A}">
                    <a16:rowId xmlns:a16="http://schemas.microsoft.com/office/drawing/2014/main" val="93045754"/>
                  </a:ext>
                </a:extLst>
              </a:tr>
              <a:tr h="370840">
                <a:tc>
                  <a:txBody>
                    <a:bodyPr/>
                    <a:lstStyle/>
                    <a:p>
                      <a:pPr algn="ctr">
                        <a:buNone/>
                      </a:pPr>
                      <a:r>
                        <a:rPr lang="en-IN"/>
                        <a:t>9</a:t>
                      </a:r>
                    </a:p>
                  </a:txBody>
                  <a:tcPr anchor="ctr"/>
                </a:tc>
                <a:tc>
                  <a:txBody>
                    <a:bodyPr/>
                    <a:lstStyle/>
                    <a:p>
                      <a:pPr algn="ctr">
                        <a:buNone/>
                      </a:pPr>
                      <a:r>
                        <a:rPr lang="en-IN"/>
                        <a:t>3</a:t>
                      </a:r>
                    </a:p>
                  </a:txBody>
                  <a:tcPr anchor="ctr"/>
                </a:tc>
                <a:tc>
                  <a:txBody>
                    <a:bodyPr/>
                    <a:lstStyle/>
                    <a:p>
                      <a:pPr algn="ctr">
                        <a:buNone/>
                      </a:pPr>
                      <a:r>
                        <a:rPr lang="en-IN"/>
                        <a:t>10</a:t>
                      </a:r>
                    </a:p>
                  </a:txBody>
                  <a:tcPr anchor="ctr"/>
                </a:tc>
                <a:tc>
                  <a:txBody>
                    <a:bodyPr/>
                    <a:lstStyle/>
                    <a:p>
                      <a:pPr algn="ctr">
                        <a:buNone/>
                      </a:pPr>
                      <a:r>
                        <a:rPr lang="en-IN"/>
                        <a:t>12</a:t>
                      </a:r>
                    </a:p>
                  </a:txBody>
                  <a:tcPr anchor="ctr"/>
                </a:tc>
                <a:tc>
                  <a:txBody>
                    <a:bodyPr/>
                    <a:lstStyle/>
                    <a:p>
                      <a:pPr algn="ctr">
                        <a:buNone/>
                      </a:pPr>
                      <a:r>
                        <a:rPr lang="en-IN"/>
                        <a:t>completed</a:t>
                      </a:r>
                    </a:p>
                  </a:txBody>
                  <a:tcPr anchor="ctr"/>
                </a:tc>
                <a:tc>
                  <a:txBody>
                    <a:bodyPr/>
                    <a:lstStyle/>
                    <a:p>
                      <a:pPr algn="ctr">
                        <a:buNone/>
                      </a:pPr>
                      <a:r>
                        <a:rPr lang="en-IN"/>
                        <a:t>2013-10-03</a:t>
                      </a:r>
                    </a:p>
                  </a:txBody>
                  <a:tcPr anchor="ctr"/>
                </a:tc>
                <a:extLst>
                  <a:ext uri="{0D108BD9-81ED-4DB2-BD59-A6C34878D82A}">
                    <a16:rowId xmlns:a16="http://schemas.microsoft.com/office/drawing/2014/main" val="1007435793"/>
                  </a:ext>
                </a:extLst>
              </a:tr>
              <a:tr h="370840">
                <a:tc>
                  <a:txBody>
                    <a:bodyPr/>
                    <a:lstStyle/>
                    <a:p>
                      <a:pPr algn="ctr">
                        <a:buNone/>
                      </a:pPr>
                      <a:r>
                        <a:rPr lang="en-IN"/>
                        <a:t>10</a:t>
                      </a:r>
                    </a:p>
                  </a:txBody>
                  <a:tcPr anchor="ctr"/>
                </a:tc>
                <a:tc>
                  <a:txBody>
                    <a:bodyPr/>
                    <a:lstStyle/>
                    <a:p>
                      <a:pPr algn="ctr">
                        <a:buNone/>
                      </a:pPr>
                      <a:r>
                        <a:rPr lang="en-IN"/>
                        <a:t>4</a:t>
                      </a:r>
                    </a:p>
                  </a:txBody>
                  <a:tcPr anchor="ctr"/>
                </a:tc>
                <a:tc>
                  <a:txBody>
                    <a:bodyPr/>
                    <a:lstStyle/>
                    <a:p>
                      <a:pPr algn="ctr">
                        <a:buNone/>
                      </a:pPr>
                      <a:r>
                        <a:rPr lang="en-IN"/>
                        <a:t>13</a:t>
                      </a:r>
                    </a:p>
                  </a:txBody>
                  <a:tcPr anchor="ctr"/>
                </a:tc>
                <a:tc>
                  <a:txBody>
                    <a:bodyPr/>
                    <a:lstStyle/>
                    <a:p>
                      <a:pPr algn="ctr">
                        <a:buNone/>
                      </a:pPr>
                      <a:r>
                        <a:rPr lang="en-IN"/>
                        <a:t>12</a:t>
                      </a:r>
                    </a:p>
                  </a:txBody>
                  <a:tcPr anchor="ctr"/>
                </a:tc>
                <a:tc>
                  <a:txBody>
                    <a:bodyPr/>
                    <a:lstStyle/>
                    <a:p>
                      <a:pPr algn="ctr">
                        <a:buNone/>
                      </a:pPr>
                      <a:r>
                        <a:rPr lang="en-IN"/>
                        <a:t>cancelled_by_driver</a:t>
                      </a:r>
                    </a:p>
                  </a:txBody>
                  <a:tcPr anchor="ctr"/>
                </a:tc>
                <a:tc>
                  <a:txBody>
                    <a:bodyPr/>
                    <a:lstStyle/>
                    <a:p>
                      <a:pPr algn="ctr">
                        <a:buNone/>
                      </a:pPr>
                      <a:r>
                        <a:rPr lang="en-IN" dirty="0"/>
                        <a:t>2013-10-03</a:t>
                      </a:r>
                    </a:p>
                  </a:txBody>
                  <a:tcPr anchor="ctr"/>
                </a:tc>
                <a:extLst>
                  <a:ext uri="{0D108BD9-81ED-4DB2-BD59-A6C34878D82A}">
                    <a16:rowId xmlns:a16="http://schemas.microsoft.com/office/drawing/2014/main" val="3680302379"/>
                  </a:ext>
                </a:extLst>
              </a:tr>
            </a:tbl>
          </a:graphicData>
        </a:graphic>
      </p:graphicFrame>
      <p:sp>
        <p:nvSpPr>
          <p:cNvPr id="11" name="TextBox 10">
            <a:extLst>
              <a:ext uri="{FF2B5EF4-FFF2-40B4-BE49-F238E27FC236}">
                <a16:creationId xmlns:a16="http://schemas.microsoft.com/office/drawing/2014/main" id="{FF19062E-132E-18DA-9FEF-BBB2728B446F}"/>
              </a:ext>
            </a:extLst>
          </p:cNvPr>
          <p:cNvSpPr txBox="1"/>
          <p:nvPr/>
        </p:nvSpPr>
        <p:spPr>
          <a:xfrm>
            <a:off x="4161939" y="1195103"/>
            <a:ext cx="804002" cy="369332"/>
          </a:xfrm>
          <a:prstGeom prst="rect">
            <a:avLst/>
          </a:prstGeom>
          <a:noFill/>
        </p:spPr>
        <p:txBody>
          <a:bodyPr wrap="square">
            <a:spAutoFit/>
          </a:bodyPr>
          <a:lstStyle/>
          <a:p>
            <a:r>
              <a:rPr lang="en-IN" b="1" dirty="0"/>
              <a:t>Trips</a:t>
            </a:r>
          </a:p>
        </p:txBody>
      </p:sp>
    </p:spTree>
    <p:extLst>
      <p:ext uri="{BB962C8B-B14F-4D97-AF65-F5344CB8AC3E}">
        <p14:creationId xmlns:p14="http://schemas.microsoft.com/office/powerpoint/2010/main" val="2916322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3945C-D7E7-43CF-B922-ECE7A0F2F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937FC1-AFA7-8F57-9E1A-DA772F51D900}"/>
              </a:ext>
            </a:extLst>
          </p:cNvPr>
          <p:cNvSpPr>
            <a:spLocks noGrp="1"/>
          </p:cNvSpPr>
          <p:nvPr>
            <p:ph type="title"/>
          </p:nvPr>
        </p:nvSpPr>
        <p:spPr>
          <a:xfrm>
            <a:off x="507213" y="633189"/>
            <a:ext cx="10515600" cy="504496"/>
          </a:xfrm>
        </p:spPr>
        <p:txBody>
          <a:bodyPr>
            <a:normAutofit fontScale="90000"/>
          </a:bodyPr>
          <a:lstStyle/>
          <a:p>
            <a:r>
              <a:rPr lang="en-US" dirty="0"/>
              <a:t>Experiment 05</a:t>
            </a:r>
            <a:endParaRPr lang="en-IN" dirty="0"/>
          </a:p>
        </p:txBody>
      </p:sp>
      <p:sp>
        <p:nvSpPr>
          <p:cNvPr id="10" name="Rectangle 9">
            <a:extLst>
              <a:ext uri="{FF2B5EF4-FFF2-40B4-BE49-F238E27FC236}">
                <a16:creationId xmlns:a16="http://schemas.microsoft.com/office/drawing/2014/main" id="{97E58626-EE35-8568-51B2-FF4853FD8628}"/>
              </a:ext>
            </a:extLst>
          </p:cNvPr>
          <p:cNvSpPr/>
          <p:nvPr/>
        </p:nvSpPr>
        <p:spPr>
          <a:xfrm>
            <a:off x="10731802" y="391105"/>
            <a:ext cx="991746" cy="584775"/>
          </a:xfrm>
          <a:prstGeom prst="rect">
            <a:avLst/>
          </a:prstGeom>
          <a:noFill/>
        </p:spPr>
        <p:txBody>
          <a:bodyPr wrap="none" lIns="91440" tIns="45720" rIns="91440" bIns="45720">
            <a:spAutoFit/>
          </a:bodyPr>
          <a:lstStyle/>
          <a:p>
            <a:pPr algn="ctr"/>
            <a:r>
              <a:rPr lang="en-US" sz="3200" b="0" cap="none" spc="0" dirty="0">
                <a:ln w="0"/>
                <a:solidFill>
                  <a:schemeClr val="accent1"/>
                </a:solidFill>
                <a:effectLst>
                  <a:outerShdw blurRad="38100" dist="25400" dir="5400000" algn="ctr" rotWithShape="0">
                    <a:srgbClr val="6E747A">
                      <a:alpha val="43000"/>
                    </a:srgbClr>
                  </a:outerShdw>
                </a:effectLst>
              </a:rPr>
              <a:t>Hard</a:t>
            </a:r>
          </a:p>
        </p:txBody>
      </p:sp>
      <p:sp>
        <p:nvSpPr>
          <p:cNvPr id="7" name="TextBox 6">
            <a:extLst>
              <a:ext uri="{FF2B5EF4-FFF2-40B4-BE49-F238E27FC236}">
                <a16:creationId xmlns:a16="http://schemas.microsoft.com/office/drawing/2014/main" id="{53E02D57-E9C3-488D-D294-480C14137A09}"/>
              </a:ext>
            </a:extLst>
          </p:cNvPr>
          <p:cNvSpPr txBox="1"/>
          <p:nvPr/>
        </p:nvSpPr>
        <p:spPr>
          <a:xfrm>
            <a:off x="507214" y="1264286"/>
            <a:ext cx="1494114" cy="369332"/>
          </a:xfrm>
          <a:prstGeom prst="rect">
            <a:avLst/>
          </a:prstGeom>
          <a:noFill/>
        </p:spPr>
        <p:txBody>
          <a:bodyPr wrap="square">
            <a:spAutoFit/>
          </a:bodyPr>
          <a:lstStyle/>
          <a:p>
            <a:r>
              <a:rPr lang="en-IN" b="1" dirty="0"/>
              <a:t>Output</a:t>
            </a:r>
          </a:p>
        </p:txBody>
      </p:sp>
      <p:graphicFrame>
        <p:nvGraphicFramePr>
          <p:cNvPr id="3" name="Table 2">
            <a:extLst>
              <a:ext uri="{FF2B5EF4-FFF2-40B4-BE49-F238E27FC236}">
                <a16:creationId xmlns:a16="http://schemas.microsoft.com/office/drawing/2014/main" id="{EE2F99E5-1D80-D508-C92C-FF58C0E2F94A}"/>
              </a:ext>
            </a:extLst>
          </p:cNvPr>
          <p:cNvGraphicFramePr>
            <a:graphicFrameLocks noGrp="1"/>
          </p:cNvGraphicFramePr>
          <p:nvPr>
            <p:extLst>
              <p:ext uri="{D42A27DB-BD31-4B8C-83A1-F6EECF244321}">
                <p14:modId xmlns:p14="http://schemas.microsoft.com/office/powerpoint/2010/main" val="1561362434"/>
              </p:ext>
            </p:extLst>
          </p:nvPr>
        </p:nvGraphicFramePr>
        <p:xfrm>
          <a:off x="507213" y="1760219"/>
          <a:ext cx="8128000" cy="14833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990309120"/>
                    </a:ext>
                  </a:extLst>
                </a:gridCol>
                <a:gridCol w="4064000">
                  <a:extLst>
                    <a:ext uri="{9D8B030D-6E8A-4147-A177-3AD203B41FA5}">
                      <a16:colId xmlns:a16="http://schemas.microsoft.com/office/drawing/2014/main" val="1131638968"/>
                    </a:ext>
                  </a:extLst>
                </a:gridCol>
              </a:tblGrid>
              <a:tr h="370840">
                <a:tc>
                  <a:txBody>
                    <a:bodyPr/>
                    <a:lstStyle/>
                    <a:p>
                      <a:pPr>
                        <a:buNone/>
                      </a:pPr>
                      <a:r>
                        <a:rPr lang="en-IN" dirty="0"/>
                        <a:t>Day</a:t>
                      </a:r>
                    </a:p>
                  </a:txBody>
                  <a:tcPr anchor="ctr"/>
                </a:tc>
                <a:tc>
                  <a:txBody>
                    <a:bodyPr/>
                    <a:lstStyle/>
                    <a:p>
                      <a:pPr>
                        <a:buNone/>
                      </a:pPr>
                      <a:r>
                        <a:rPr lang="en-IN"/>
                        <a:t>Cancellation Rate</a:t>
                      </a:r>
                    </a:p>
                  </a:txBody>
                  <a:tcPr anchor="ctr"/>
                </a:tc>
                <a:extLst>
                  <a:ext uri="{0D108BD9-81ED-4DB2-BD59-A6C34878D82A}">
                    <a16:rowId xmlns:a16="http://schemas.microsoft.com/office/drawing/2014/main" val="1985808491"/>
                  </a:ext>
                </a:extLst>
              </a:tr>
              <a:tr h="370840">
                <a:tc>
                  <a:txBody>
                    <a:bodyPr/>
                    <a:lstStyle/>
                    <a:p>
                      <a:pPr>
                        <a:buNone/>
                      </a:pPr>
                      <a:r>
                        <a:rPr lang="en-IN"/>
                        <a:t>2013-10-01</a:t>
                      </a:r>
                    </a:p>
                  </a:txBody>
                  <a:tcPr anchor="ctr"/>
                </a:tc>
                <a:tc>
                  <a:txBody>
                    <a:bodyPr/>
                    <a:lstStyle/>
                    <a:p>
                      <a:pPr>
                        <a:buNone/>
                      </a:pPr>
                      <a:r>
                        <a:rPr lang="en-IN"/>
                        <a:t>0.33</a:t>
                      </a:r>
                    </a:p>
                  </a:txBody>
                  <a:tcPr anchor="ctr"/>
                </a:tc>
                <a:extLst>
                  <a:ext uri="{0D108BD9-81ED-4DB2-BD59-A6C34878D82A}">
                    <a16:rowId xmlns:a16="http://schemas.microsoft.com/office/drawing/2014/main" val="349710965"/>
                  </a:ext>
                </a:extLst>
              </a:tr>
              <a:tr h="370840">
                <a:tc>
                  <a:txBody>
                    <a:bodyPr/>
                    <a:lstStyle/>
                    <a:p>
                      <a:pPr>
                        <a:buNone/>
                      </a:pPr>
                      <a:r>
                        <a:rPr lang="en-IN"/>
                        <a:t>2013-10-02</a:t>
                      </a:r>
                    </a:p>
                  </a:txBody>
                  <a:tcPr anchor="ctr"/>
                </a:tc>
                <a:tc>
                  <a:txBody>
                    <a:bodyPr/>
                    <a:lstStyle/>
                    <a:p>
                      <a:pPr>
                        <a:buNone/>
                      </a:pPr>
                      <a:r>
                        <a:rPr lang="en-IN"/>
                        <a:t>0.00</a:t>
                      </a:r>
                    </a:p>
                  </a:txBody>
                  <a:tcPr anchor="ctr"/>
                </a:tc>
                <a:extLst>
                  <a:ext uri="{0D108BD9-81ED-4DB2-BD59-A6C34878D82A}">
                    <a16:rowId xmlns:a16="http://schemas.microsoft.com/office/drawing/2014/main" val="2993734252"/>
                  </a:ext>
                </a:extLst>
              </a:tr>
              <a:tr h="370840">
                <a:tc>
                  <a:txBody>
                    <a:bodyPr/>
                    <a:lstStyle/>
                    <a:p>
                      <a:pPr>
                        <a:buNone/>
                      </a:pPr>
                      <a:r>
                        <a:rPr lang="en-IN"/>
                        <a:t>2013-10-03</a:t>
                      </a:r>
                    </a:p>
                  </a:txBody>
                  <a:tcPr anchor="ctr"/>
                </a:tc>
                <a:tc>
                  <a:txBody>
                    <a:bodyPr/>
                    <a:lstStyle/>
                    <a:p>
                      <a:pPr>
                        <a:buNone/>
                      </a:pPr>
                      <a:r>
                        <a:rPr lang="en-IN" dirty="0"/>
                        <a:t>0.50</a:t>
                      </a:r>
                    </a:p>
                  </a:txBody>
                  <a:tcPr anchor="ctr"/>
                </a:tc>
                <a:extLst>
                  <a:ext uri="{0D108BD9-81ED-4DB2-BD59-A6C34878D82A}">
                    <a16:rowId xmlns:a16="http://schemas.microsoft.com/office/drawing/2014/main" val="2175973826"/>
                  </a:ext>
                </a:extLst>
              </a:tr>
            </a:tbl>
          </a:graphicData>
        </a:graphic>
      </p:graphicFrame>
    </p:spTree>
    <p:extLst>
      <p:ext uri="{BB962C8B-B14F-4D97-AF65-F5344CB8AC3E}">
        <p14:creationId xmlns:p14="http://schemas.microsoft.com/office/powerpoint/2010/main" val="2209545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634</TotalTime>
  <Words>491</Words>
  <Application>Microsoft Office PowerPoint</Application>
  <PresentationFormat>Widescreen</PresentationFormat>
  <Paragraphs>201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Experiment 05</vt:lpstr>
      <vt:lpstr>Experiment 05</vt:lpstr>
      <vt:lpstr>Experiment 05</vt:lpstr>
      <vt:lpstr>Experiment 05</vt:lpstr>
      <vt:lpstr>Experiment 05</vt:lpstr>
      <vt:lpstr>Experiment 05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Alok Singh Rathore</dc:creator>
  <cp:lastModifiedBy>Alok Singh Rathore</cp:lastModifiedBy>
  <cp:revision>11</cp:revision>
  <dcterms:created xsi:type="dcterms:W3CDTF">2026-07-02T16:54:21Z</dcterms:created>
  <dcterms:modified xsi:type="dcterms:W3CDTF">2026-08-09T14:24:35Z</dcterms:modified>
</cp:coreProperties>
</file>